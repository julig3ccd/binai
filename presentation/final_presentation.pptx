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558" y="1080"/>
    <p:text>We use the tokenization of clap because it preserves opcodes as one token, which is needed for our opcode categorization during own Masking Approach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bene 1…"/>
          <p:cNvSpPr txBox="1"/>
          <p:nvPr>
            <p:ph type="body" idx="1"/>
          </p:nvPr>
        </p:nvSpPr>
        <p:spPr>
          <a:xfrm>
            <a:off x="-1155601" y="-1295282"/>
            <a:ext cx="26745481" cy="16018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" name="Titeltext"/>
          <p:cNvSpPr txBox="1"/>
          <p:nvPr>
            <p:ph type="title"/>
          </p:nvPr>
        </p:nvSpPr>
        <p:spPr>
          <a:xfrm>
            <a:off x="1206359" y="7124758"/>
            <a:ext cx="21970442" cy="4647604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" name="PlaceHolder 3"/>
          <p:cNvSpPr/>
          <p:nvPr>
            <p:ph type="body" sz="quarter" idx="21"/>
          </p:nvPr>
        </p:nvSpPr>
        <p:spPr>
          <a:xfrm>
            <a:off x="1206359" y="11609999"/>
            <a:ext cx="21970442" cy="111636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idx="1"/>
          </p:nvPr>
        </p:nvSpPr>
        <p:spPr>
          <a:xfrm>
            <a:off x="10972800" y="-203041"/>
            <a:ext cx="12144241" cy="1413432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Titeltext"/>
          <p:cNvSpPr txBox="1"/>
          <p:nvPr>
            <p:ph type="title"/>
          </p:nvPr>
        </p:nvSpPr>
        <p:spPr>
          <a:xfrm>
            <a:off x="1206359" y="1270080"/>
            <a:ext cx="9778322" cy="588168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23" name="PlaceHolder 3"/>
          <p:cNvSpPr/>
          <p:nvPr>
            <p:ph type="body" sz="quarter" idx="21"/>
          </p:nvPr>
        </p:nvSpPr>
        <p:spPr>
          <a:xfrm>
            <a:off x="1206357" y="7060679"/>
            <a:ext cx="9778325" cy="538488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24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eltext"/>
          <p:cNvSpPr txBox="1"/>
          <p:nvPr>
            <p:ph type="title"/>
          </p:nvPr>
        </p:nvSpPr>
        <p:spPr>
          <a:xfrm>
            <a:off x="1206359" y="1079640"/>
            <a:ext cx="21970442" cy="14324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3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3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32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0" name="PlaceHolder 2"/>
          <p:cNvSpPr/>
          <p:nvPr>
            <p:ph type="body" idx="21"/>
          </p:nvPr>
        </p:nvSpPr>
        <p:spPr>
          <a:xfrm>
            <a:off x="12192119" y="-407160"/>
            <a:ext cx="10916285" cy="1455516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51" name="Titeltext"/>
          <p:cNvSpPr txBox="1"/>
          <p:nvPr>
            <p:ph type="title"/>
          </p:nvPr>
        </p:nvSpPr>
        <p:spPr>
          <a:xfrm>
            <a:off x="1206359" y="1079640"/>
            <a:ext cx="977832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5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eltext"/>
          <p:cNvSpPr txBox="1"/>
          <p:nvPr>
            <p:ph type="title"/>
          </p:nvPr>
        </p:nvSpPr>
        <p:spPr>
          <a:xfrm>
            <a:off x="1206359" y="4533839"/>
            <a:ext cx="21970442" cy="4647601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0" name="Foliennummer"/>
          <p:cNvSpPr txBox="1"/>
          <p:nvPr>
            <p:ph type="sldNum" sz="quarter" idx="2"/>
          </p:nvPr>
        </p:nvSpPr>
        <p:spPr>
          <a:xfrm>
            <a:off x="12001320" y="13078402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7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8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ebene 1…"/>
          <p:cNvSpPr txBox="1"/>
          <p:nvPr>
            <p:ph type="body" sz="half" idx="1"/>
          </p:nvPr>
        </p:nvSpPr>
        <p:spPr>
          <a:xfrm>
            <a:off x="1206359" y="4920839"/>
            <a:ext cx="21970442" cy="3873604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ebene 1…"/>
          <p:cNvSpPr txBox="1"/>
          <p:nvPr>
            <p:ph type="body" idx="1"/>
          </p:nvPr>
        </p:nvSpPr>
        <p:spPr>
          <a:xfrm>
            <a:off x="1206359" y="1076040"/>
            <a:ext cx="21970442" cy="7241041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5" name="PlaceHolder 2"/>
          <p:cNvSpPr/>
          <p:nvPr>
            <p:ph type="body" sz="quarter" idx="21"/>
          </p:nvPr>
        </p:nvSpPr>
        <p:spPr>
          <a:xfrm>
            <a:off x="1206359" y="8262360"/>
            <a:ext cx="21970442" cy="93420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9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245" cy="63612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4" name="PlaceHolder 2"/>
          <p:cNvSpPr/>
          <p:nvPr>
            <p:ph type="body" sz="half" idx="21"/>
          </p:nvPr>
        </p:nvSpPr>
        <p:spPr>
          <a:xfrm>
            <a:off x="1753920" y="4939920"/>
            <a:ext cx="20875320" cy="383544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324" cy="59490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3" name="PlaceHolder 2"/>
          <p:cNvSpPr/>
          <p:nvPr>
            <p:ph type="body" idx="21"/>
          </p:nvPr>
        </p:nvSpPr>
        <p:spPr>
          <a:xfrm>
            <a:off x="-139680" y="495357"/>
            <a:ext cx="16610760" cy="12458166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ebene 1…"/>
          <p:cNvSpPr txBox="1"/>
          <p:nvPr>
            <p:ph type="body" idx="1"/>
          </p:nvPr>
        </p:nvSpPr>
        <p:spPr>
          <a:xfrm>
            <a:off x="-1333441" y="-5524561"/>
            <a:ext cx="27050399" cy="2163996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442" cy="63612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7" name="Titeltext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8" name="PlaceHolder 3"/>
          <p:cNvSpPr/>
          <p:nvPr>
            <p:ph type="body" sz="quarter" idx="21"/>
          </p:nvPr>
        </p:nvSpPr>
        <p:spPr>
          <a:xfrm>
            <a:off x="1201319" y="7223038"/>
            <a:ext cx="21970442" cy="190440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080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442" cy="636124"/>
          </a:xfrm>
          <a:prstGeom prst="rect">
            <a:avLst/>
          </a:prstGeom>
        </p:spPr>
        <p:txBody>
          <a:bodyPr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/>
          <a:lstStyle>
            <a:lvl1pPr defTabSz="2438280">
              <a:lnSpc>
                <a:spcPct val="80000"/>
              </a:lnSpc>
              <a:defRPr b="1" spc="-300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Binary Analysis using AI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442" cy="1904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442" cy="8255159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Measure the importance of certain model inputs for learning about binary function similarity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Recent Research</a:t>
            </a:r>
            <a:r>
              <a:rPr baseline="-5000"/>
              <a:t>[1]</a:t>
            </a:r>
            <a:r>
              <a:t>: importance of instructions containing specific opcodes (like „call“ 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Arial"/>
                <a:ea typeface="Arial"/>
                <a:cs typeface="Arial"/>
                <a:sym typeface="Arial"/>
              </a:defRPr>
            </a:pPr>
            <a:r>
              <a:t>Our Approach:</a:t>
            </a:r>
            <a:r>
              <a:rPr>
                <a:latin typeface="+mj-lt"/>
                <a:ea typeface="+mj-ea"/>
                <a:cs typeface="+mj-cs"/>
                <a:sym typeface="Helvetica Neue"/>
              </a:rPr>
              <a:t> measure the importance between different instruction parts,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598" y="12310919"/>
            <a:ext cx="22102515" cy="382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>
                <a:latin typeface="Arial"/>
                <a:ea typeface="Arial"/>
                <a:cs typeface="Arial"/>
                <a:sym typeface="Arial"/>
              </a:defRPr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40" y="1846800"/>
            <a:ext cx="19542240" cy="100224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356" y="9380876"/>
            <a:ext cx="3293648" cy="2320207"/>
            <a:chOff x="0" y="-1"/>
            <a:chExt cx="3293647" cy="2320206"/>
          </a:xfrm>
        </p:grpSpPr>
        <p:sp>
          <p:nvSpPr>
            <p:cNvPr id="158" name="Rechteck"/>
            <p:cNvSpPr/>
            <p:nvPr/>
          </p:nvSpPr>
          <p:spPr>
            <a:xfrm>
              <a:off x="-1" y="-2"/>
              <a:ext cx="3293648" cy="2320207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360" y="607931"/>
              <a:ext cx="3166568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356" y="9380876"/>
            <a:ext cx="3293648" cy="2320207"/>
            <a:chOff x="0" y="-1"/>
            <a:chExt cx="3293647" cy="2320206"/>
          </a:xfrm>
        </p:grpSpPr>
        <p:sp>
          <p:nvSpPr>
            <p:cNvPr id="161" name="Rechteck"/>
            <p:cNvSpPr/>
            <p:nvPr/>
          </p:nvSpPr>
          <p:spPr>
            <a:xfrm>
              <a:off x="-1" y="-2"/>
              <a:ext cx="3293648" cy="2320207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360" y="607931"/>
              <a:ext cx="3166568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</a:defRPr>
              </a:lvl1pPr>
            </a:lstStyle>
            <a:p>
              <a:pPr/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600" y="12541318"/>
            <a:ext cx="13562943" cy="5259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[1] Hao Wang, Zeyu Gao, Chao Zhang, Zihan Sha, Mingyang Sun, Yuchen Zhou, Wenyu Zhu, Wenju Sun, Han Qiu, &amp; Xi Xiao. (2024).</a:t>
            </a:r>
            <a:endParaRPr>
              <a:solidFill>
                <a:srgbClr val="000000"/>
              </a:solidFill>
            </a:endParaRPr>
          </a:p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80" y="10794958"/>
            <a:ext cx="351582" cy="345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0" grpId="1"/>
      <p:bldP build="whole" bldLvl="1" animBg="1" rev="0" advAuto="0" spid="16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Shift the models focus on either opcodes or operands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To train our BERT model we base on traditional Masked Language Modeling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We measure the importance of each category by setting a statistic focus on opcodes and operands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520" y="9598320"/>
            <a:ext cx="2183044" cy="117144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77" name="&lt;mask&gt;"/>
          <p:cNvGrpSpPr/>
          <p:nvPr/>
        </p:nvGrpSpPr>
        <p:grpSpPr>
          <a:xfrm>
            <a:off x="11142356" y="9683637"/>
            <a:ext cx="1971009" cy="1000807"/>
            <a:chOff x="-1" y="-1"/>
            <a:chExt cx="1971007" cy="1000806"/>
          </a:xfrm>
        </p:grpSpPr>
        <p:sp>
          <p:nvSpPr>
            <p:cNvPr id="175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6" name="&lt;mask&gt;"/>
            <p:cNvSpPr txBox="1"/>
            <p:nvPr/>
          </p:nvSpPr>
          <p:spPr>
            <a:xfrm>
              <a:off x="-2" y="241179"/>
              <a:ext cx="1971009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80" name="lea"/>
          <p:cNvGrpSpPr/>
          <p:nvPr/>
        </p:nvGrpSpPr>
        <p:grpSpPr>
          <a:xfrm>
            <a:off x="11142356" y="9683637"/>
            <a:ext cx="1971009" cy="1000807"/>
            <a:chOff x="-1" y="-1"/>
            <a:chExt cx="1971007" cy="1000806"/>
          </a:xfrm>
        </p:grpSpPr>
        <p:sp>
          <p:nvSpPr>
            <p:cNvPr id="178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9" name="lea"/>
            <p:cNvSpPr txBox="1"/>
            <p:nvPr/>
          </p:nvSpPr>
          <p:spPr>
            <a:xfrm>
              <a:off x="-2" y="240050"/>
              <a:ext cx="1971009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74" grpId="1"/>
      <p:bldP build="whole" bldLvl="1" animBg="1" rev="0" advAuto="0" spid="177" grpId="2"/>
      <p:bldP build="whole" bldLvl="1" animBg="1" rev="0" advAuto="0" spid="180" grpId="3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83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7" name="&lt;mask&gt;"/>
          <p:cNvGrpSpPr/>
          <p:nvPr/>
        </p:nvGrpSpPr>
        <p:grpSpPr>
          <a:xfrm>
            <a:off x="6752876" y="9701277"/>
            <a:ext cx="1971009" cy="1000807"/>
            <a:chOff x="-1" y="-1"/>
            <a:chExt cx="1971007" cy="1000806"/>
          </a:xfrm>
        </p:grpSpPr>
        <p:sp>
          <p:nvSpPr>
            <p:cNvPr id="185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6" name="&lt;mask&gt;"/>
            <p:cNvSpPr txBox="1"/>
            <p:nvPr/>
          </p:nvSpPr>
          <p:spPr>
            <a:xfrm>
              <a:off x="-2" y="241179"/>
              <a:ext cx="1971009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90" name="lea"/>
          <p:cNvGrpSpPr/>
          <p:nvPr/>
        </p:nvGrpSpPr>
        <p:grpSpPr>
          <a:xfrm>
            <a:off x="6752876" y="9701277"/>
            <a:ext cx="1971009" cy="1000807"/>
            <a:chOff x="-1" y="-1"/>
            <a:chExt cx="1971007" cy="1000806"/>
          </a:xfrm>
        </p:grpSpPr>
        <p:sp>
          <p:nvSpPr>
            <p:cNvPr id="188" name="Rechteck"/>
            <p:cNvSpPr/>
            <p:nvPr/>
          </p:nvSpPr>
          <p:spPr>
            <a:xfrm>
              <a:off x="-2" y="-2"/>
              <a:ext cx="1971009" cy="10008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9" name="lea"/>
            <p:cNvSpPr txBox="1"/>
            <p:nvPr/>
          </p:nvSpPr>
          <p:spPr>
            <a:xfrm>
              <a:off x="-2" y="240050"/>
              <a:ext cx="1971009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  <p:grpSp>
        <p:nvGrpSpPr>
          <p:cNvPr id="193" name="Choose the tokens not randomly but with p:"/>
          <p:cNvGrpSpPr/>
          <p:nvPr/>
        </p:nvGrpSpPr>
        <p:grpSpPr>
          <a:xfrm>
            <a:off x="227608" y="11224630"/>
            <a:ext cx="5661005" cy="1585243"/>
            <a:chOff x="-1" y="-1"/>
            <a:chExt cx="5661004" cy="1585242"/>
          </a:xfrm>
        </p:grpSpPr>
        <p:sp>
          <p:nvSpPr>
            <p:cNvPr id="191" name="Rechteck"/>
            <p:cNvSpPr/>
            <p:nvPr/>
          </p:nvSpPr>
          <p:spPr>
            <a:xfrm>
              <a:off x="-2" y="157761"/>
              <a:ext cx="5661005" cy="1269725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2" name="Choose the tokens not uniform, but with split_propability*MLM"/>
            <p:cNvSpPr txBox="1"/>
            <p:nvPr/>
          </p:nvSpPr>
          <p:spPr>
            <a:xfrm>
              <a:off x="-2" y="-2"/>
              <a:ext cx="5661005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Choose the tokens not uniform, but with split_probability*MLM</a:t>
              </a:r>
            </a:p>
          </p:txBody>
        </p:sp>
      </p:grpSp>
      <p:sp>
        <p:nvSpPr>
          <p:cNvPr id="194" name="p = 0.8"/>
          <p:cNvSpPr/>
          <p:nvPr/>
        </p:nvSpPr>
        <p:spPr>
          <a:xfrm>
            <a:off x="6271643" y="11258639"/>
            <a:ext cx="4711135" cy="1517228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97" name="p = 0.2"/>
          <p:cNvGrpSpPr/>
          <p:nvPr/>
        </p:nvGrpSpPr>
        <p:grpSpPr>
          <a:xfrm>
            <a:off x="13044871" y="11263679"/>
            <a:ext cx="5814015" cy="1517230"/>
            <a:chOff x="0" y="0"/>
            <a:chExt cx="5814014" cy="1517228"/>
          </a:xfrm>
        </p:grpSpPr>
        <p:sp>
          <p:nvSpPr>
            <p:cNvPr id="195" name="Rechteck"/>
            <p:cNvSpPr/>
            <p:nvPr/>
          </p:nvSpPr>
          <p:spPr>
            <a:xfrm>
              <a:off x="-1" y="0"/>
              <a:ext cx="5814015" cy="1517230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196" name="p_operand_first.png" descr="p_operand_first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149777" y="459636"/>
              <a:ext cx="5514460" cy="59795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8" name="Linie"/>
          <p:cNvSpPr/>
          <p:nvPr/>
        </p:nvSpPr>
        <p:spPr>
          <a:xfrm flipH="1" flipV="1">
            <a:off x="9889200" y="10630079"/>
            <a:ext cx="3183051" cy="648822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9" name="Linie"/>
          <p:cNvSpPr/>
          <p:nvPr/>
        </p:nvSpPr>
        <p:spPr>
          <a:xfrm flipV="1">
            <a:off x="16095580" y="10618560"/>
            <a:ext cx="367943" cy="652705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0" name="Linie"/>
          <p:cNvSpPr/>
          <p:nvPr/>
        </p:nvSpPr>
        <p:spPr>
          <a:xfrm flipV="1">
            <a:off x="14283721" y="10633319"/>
            <a:ext cx="2" cy="628924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ie"/>
          <p:cNvSpPr/>
          <p:nvPr/>
        </p:nvSpPr>
        <p:spPr>
          <a:xfrm flipH="1" flipV="1">
            <a:off x="12160933" y="10629369"/>
            <a:ext cx="1133421" cy="629813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Rechteck"/>
          <p:cNvSpPr/>
          <p:nvPr/>
        </p:nvSpPr>
        <p:spPr>
          <a:xfrm>
            <a:off x="6646680" y="9615960"/>
            <a:ext cx="2183044" cy="117144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03" name="p_opcode.png" descr="p_opcod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83002" y="11740001"/>
            <a:ext cx="4088417" cy="554504"/>
          </a:xfrm>
          <a:prstGeom prst="rect">
            <a:avLst/>
          </a:prstGeom>
          <a:ln w="12700">
            <a:miter lim="400000"/>
          </a:ln>
        </p:spPr>
      </p:pic>
      <p:sp>
        <p:nvSpPr>
          <p:cNvPr id="204" name="Linie"/>
          <p:cNvSpPr/>
          <p:nvPr/>
        </p:nvSpPr>
        <p:spPr>
          <a:xfrm flipV="1">
            <a:off x="7698960" y="10650959"/>
            <a:ext cx="4" cy="593644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02" grpId="1"/>
      <p:bldP build="whole" bldLvl="1" animBg="1" rev="0" advAuto="0" spid="190" grpId="3"/>
      <p:bldP build="whole" bldLvl="1" animBg="1" rev="0" advAuto="0" spid="187" grpId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 </a:t>
            </a:r>
          </a:p>
        </p:txBody>
      </p:sp>
      <p:sp>
        <p:nvSpPr>
          <p:cNvPr id="207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Cosine Similarity</a:t>
            </a:r>
          </a:p>
        </p:txBody>
      </p:sp>
      <p:sp>
        <p:nvSpPr>
          <p:cNvPr id="208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Precompute the output embeddings of the anchor functions of all pools and store them for lookup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Batch process candidates of each pool and compute cosine similarity between anchor &amp; candidates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1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</a:t>
            </a:r>
          </a:p>
        </p:txBody>
      </p:sp>
      <p:sp>
        <p:nvSpPr>
          <p:cNvPr id="212" name="PlaceHolder 3"/>
          <p:cNvSpPr txBox="1"/>
          <p:nvPr/>
        </p:nvSpPr>
        <p:spPr>
          <a:xfrm>
            <a:off x="1206359" y="36561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Each function pool follows the same structure: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1 Anchor Function, N-Positive Samples, 200 Negative Samples, where N &gt; 7 to only include pools with sufficient function variants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N-Positive Samples: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 = number of all positive samples across each test project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Samples that have the same f_name and same file origin are filtered out (duplicates)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5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 Setup</a:t>
            </a:r>
          </a:p>
        </p:txBody>
      </p:sp>
      <p:sp>
        <p:nvSpPr>
          <p:cNvPr id="216" name="PlaceHolder 3"/>
          <p:cNvSpPr txBox="1"/>
          <p:nvPr/>
        </p:nvSpPr>
        <p:spPr>
          <a:xfrm>
            <a:off x="1206360" y="4035240"/>
            <a:ext cx="8156520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Anchor = arbitrary function variant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N = number of all positive samples across the anchors’ project (minimum 7)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K = number of negative samples per test project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</a:defRPr>
            </a:pPr>
            <a:r>
              <a:t>200 negative samples per pool</a:t>
            </a:r>
          </a:p>
        </p:txBody>
      </p:sp>
      <p:pic>
        <p:nvPicPr>
          <p:cNvPr id="217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358" y="2657160"/>
            <a:ext cx="13191124" cy="84013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0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Duplicated Assembly</a:t>
            </a:r>
          </a:p>
        </p:txBody>
      </p:sp>
      <p:pic>
        <p:nvPicPr>
          <p:cNvPr id="221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57" y="4348800"/>
            <a:ext cx="19126805" cy="724680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4" name="Very Similar Embedding:…"/>
          <p:cNvGrpSpPr/>
          <p:nvPr/>
        </p:nvGrpSpPr>
        <p:grpSpPr>
          <a:xfrm>
            <a:off x="12481195" y="4445636"/>
            <a:ext cx="9213129" cy="7052768"/>
            <a:chOff x="-1" y="0"/>
            <a:chExt cx="9213128" cy="7052767"/>
          </a:xfrm>
        </p:grpSpPr>
        <p:sp>
          <p:nvSpPr>
            <p:cNvPr id="222" name="Rechteck"/>
            <p:cNvSpPr/>
            <p:nvPr/>
          </p:nvSpPr>
          <p:spPr>
            <a:xfrm>
              <a:off x="-2" y="-1"/>
              <a:ext cx="9213129" cy="7052768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3" name="Very Similar Embedding:…"/>
            <p:cNvSpPr txBox="1"/>
            <p:nvPr/>
          </p:nvSpPr>
          <p:spPr>
            <a:xfrm>
              <a:off x="31678" y="2988535"/>
              <a:ext cx="9149409" cy="10764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Very Similar Embedding: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4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7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same Name, same File</a:t>
            </a:r>
          </a:p>
        </p:txBody>
      </p:sp>
      <p:pic>
        <p:nvPicPr>
          <p:cNvPr id="228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280" y="2921760"/>
            <a:ext cx="19182960" cy="8920441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Linie"/>
          <p:cNvSpPr/>
          <p:nvPr/>
        </p:nvSpPr>
        <p:spPr>
          <a:xfrm flipH="1">
            <a:off x="7495919" y="5144039"/>
            <a:ext cx="2309404" cy="3765961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0" name="Linie"/>
          <p:cNvSpPr/>
          <p:nvPr/>
        </p:nvSpPr>
        <p:spPr>
          <a:xfrm>
            <a:off x="9808199" y="5180036"/>
            <a:ext cx="7225560" cy="3705846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Slight differences in assembly"/>
          <p:cNvSpPr txBox="1"/>
          <p:nvPr/>
        </p:nvSpPr>
        <p:spPr>
          <a:xfrm>
            <a:off x="4907879" y="4398840"/>
            <a:ext cx="5381427" cy="456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30" grpId="3"/>
      <p:bldP build="whole" bldLvl="1" animBg="1" rev="0" advAuto="0" spid="229" grpId="2"/>
      <p:bldP build="whole" bldLvl="1" animBg="1" rev="0" advAuto="0" spid="231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34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b="1" spc="-300" sz="5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 2</a:t>
            </a:r>
          </a:p>
        </p:txBody>
      </p:sp>
      <p:sp>
        <p:nvSpPr>
          <p:cNvPr id="235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200 Negative Samples: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Randomly pick 100 samples from each of the two test projects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Ensure each sample has a different name than the anchor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Anchor Function: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Configuration</a:t>
            </a:r>
          </a:p>
        </p:txBody>
      </p:sp>
      <p:graphicFrame>
        <p:nvGraphicFramePr>
          <p:cNvPr id="238" name="Tabelle"/>
          <p:cNvGraphicFramePr/>
          <p:nvPr/>
        </p:nvGraphicFramePr>
        <p:xfrm>
          <a:off x="2877117" y="3518279"/>
          <a:ext cx="18629285" cy="877716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 (warmup 10%)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Binary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X64 - all optimizations &amp; compilers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 txBox="1"/>
          <p:nvPr>
            <p:ph type="title"/>
          </p:nvPr>
        </p:nvSpPr>
        <p:spPr>
          <a:xfrm>
            <a:off x="1206359" y="1079639"/>
            <a:ext cx="21970442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</a:t>
            </a:r>
          </a:p>
        </p:txBody>
      </p:sp>
      <p:graphicFrame>
        <p:nvGraphicFramePr>
          <p:cNvPr id="241" name="Tabelle"/>
          <p:cNvGraphicFramePr/>
          <p:nvPr/>
        </p:nvGraphicFramePr>
        <p:xfrm>
          <a:off x="1736637" y="3136319"/>
          <a:ext cx="20910240" cy="773496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0.1328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0.8935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 txBox="1"/>
          <p:nvPr>
            <p:ph type="title"/>
          </p:nvPr>
        </p:nvSpPr>
        <p:spPr>
          <a:xfrm>
            <a:off x="1206358" y="1079639"/>
            <a:ext cx="21970446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Operand Normalized Masking </a:t>
            </a:r>
          </a:p>
        </p:txBody>
      </p:sp>
      <p:pic>
        <p:nvPicPr>
          <p:cNvPr id="24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62514" y="3203343"/>
            <a:ext cx="15128282" cy="672804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7" name="Choose the tokens not randomly but with p:"/>
          <p:cNvGrpSpPr/>
          <p:nvPr/>
        </p:nvGrpSpPr>
        <p:grpSpPr>
          <a:xfrm>
            <a:off x="162323" y="10506493"/>
            <a:ext cx="5661005" cy="1585244"/>
            <a:chOff x="-1" y="-1"/>
            <a:chExt cx="5661004" cy="1585242"/>
          </a:xfrm>
        </p:grpSpPr>
        <p:sp>
          <p:nvSpPr>
            <p:cNvPr id="245" name="Rechteck"/>
            <p:cNvSpPr/>
            <p:nvPr/>
          </p:nvSpPr>
          <p:spPr>
            <a:xfrm>
              <a:off x="-2" y="157761"/>
              <a:ext cx="5661005" cy="126972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46" name="Choose the tokens not uniform, but with split_propability*MLM"/>
            <p:cNvSpPr txBox="1"/>
            <p:nvPr/>
          </p:nvSpPr>
          <p:spPr>
            <a:xfrm>
              <a:off x="-2" y="-2"/>
              <a:ext cx="5661005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normalize split_probability for operands</a:t>
              </a:r>
            </a:p>
          </p:txBody>
        </p:sp>
      </p:grpSp>
      <p:sp>
        <p:nvSpPr>
          <p:cNvPr id="248" name="p = 0.8"/>
          <p:cNvSpPr/>
          <p:nvPr/>
        </p:nvSpPr>
        <p:spPr>
          <a:xfrm>
            <a:off x="6206359" y="10540502"/>
            <a:ext cx="4711134" cy="1517229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49" name="p = 0.2"/>
          <p:cNvSpPr/>
          <p:nvPr/>
        </p:nvSpPr>
        <p:spPr>
          <a:xfrm>
            <a:off x="12979586" y="10545543"/>
            <a:ext cx="7176969" cy="1517228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0" tIns="0" rIns="0" bIns="0" anchor="ctr"/>
          <a:lstStyle/>
          <a:p>
            <a:pPr algn="ctr">
              <a:defRPr sz="3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50" name="Linie"/>
          <p:cNvSpPr/>
          <p:nvPr/>
        </p:nvSpPr>
        <p:spPr>
          <a:xfrm flipH="1" flipV="1">
            <a:off x="9823915" y="9911942"/>
            <a:ext cx="3183051" cy="648823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1" name="Linie"/>
          <p:cNvSpPr/>
          <p:nvPr/>
        </p:nvSpPr>
        <p:spPr>
          <a:xfrm flipV="1">
            <a:off x="16030294" y="9900422"/>
            <a:ext cx="367944" cy="652705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Linie"/>
          <p:cNvSpPr/>
          <p:nvPr/>
        </p:nvSpPr>
        <p:spPr>
          <a:xfrm flipV="1">
            <a:off x="14218435" y="9915182"/>
            <a:ext cx="2" cy="628925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3" name="Linie"/>
          <p:cNvSpPr/>
          <p:nvPr/>
        </p:nvSpPr>
        <p:spPr>
          <a:xfrm flipH="1" flipV="1">
            <a:off x="12095647" y="9911232"/>
            <a:ext cx="1133422" cy="629813"/>
          </a:xfrm>
          <a:prstGeom prst="line">
            <a:avLst/>
          </a:prstGeom>
          <a:ln w="508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254" name="p_opcode.png" descr="p_opcod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17716" y="11021865"/>
            <a:ext cx="4088418" cy="554504"/>
          </a:xfrm>
          <a:prstGeom prst="rect">
            <a:avLst/>
          </a:prstGeom>
          <a:ln w="12700">
            <a:miter lim="400000"/>
          </a:ln>
        </p:spPr>
      </p:pic>
      <p:sp>
        <p:nvSpPr>
          <p:cNvPr id="255" name="Linie"/>
          <p:cNvSpPr/>
          <p:nvPr/>
        </p:nvSpPr>
        <p:spPr>
          <a:xfrm flipV="1">
            <a:off x="7633675" y="9932821"/>
            <a:ext cx="4" cy="593644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256" name="p_operand_alt.png" descr="p_operand_alt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123584" y="10858707"/>
            <a:ext cx="6888973" cy="88081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 txBox="1"/>
          <p:nvPr>
            <p:ph type="title"/>
          </p:nvPr>
        </p:nvSpPr>
        <p:spPr>
          <a:xfrm>
            <a:off x="1206359" y="1079639"/>
            <a:ext cx="21970442" cy="143244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(operand normalized)</a:t>
            </a:r>
          </a:p>
        </p:txBody>
      </p:sp>
      <p:graphicFrame>
        <p:nvGraphicFramePr>
          <p:cNvPr id="259" name="Tabelle"/>
          <p:cNvGraphicFramePr/>
          <p:nvPr/>
        </p:nvGraphicFramePr>
        <p:xfrm>
          <a:off x="1736880" y="4279679"/>
          <a:ext cx="20910240" cy="51566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0.1343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0.9012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0.8718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0.8502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 txBox="1"/>
          <p:nvPr>
            <p:ph type="title"/>
          </p:nvPr>
        </p:nvSpPr>
        <p:spPr>
          <a:xfrm>
            <a:off x="1206359" y="1079639"/>
            <a:ext cx="21970443" cy="143244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Conclusion</a:t>
            </a:r>
          </a:p>
        </p:txBody>
      </p:sp>
      <p:sp>
        <p:nvSpPr>
          <p:cNvPr id="262" name="PlaceHolder 3"/>
          <p:cNvSpPr txBox="1"/>
          <p:nvPr/>
        </p:nvSpPr>
        <p:spPr>
          <a:xfrm>
            <a:off x="1206779" y="2730420"/>
            <a:ext cx="21970442" cy="9431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First strategy did not have a clear trend line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We suspect the higher amount of operand tokens to counteract the opcode learning advantage ( in case of 80% operand tokens )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normalizing the operand masking probability resulted in a more consistent trend line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</a:defRPr>
            </a:pPr>
            <a:r>
              <a:t>Overall we could observe a slight learning improvement by focusing on opcode tokens</a:t>
            </a:r>
          </a:p>
          <a:p>
            <a:pPr defTabSz="243828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</a:defRPr>
            </a:pPr>
            <a:r>
              <a:t>—&gt; Generally, all trained models result in a consistent quality embedding</a:t>
            </a:r>
          </a:p>
          <a:p>
            <a:pPr defTabSz="2438280">
              <a:lnSpc>
                <a:spcPct val="90000"/>
              </a:lnSpc>
              <a:spcBef>
                <a:spcPts val="4500"/>
              </a:spcBef>
              <a:defRPr sz="4800">
                <a:solidFill>
                  <a:srgbClr val="000000"/>
                </a:solidFill>
              </a:defRPr>
            </a:pPr>
            <a:r>
              <a:t>—&gt; the gained advantage is small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
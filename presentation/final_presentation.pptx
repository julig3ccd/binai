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2"/>
            <a:ext cx="26745481" cy="16018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8"/>
            <a:ext cx="21970442" cy="4647604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7" y="7060679"/>
            <a:ext cx="9778325" cy="538488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19" y="-407160"/>
            <a:ext cx="10916285" cy="1455516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4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245" cy="63612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324" cy="59490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7"/>
            <a:ext cx="16610760" cy="1245816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399" cy="216399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442" cy="63612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8"/>
            <a:ext cx="21970442" cy="190440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8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442" cy="636124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442" cy="1904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59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Arial"/>
                <a:ea typeface="Arial"/>
                <a:cs typeface="Arial"/>
                <a:sym typeface="Arial"/>
              </a:defRPr>
            </a:pPr>
            <a:r>
              <a:t>Our Approach:</a:t>
            </a:r>
            <a:r>
              <a:rPr>
                <a:latin typeface="+mj-lt"/>
                <a:ea typeface="+mj-ea"/>
                <a:cs typeface="+mj-cs"/>
                <a:sym typeface="Helvetica Neue"/>
              </a:rP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8" y="12310919"/>
            <a:ext cx="22102515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56" y="9380876"/>
            <a:ext cx="3293648" cy="2320207"/>
            <a:chOff x="0" y="-1"/>
            <a:chExt cx="3293647" cy="2320206"/>
          </a:xfrm>
        </p:grpSpPr>
        <p:sp>
          <p:nvSpPr>
            <p:cNvPr id="158" name="Rechteck"/>
            <p:cNvSpPr/>
            <p:nvPr/>
          </p:nvSpPr>
          <p:spPr>
            <a:xfrm>
              <a:off x="-1" y="-2"/>
              <a:ext cx="3293648" cy="2320207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60" y="607931"/>
              <a:ext cx="3166568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56" y="9380876"/>
            <a:ext cx="3293648" cy="2320207"/>
            <a:chOff x="0" y="-1"/>
            <a:chExt cx="3293647" cy="2320206"/>
          </a:xfrm>
        </p:grpSpPr>
        <p:sp>
          <p:nvSpPr>
            <p:cNvPr id="161" name="Rechteck"/>
            <p:cNvSpPr/>
            <p:nvPr/>
          </p:nvSpPr>
          <p:spPr>
            <a:xfrm>
              <a:off x="-1" y="-2"/>
              <a:ext cx="3293648" cy="2320207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60" y="607931"/>
              <a:ext cx="3166568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8"/>
            <a:ext cx="13562943" cy="5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8"/>
            <a:ext cx="351582" cy="345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3" grpId="2"/>
      <p:bldP build="whole" bldLvl="1" animBg="1" rev="0" advAuto="0" spid="16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4" cy="117144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56" y="9683637"/>
            <a:ext cx="1971009" cy="1000807"/>
            <a:chOff x="-1" y="-1"/>
            <a:chExt cx="1971007" cy="1000806"/>
          </a:xfrm>
        </p:grpSpPr>
        <p:sp>
          <p:nvSpPr>
            <p:cNvPr id="175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2" y="241179"/>
              <a:ext cx="1971009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56" y="9683637"/>
            <a:ext cx="1971009" cy="1000807"/>
            <a:chOff x="-1" y="-1"/>
            <a:chExt cx="1971007" cy="1000806"/>
          </a:xfrm>
        </p:grpSpPr>
        <p:sp>
          <p:nvSpPr>
            <p:cNvPr id="178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2" y="240050"/>
              <a:ext cx="1971009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7" grpId="2"/>
      <p:bldP build="whole" bldLvl="1" animBg="1" rev="0" advAuto="0" spid="180" grpId="3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76" y="9701277"/>
            <a:ext cx="1971009" cy="1000807"/>
            <a:chOff x="-1" y="-1"/>
            <a:chExt cx="1971007" cy="1000806"/>
          </a:xfrm>
        </p:grpSpPr>
        <p:sp>
          <p:nvSpPr>
            <p:cNvPr id="185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2" y="241179"/>
              <a:ext cx="1971009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76" y="9701277"/>
            <a:ext cx="1971009" cy="1000807"/>
            <a:chOff x="-1" y="-1"/>
            <a:chExt cx="1971007" cy="1000806"/>
          </a:xfrm>
        </p:grpSpPr>
        <p:sp>
          <p:nvSpPr>
            <p:cNvPr id="188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2" y="240050"/>
              <a:ext cx="1971009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227608" y="11224630"/>
            <a:ext cx="5661005" cy="1585243"/>
            <a:chOff x="-1" y="-1"/>
            <a:chExt cx="5661004" cy="1585242"/>
          </a:xfrm>
        </p:grpSpPr>
        <p:sp>
          <p:nvSpPr>
            <p:cNvPr id="191" name="Rechteck"/>
            <p:cNvSpPr/>
            <p:nvPr/>
          </p:nvSpPr>
          <p:spPr>
            <a:xfrm>
              <a:off x="-2" y="157761"/>
              <a:ext cx="5661005" cy="126972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-2" y="-2"/>
              <a:ext cx="5661005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split_probability*MLM</a:t>
              </a:r>
            </a:p>
          </p:txBody>
        </p:sp>
      </p:grpSp>
      <p:sp>
        <p:nvSpPr>
          <p:cNvPr id="194" name="p = 0.8"/>
          <p:cNvSpPr/>
          <p:nvPr/>
        </p:nvSpPr>
        <p:spPr>
          <a:xfrm>
            <a:off x="6271643" y="11258639"/>
            <a:ext cx="4711135" cy="1517228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97" name="p = 0.2"/>
          <p:cNvGrpSpPr/>
          <p:nvPr/>
        </p:nvGrpSpPr>
        <p:grpSpPr>
          <a:xfrm>
            <a:off x="13044871" y="11263679"/>
            <a:ext cx="5814015" cy="1517230"/>
            <a:chOff x="0" y="0"/>
            <a:chExt cx="5814014" cy="1517228"/>
          </a:xfrm>
        </p:grpSpPr>
        <p:sp>
          <p:nvSpPr>
            <p:cNvPr id="195" name="Rechteck"/>
            <p:cNvSpPr/>
            <p:nvPr/>
          </p:nvSpPr>
          <p:spPr>
            <a:xfrm>
              <a:off x="-1" y="0"/>
              <a:ext cx="5814015" cy="1517230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196" name="p_operand_first.png" descr="p_operand_first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49777" y="459636"/>
              <a:ext cx="5514460" cy="59795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8" name="Linie"/>
          <p:cNvSpPr/>
          <p:nvPr/>
        </p:nvSpPr>
        <p:spPr>
          <a:xfrm flipH="1" flipV="1">
            <a:off x="9889200" y="10630079"/>
            <a:ext cx="3183051" cy="64882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ie"/>
          <p:cNvSpPr/>
          <p:nvPr/>
        </p:nvSpPr>
        <p:spPr>
          <a:xfrm flipV="1">
            <a:off x="16095580" y="10618560"/>
            <a:ext cx="367943" cy="65270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ie"/>
          <p:cNvSpPr/>
          <p:nvPr/>
        </p:nvSpPr>
        <p:spPr>
          <a:xfrm flipV="1">
            <a:off x="14283721" y="10633319"/>
            <a:ext cx="2" cy="628924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12160933" y="10629369"/>
            <a:ext cx="1133421" cy="62981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Rechteck"/>
          <p:cNvSpPr/>
          <p:nvPr/>
        </p:nvSpPr>
        <p:spPr>
          <a:xfrm>
            <a:off x="6646680" y="9615960"/>
            <a:ext cx="2183044" cy="117144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03" name="p_opcode.png" descr="p_opcod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83002" y="11740001"/>
            <a:ext cx="4088417" cy="554504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Linie"/>
          <p:cNvSpPr/>
          <p:nvPr/>
        </p:nvSpPr>
        <p:spPr>
          <a:xfrm flipV="1">
            <a:off x="7698960" y="10650959"/>
            <a:ext cx="4" cy="593644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7" grpId="2"/>
      <p:bldP build="whole" bldLvl="1" animBg="1" rev="0" advAuto="0" spid="190" grpId="3"/>
      <p:bldP build="whole" bldLvl="1" animBg="1" rev="0" advAuto="0" spid="202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8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2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6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the anchors’ project (minimum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K = number of negative samples per test project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200 negative samples per pool</a:t>
            </a:r>
          </a:p>
        </p:txBody>
      </p:sp>
      <p:pic>
        <p:nvPicPr>
          <p:cNvPr id="21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8" y="2657160"/>
            <a:ext cx="13191124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1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7" y="4348800"/>
            <a:ext cx="19126805" cy="724680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4" name="Very Similar Embedding:…"/>
          <p:cNvGrpSpPr/>
          <p:nvPr/>
        </p:nvGrpSpPr>
        <p:grpSpPr>
          <a:xfrm>
            <a:off x="12481195" y="4445636"/>
            <a:ext cx="9213129" cy="7052768"/>
            <a:chOff x="-1" y="0"/>
            <a:chExt cx="9213128" cy="7052767"/>
          </a:xfrm>
        </p:grpSpPr>
        <p:sp>
          <p:nvSpPr>
            <p:cNvPr id="222" name="Rechteck"/>
            <p:cNvSpPr/>
            <p:nvPr/>
          </p:nvSpPr>
          <p:spPr>
            <a:xfrm>
              <a:off x="-2" y="-1"/>
              <a:ext cx="9213129" cy="7052768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3" name="Very Similar Embedding:…"/>
            <p:cNvSpPr txBox="1"/>
            <p:nvPr/>
          </p:nvSpPr>
          <p:spPr>
            <a:xfrm>
              <a:off x="31678" y="2988535"/>
              <a:ext cx="9149409" cy="10764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4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Linie"/>
          <p:cNvSpPr/>
          <p:nvPr/>
        </p:nvSpPr>
        <p:spPr>
          <a:xfrm flipH="1">
            <a:off x="7495919" y="5144039"/>
            <a:ext cx="2309404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Linie"/>
          <p:cNvSpPr/>
          <p:nvPr/>
        </p:nvSpPr>
        <p:spPr>
          <a:xfrm>
            <a:off x="9808199" y="5180036"/>
            <a:ext cx="7225560" cy="3705846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Slight differences in assembly"/>
          <p:cNvSpPr txBox="1"/>
          <p:nvPr/>
        </p:nvSpPr>
        <p:spPr>
          <a:xfrm>
            <a:off x="4907879" y="4398840"/>
            <a:ext cx="5381427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9" grpId="2"/>
      <p:bldP build="whole" bldLvl="1" animBg="1" rev="0" advAuto="0" spid="231" grpId="1"/>
      <p:bldP build="whole" bldLvl="1" animBg="1" rev="0" advAuto="0" spid="230" grpId="3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5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8" name="Tabelle"/>
          <p:cNvGraphicFramePr/>
          <p:nvPr/>
        </p:nvGraphicFramePr>
        <p:xfrm>
          <a:off x="2877117" y="3518279"/>
          <a:ext cx="18629285" cy="87771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1" name="Tabelle"/>
          <p:cNvGraphicFramePr/>
          <p:nvPr/>
        </p:nvGraphicFramePr>
        <p:xfrm>
          <a:off x="1736637" y="3136319"/>
          <a:ext cx="20910240" cy="773496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0.8935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 txBox="1"/>
          <p:nvPr>
            <p:ph type="title"/>
          </p:nvPr>
        </p:nvSpPr>
        <p:spPr>
          <a:xfrm>
            <a:off x="1206358" y="1079639"/>
            <a:ext cx="21970446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Operand Normalized Masking </a:t>
            </a:r>
          </a:p>
        </p:txBody>
      </p:sp>
      <p:pic>
        <p:nvPicPr>
          <p:cNvPr id="24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62514" y="3203343"/>
            <a:ext cx="15128282" cy="672804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7" name="Choose the tokens not randomly but with p:"/>
          <p:cNvGrpSpPr/>
          <p:nvPr/>
        </p:nvGrpSpPr>
        <p:grpSpPr>
          <a:xfrm>
            <a:off x="162323" y="10506493"/>
            <a:ext cx="5661005" cy="1585244"/>
            <a:chOff x="-1" y="-1"/>
            <a:chExt cx="5661004" cy="1585242"/>
          </a:xfrm>
        </p:grpSpPr>
        <p:sp>
          <p:nvSpPr>
            <p:cNvPr id="245" name="Rechteck"/>
            <p:cNvSpPr/>
            <p:nvPr/>
          </p:nvSpPr>
          <p:spPr>
            <a:xfrm>
              <a:off x="-2" y="157761"/>
              <a:ext cx="5661005" cy="126972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46" name="Choose the tokens not uniform, but with split_propability*MLM"/>
            <p:cNvSpPr txBox="1"/>
            <p:nvPr/>
          </p:nvSpPr>
          <p:spPr>
            <a:xfrm>
              <a:off x="-2" y="-2"/>
              <a:ext cx="5661005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normalize split_probability for operands</a:t>
              </a:r>
            </a:p>
          </p:txBody>
        </p:sp>
      </p:grpSp>
      <p:sp>
        <p:nvSpPr>
          <p:cNvPr id="248" name="p = 0.8"/>
          <p:cNvSpPr/>
          <p:nvPr/>
        </p:nvSpPr>
        <p:spPr>
          <a:xfrm>
            <a:off x="6206359" y="10540502"/>
            <a:ext cx="4711134" cy="1517229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9" name="p = 0.2"/>
          <p:cNvSpPr/>
          <p:nvPr/>
        </p:nvSpPr>
        <p:spPr>
          <a:xfrm>
            <a:off x="12979586" y="10545543"/>
            <a:ext cx="7176969" cy="1517228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0" name="Linie"/>
          <p:cNvSpPr/>
          <p:nvPr/>
        </p:nvSpPr>
        <p:spPr>
          <a:xfrm flipH="1" flipV="1">
            <a:off x="9823915" y="9911942"/>
            <a:ext cx="3183051" cy="64882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1" name="Linie"/>
          <p:cNvSpPr/>
          <p:nvPr/>
        </p:nvSpPr>
        <p:spPr>
          <a:xfrm flipV="1">
            <a:off x="16030294" y="9900422"/>
            <a:ext cx="367944" cy="65270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Linie"/>
          <p:cNvSpPr/>
          <p:nvPr/>
        </p:nvSpPr>
        <p:spPr>
          <a:xfrm flipV="1">
            <a:off x="14218435" y="9915182"/>
            <a:ext cx="2" cy="62892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Linie"/>
          <p:cNvSpPr/>
          <p:nvPr/>
        </p:nvSpPr>
        <p:spPr>
          <a:xfrm flipH="1" flipV="1">
            <a:off x="12095647" y="9911232"/>
            <a:ext cx="1133422" cy="62981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54" name="p_opcode.png" descr="p_opcod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17716" y="11021865"/>
            <a:ext cx="4088418" cy="554504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Linie"/>
          <p:cNvSpPr/>
          <p:nvPr/>
        </p:nvSpPr>
        <p:spPr>
          <a:xfrm flipV="1">
            <a:off x="7633675" y="9932821"/>
            <a:ext cx="4" cy="593644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56" name="p_operand_alt.png" descr="p_operand_alt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123584" y="10858707"/>
            <a:ext cx="6888973" cy="8808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(operand normalized)</a:t>
            </a:r>
          </a:p>
        </p:txBody>
      </p:sp>
      <p:graphicFrame>
        <p:nvGraphicFramePr>
          <p:cNvPr id="259" name="Tabelle"/>
          <p:cNvGraphicFramePr/>
          <p:nvPr/>
        </p:nvGraphicFramePr>
        <p:xfrm>
          <a:off x="1736880" y="4279679"/>
          <a:ext cx="20910240" cy="51566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0.1343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0.9012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0.8718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0.8502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 txBox="1"/>
          <p:nvPr>
            <p:ph type="title"/>
          </p:nvPr>
        </p:nvSpPr>
        <p:spPr>
          <a:xfrm>
            <a:off x="1206359" y="1079639"/>
            <a:ext cx="21970443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Conclusion</a:t>
            </a:r>
          </a:p>
        </p:txBody>
      </p:sp>
      <p:sp>
        <p:nvSpPr>
          <p:cNvPr id="262" name="PlaceHolder 3"/>
          <p:cNvSpPr txBox="1"/>
          <p:nvPr/>
        </p:nvSpPr>
        <p:spPr>
          <a:xfrm>
            <a:off x="1206779" y="2730420"/>
            <a:ext cx="21970442" cy="9431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First strategy did not have a clear trend line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We suspect the higher amount of operand tokens to counteract the opcode learning advantage ( in case of 80% operand tokens )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normalizing the operand masking probability resulted in a more consistent trend line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Overall we could observe a slight learning improvement by focusing on opcode tokens</a:t>
            </a:r>
          </a:p>
          <a:p>
            <a:pPr defTabSz="243828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</a:defRPr>
            </a:pPr>
            <a:r>
              <a:t>—&gt; Generally, all trained models result in a consistent quality embedding</a:t>
            </a:r>
          </a:p>
          <a:p>
            <a:pPr defTabSz="243828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</a:defRPr>
            </a:pPr>
            <a:r>
              <a:t>—&gt; the gained advantage is small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
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sz="half" idx="1"/>
          </p:nvPr>
        </p:nvSpPr>
        <p:spPr>
          <a:xfrm>
            <a:off x="1206359" y="4920839"/>
            <a:ext cx="21970802" cy="3873961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ebene 1…"/>
          <p:cNvSpPr txBox="1"/>
          <p:nvPr>
            <p:ph type="body" idx="1"/>
          </p:nvPr>
        </p:nvSpPr>
        <p:spPr>
          <a:xfrm>
            <a:off x="1206359" y="1076040"/>
            <a:ext cx="21970802" cy="7241400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0" name="PlaceHolder 2"/>
          <p:cNvSpPr/>
          <p:nvPr>
            <p:ph type="body" sz="quarter" idx="21"/>
          </p:nvPr>
        </p:nvSpPr>
        <p:spPr>
          <a:xfrm>
            <a:off x="1206359" y="8262360"/>
            <a:ext cx="21970802" cy="93456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ebene 1…"/>
          <p:cNvSpPr txBox="1"/>
          <p:nvPr>
            <p:ph type="body" sz="quarter" idx="1"/>
          </p:nvPr>
        </p:nvSpPr>
        <p:spPr>
          <a:xfrm>
            <a:off x="2429998" y="10675439"/>
            <a:ext cx="20199603" cy="6364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9" name="PlaceHolder 2"/>
          <p:cNvSpPr/>
          <p:nvPr>
            <p:ph type="body" sz="half" idx="21"/>
          </p:nvPr>
        </p:nvSpPr>
        <p:spPr>
          <a:xfrm>
            <a:off x="1753921" y="4939920"/>
            <a:ext cx="20875678" cy="383580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682" cy="59493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 indent="539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 indent="1007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 indent="1511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 indent="1943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8" name="PlaceHolder 3"/>
          <p:cNvSpPr/>
          <p:nvPr>
            <p:ph type="body" idx="21"/>
          </p:nvPr>
        </p:nvSpPr>
        <p:spPr>
          <a:xfrm>
            <a:off x="-139681" y="495358"/>
            <a:ext cx="16611121" cy="1245852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4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ebene 1…"/>
          <p:cNvSpPr txBox="1"/>
          <p:nvPr>
            <p:ph type="body" idx="1"/>
          </p:nvPr>
        </p:nvSpPr>
        <p:spPr>
          <a:xfrm>
            <a:off x="-1333441" y="-5524561"/>
            <a:ext cx="27050765" cy="2164032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 indent="539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 indent="1007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 indent="1511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 indent="1943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802" cy="6364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2" name="Titeltext"/>
          <p:cNvSpPr txBox="1"/>
          <p:nvPr>
            <p:ph type="title"/>
          </p:nvPr>
        </p:nvSpPr>
        <p:spPr>
          <a:xfrm>
            <a:off x="1206359" y="2575080"/>
            <a:ext cx="21970802" cy="464796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3" name="PlaceHolder 3"/>
          <p:cNvSpPr/>
          <p:nvPr>
            <p:ph type="body" sz="quarter" idx="21"/>
          </p:nvPr>
        </p:nvSpPr>
        <p:spPr>
          <a:xfrm>
            <a:off x="1201319" y="7223038"/>
            <a:ext cx="21970802" cy="190476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ebene 1…"/>
          <p:cNvSpPr txBox="1"/>
          <p:nvPr>
            <p:ph type="body" idx="1"/>
          </p:nvPr>
        </p:nvSpPr>
        <p:spPr>
          <a:xfrm>
            <a:off x="-1155601" y="-1295282"/>
            <a:ext cx="26745844" cy="16018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 indent="539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 indent="1007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 indent="1511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 indent="1943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2" name="Titeltext"/>
          <p:cNvSpPr txBox="1"/>
          <p:nvPr>
            <p:ph type="title"/>
          </p:nvPr>
        </p:nvSpPr>
        <p:spPr>
          <a:xfrm>
            <a:off x="1206359" y="7124758"/>
            <a:ext cx="21970802" cy="4647962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83" name="PlaceHolder 4"/>
          <p:cNvSpPr/>
          <p:nvPr>
            <p:ph type="body" sz="quarter" idx="21"/>
          </p:nvPr>
        </p:nvSpPr>
        <p:spPr>
          <a:xfrm>
            <a:off x="1206359" y="11609999"/>
            <a:ext cx="21970802" cy="11167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8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ebene 1…"/>
          <p:cNvSpPr txBox="1"/>
          <p:nvPr>
            <p:ph type="body" idx="1"/>
          </p:nvPr>
        </p:nvSpPr>
        <p:spPr>
          <a:xfrm>
            <a:off x="10972800" y="-203041"/>
            <a:ext cx="12144600" cy="141346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 indent="539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 indent="1007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 indent="1511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 indent="1943999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2" name="Titeltext"/>
          <p:cNvSpPr txBox="1"/>
          <p:nvPr>
            <p:ph type="title"/>
          </p:nvPr>
        </p:nvSpPr>
        <p:spPr>
          <a:xfrm>
            <a:off x="1206359" y="1270080"/>
            <a:ext cx="9778681" cy="5882042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93" name="PlaceHolder 3"/>
          <p:cNvSpPr/>
          <p:nvPr>
            <p:ph type="body" sz="quarter" idx="21"/>
          </p:nvPr>
        </p:nvSpPr>
        <p:spPr>
          <a:xfrm>
            <a:off x="1206360" y="7060679"/>
            <a:ext cx="9778680" cy="538524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94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eltext"/>
          <p:cNvSpPr txBox="1"/>
          <p:nvPr>
            <p:ph type="title"/>
          </p:nvPr>
        </p:nvSpPr>
        <p:spPr>
          <a:xfrm>
            <a:off x="1206359" y="1079640"/>
            <a:ext cx="21970802" cy="14328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0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681" cy="93456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0" name="PlaceHolder 3"/>
          <p:cNvSpPr/>
          <p:nvPr>
            <p:ph type="body" idx="21"/>
          </p:nvPr>
        </p:nvSpPr>
        <p:spPr>
          <a:xfrm>
            <a:off x="12192120" y="-407161"/>
            <a:ext cx="10916641" cy="14555521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21" name="Titeltext"/>
          <p:cNvSpPr txBox="1"/>
          <p:nvPr>
            <p:ph type="title"/>
          </p:nvPr>
        </p:nvSpPr>
        <p:spPr>
          <a:xfrm>
            <a:off x="1206359" y="1079640"/>
            <a:ext cx="9778681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teltext"/>
          <p:cNvSpPr txBox="1"/>
          <p:nvPr>
            <p:ph type="title"/>
          </p:nvPr>
        </p:nvSpPr>
        <p:spPr>
          <a:xfrm>
            <a:off x="1206359" y="4533839"/>
            <a:ext cx="21970802" cy="4647963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0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440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802" cy="636482"/>
          </a:xfrm>
          <a:prstGeom prst="rect">
            <a:avLst/>
          </a:prstGeom>
        </p:spPr>
        <p:txBody>
          <a:bodyPr/>
          <a:lstStyle/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79"/>
            <a:ext cx="21970802" cy="464796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Binary Analysis using BERT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802" cy="190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802" cy="14328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9"/>
            <a:ext cx="21970802" cy="8255521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Measure the importance of certain model inputs for learning about binary function similarity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Recent Research</a:t>
            </a:r>
            <a:r>
              <a:rPr baseline="-5999"/>
              <a:t>[1]</a:t>
            </a:r>
            <a:r>
              <a:t> highlights the importance of instructions containing specific opcodes (like „call“ ) within a function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Our approach tries to extend the understanding about the relevance of certain inputs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Instead of measuring the importance between different instructions, we compare the parts of an instruction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689" y="12310743"/>
            <a:ext cx="2210335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rPr sz="2700"/>
              <a:t>[1]:Dannehl, M., Valenzuela, S. &amp; Kinder, J. Which Instructions Matter the Most: A Saliency Analysis of Binary Function Embedding Models (2025)</a:t>
            </a:r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802" cy="14328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16080" y="2320558"/>
            <a:ext cx="14751362" cy="1005696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 txBox="1"/>
          <p:nvPr>
            <p:ph type="title"/>
          </p:nvPr>
        </p:nvSpPr>
        <p:spPr>
          <a:xfrm>
            <a:off x="1206359" y="1079639"/>
            <a:ext cx="21970802" cy="14328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0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2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spcBef>
                <a:spcPts val="1400"/>
              </a:spcBef>
            </a:pPr>
          </a:p>
        </p:txBody>
      </p:sp>
      <p:sp>
        <p:nvSpPr>
          <p:cNvPr id="161" name="PlaceHolder 3"/>
          <p:cNvSpPr txBox="1"/>
          <p:nvPr/>
        </p:nvSpPr>
        <p:spPr>
          <a:xfrm>
            <a:off x="1206359" y="42483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shift the models focus on either opcodes or operands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to train our BERT model we base on traditional Masked Language Modeling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we measure the importance of each category by setting a statistic focus on opcodes and operands 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The category we want to focus on is masked with a 80% probability while the other one receives a 20% masking probability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 txBox="1"/>
          <p:nvPr>
            <p:ph type="title"/>
          </p:nvPr>
        </p:nvSpPr>
        <p:spPr>
          <a:xfrm>
            <a:off x="1206359" y="1079639"/>
            <a:ext cx="21970802" cy="14328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 </a:t>
            </a:r>
          </a:p>
        </p:txBody>
      </p:sp>
      <p:sp>
        <p:nvSpPr>
          <p:cNvPr id="164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2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Cosine Similarity</a:t>
            </a:r>
          </a:p>
        </p:txBody>
      </p:sp>
      <p:sp>
        <p:nvSpPr>
          <p:cNvPr id="165" name="PlaceHolder 3"/>
          <p:cNvSpPr txBox="1"/>
          <p:nvPr/>
        </p:nvSpPr>
        <p:spPr>
          <a:xfrm>
            <a:off x="1206359" y="42483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Precompute the output embeddings of the anchor functions of all pools and store them for lookup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Batch process candidates of each pool and compute cosine similarity between anchor &amp; candidates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39"/>
            <a:ext cx="21970802" cy="14328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2"/>
          </a:xfrm>
          <a:prstGeom prst="rect">
            <a:avLst/>
          </a:prstGeom>
        </p:spPr>
        <p:txBody>
          <a:bodyPr/>
          <a:lstStyle/>
          <a:p>
            <a:pPr/>
            <a:r>
              <a:t>Function Pools</a:t>
            </a: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36561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Each function pool follows the same structure: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1 Anchor Function, N-Positive Samples, 200 Negative Samples, where N &gt; 7 to only include pools with sufficient function variants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N-Positive Samples:</a:t>
            </a:r>
          </a:p>
          <a:p>
            <a:pPr lvl="3" marL="2243159" indent="-560879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 = number of all positive samples across each test project</a:t>
            </a:r>
          </a:p>
          <a:p>
            <a:pPr lvl="3" marL="2243159" indent="-560879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Samples that have the same f_name and same file origin are filtered out (duplicates)</a:t>
            </a:r>
          </a:p>
          <a:p>
            <a:pPr lvl="3" marL="2243159" indent="-560879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39"/>
            <a:ext cx="21970802" cy="14328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2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spc="-200" sz="5600"/>
            </a:lvl1pPr>
          </a:lstStyle>
          <a:p>
            <a:pPr/>
            <a:r>
              <a:t>Function Pools 2</a:t>
            </a:r>
          </a:p>
        </p:txBody>
      </p:sp>
      <p:sp>
        <p:nvSpPr>
          <p:cNvPr id="173" name="PlaceHolder 3"/>
          <p:cNvSpPr txBox="1"/>
          <p:nvPr/>
        </p:nvSpPr>
        <p:spPr>
          <a:xfrm>
            <a:off x="1206359" y="42483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200 Negative Samples: 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Randomly pick 100 samples from each of the two test projects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Ensure each sample has a different name than the anchor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Anchor Function:</a:t>
            </a: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 txBox="1"/>
          <p:nvPr>
            <p:ph type="title"/>
          </p:nvPr>
        </p:nvSpPr>
        <p:spPr>
          <a:xfrm>
            <a:off x="1206359" y="1079639"/>
            <a:ext cx="21970802" cy="14328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Hyperparameters</a:t>
            </a:r>
          </a:p>
        </p:txBody>
      </p:sp>
      <p:graphicFrame>
        <p:nvGraphicFramePr>
          <p:cNvPr id="176" name="Tabelle"/>
          <p:cNvGraphicFramePr/>
          <p:nvPr/>
        </p:nvGraphicFramePr>
        <p:xfrm>
          <a:off x="2877118" y="3518279"/>
          <a:ext cx="18629283" cy="81504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 txBox="1"/>
          <p:nvPr>
            <p:ph type="title"/>
          </p:nvPr>
        </p:nvSpPr>
        <p:spPr>
          <a:xfrm>
            <a:off x="1206359" y="1079639"/>
            <a:ext cx="21970802" cy="14328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Results</a:t>
            </a:r>
          </a:p>
        </p:txBody>
      </p:sp>
      <p:graphicFrame>
        <p:nvGraphicFramePr>
          <p:cNvPr id="179" name="Tabelle"/>
          <p:cNvGraphicFramePr/>
          <p:nvPr/>
        </p:nvGraphicFramePr>
        <p:xfrm>
          <a:off x="1670760" y="3283198"/>
          <a:ext cx="21042480" cy="8242557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60620"/>
                <a:gridCol w="5260620"/>
                <a:gridCol w="5260620"/>
                <a:gridCol w="5260620"/>
              </a:tblGrid>
              <a:tr h="2060639"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Top_K* 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Traditional MLM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0.108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-&gt; Opcodes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0.108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0.867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-&gt; 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
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sz="half" idx="1"/>
          </p:nvPr>
        </p:nvSpPr>
        <p:spPr>
          <a:xfrm>
            <a:off x="1206359" y="4920839"/>
            <a:ext cx="21970802" cy="3873961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bene 1…"/>
          <p:cNvSpPr txBox="1"/>
          <p:nvPr>
            <p:ph type="body" idx="1"/>
          </p:nvPr>
        </p:nvSpPr>
        <p:spPr>
          <a:xfrm>
            <a:off x="1206359" y="1076040"/>
            <a:ext cx="21970802" cy="7241400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0" name="PlaceHolder 2"/>
          <p:cNvSpPr/>
          <p:nvPr>
            <p:ph type="body" sz="quarter" idx="21"/>
          </p:nvPr>
        </p:nvSpPr>
        <p:spPr>
          <a:xfrm>
            <a:off x="1206359" y="8262359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604" cy="63648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9" name="PlaceHolder 2"/>
          <p:cNvSpPr/>
          <p:nvPr>
            <p:ph type="body" sz="half" idx="21"/>
          </p:nvPr>
        </p:nvSpPr>
        <p:spPr>
          <a:xfrm>
            <a:off x="1753921" y="4939920"/>
            <a:ext cx="20875678" cy="383580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684" cy="5949365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8" name="PlaceHolder 3"/>
          <p:cNvSpPr/>
          <p:nvPr>
            <p:ph type="body" idx="21"/>
          </p:nvPr>
        </p:nvSpPr>
        <p:spPr>
          <a:xfrm>
            <a:off x="-139681" y="495357"/>
            <a:ext cx="16611121" cy="12458526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4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ebene 1…"/>
          <p:cNvSpPr txBox="1"/>
          <p:nvPr>
            <p:ph type="body" idx="1"/>
          </p:nvPr>
        </p:nvSpPr>
        <p:spPr>
          <a:xfrm>
            <a:off x="-1333441" y="-5524561"/>
            <a:ext cx="27050765" cy="2164032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802" cy="63648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2" name="Titeltext"/>
          <p:cNvSpPr txBox="1"/>
          <p:nvPr>
            <p:ph type="title"/>
          </p:nvPr>
        </p:nvSpPr>
        <p:spPr>
          <a:xfrm>
            <a:off x="1206359" y="2575080"/>
            <a:ext cx="21970802" cy="464796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3" name="PlaceHolder 3"/>
          <p:cNvSpPr/>
          <p:nvPr>
            <p:ph type="body" sz="quarter" idx="21"/>
          </p:nvPr>
        </p:nvSpPr>
        <p:spPr>
          <a:xfrm>
            <a:off x="1201319" y="7223038"/>
            <a:ext cx="21970802" cy="190476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ebene 1…"/>
          <p:cNvSpPr txBox="1"/>
          <p:nvPr>
            <p:ph type="body" idx="1"/>
          </p:nvPr>
        </p:nvSpPr>
        <p:spPr>
          <a:xfrm>
            <a:off x="-1155601" y="-1295282"/>
            <a:ext cx="26745844" cy="16018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2" name="Titeltext"/>
          <p:cNvSpPr txBox="1"/>
          <p:nvPr>
            <p:ph type="title"/>
          </p:nvPr>
        </p:nvSpPr>
        <p:spPr>
          <a:xfrm>
            <a:off x="1206359" y="7124758"/>
            <a:ext cx="21970802" cy="464796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83" name="PlaceHolder 4"/>
          <p:cNvSpPr/>
          <p:nvPr>
            <p:ph type="body" sz="quarter" idx="21"/>
          </p:nvPr>
        </p:nvSpPr>
        <p:spPr>
          <a:xfrm>
            <a:off x="1206359" y="11609999"/>
            <a:ext cx="21970802" cy="111672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8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ebene 1…"/>
          <p:cNvSpPr txBox="1"/>
          <p:nvPr>
            <p:ph type="body" idx="1"/>
          </p:nvPr>
        </p:nvSpPr>
        <p:spPr>
          <a:xfrm>
            <a:off x="10972800" y="-203041"/>
            <a:ext cx="12144600" cy="141346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2" name="Titeltext"/>
          <p:cNvSpPr txBox="1"/>
          <p:nvPr>
            <p:ph type="title"/>
          </p:nvPr>
        </p:nvSpPr>
        <p:spPr>
          <a:xfrm>
            <a:off x="1206359" y="1270080"/>
            <a:ext cx="9778681" cy="588204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93" name="PlaceHolder 3"/>
          <p:cNvSpPr/>
          <p:nvPr>
            <p:ph type="body" sz="quarter" idx="21"/>
          </p:nvPr>
        </p:nvSpPr>
        <p:spPr>
          <a:xfrm>
            <a:off x="1206360" y="7060678"/>
            <a:ext cx="9778680" cy="538524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94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eltext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0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681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0" name="PlaceHolder 3"/>
          <p:cNvSpPr/>
          <p:nvPr>
            <p:ph type="body" idx="21"/>
          </p:nvPr>
        </p:nvSpPr>
        <p:spPr>
          <a:xfrm>
            <a:off x="12192120" y="-407161"/>
            <a:ext cx="10916641" cy="14555521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21" name="Titeltext"/>
          <p:cNvSpPr txBox="1"/>
          <p:nvPr>
            <p:ph type="title"/>
          </p:nvPr>
        </p:nvSpPr>
        <p:spPr>
          <a:xfrm>
            <a:off x="1206359" y="1079640"/>
            <a:ext cx="9778681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eltext"/>
          <p:cNvSpPr txBox="1"/>
          <p:nvPr>
            <p:ph type="title"/>
          </p:nvPr>
        </p:nvSpPr>
        <p:spPr>
          <a:xfrm>
            <a:off x="1206359" y="4533839"/>
            <a:ext cx="21970802" cy="4647964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0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802" cy="636483"/>
          </a:xfrm>
          <a:prstGeom prst="rect">
            <a:avLst/>
          </a:prstGeom>
        </p:spPr>
        <p:txBody>
          <a:bodyPr/>
          <a:lstStyle/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78"/>
            <a:ext cx="21970802" cy="464796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Binary Analysis using BERT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802" cy="1904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802" cy="8255521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Measure the importance of certain model inputs for learning about binary function similarity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Recent Research</a:t>
            </a:r>
            <a:r>
              <a:rPr baseline="-5998"/>
              <a:t>[1]</a:t>
            </a:r>
            <a:r>
              <a:t> highlights the importance of instructions containing specific opcodes (like „call“ ) within a function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Our approach tries to extend the understanding about the relevance of certain inputs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Instead of measuring the importance between different instructions, we compare the parts of an instruction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690" y="12310743"/>
            <a:ext cx="2210335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/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420662" y="1846709"/>
            <a:ext cx="19542676" cy="10022582"/>
          </a:xfrm>
          <a:prstGeom prst="rect">
            <a:avLst/>
          </a:prstGeom>
          <a:ln w="12700">
            <a:miter lim="400000"/>
          </a:ln>
        </p:spPr>
      </p:pic>
      <p:sp>
        <p:nvSpPr>
          <p:cNvPr id="158" name="Opcode Masking"/>
          <p:cNvSpPr/>
          <p:nvPr/>
        </p:nvSpPr>
        <p:spPr>
          <a:xfrm>
            <a:off x="16416250" y="9380817"/>
            <a:ext cx="3293932" cy="2320474"/>
          </a:xfrm>
          <a:prstGeom prst="rect">
            <a:avLst/>
          </a:prstGeom>
          <a:solidFill>
            <a:schemeClr val="accent4">
              <a:lumOff val="10049"/>
            </a:schemeClr>
          </a:solidFill>
          <a:ln w="127000">
            <a:solidFill>
              <a:srgbClr val="A7A7A7"/>
            </a:solidFill>
            <a:prstDash val="sysDot"/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 Opcode Masking</a:t>
            </a:r>
          </a:p>
        </p:txBody>
      </p:sp>
      <p:sp>
        <p:nvSpPr>
          <p:cNvPr id="159" name="Operand Masking"/>
          <p:cNvSpPr/>
          <p:nvPr/>
        </p:nvSpPr>
        <p:spPr>
          <a:xfrm>
            <a:off x="16416250" y="9380817"/>
            <a:ext cx="3293932" cy="2320474"/>
          </a:xfrm>
          <a:prstGeom prst="rect">
            <a:avLst/>
          </a:prstGeom>
          <a:solidFill>
            <a:schemeClr val="accent5">
              <a:lumOff val="8676"/>
            </a:schemeClr>
          </a:solidFill>
          <a:ln w="127000">
            <a:solidFill>
              <a:srgbClr val="A7A7A7"/>
            </a:solidFill>
            <a:prstDash val="sysDot"/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lvl="2" algn="ctr">
              <a:defRPr b="1" sz="36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 Operand Masking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59" grpId="2"/>
      <p:bldP build="whole" bldLvl="1" animBg="1" rev="0" advAuto="0" spid="158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ts val="1400"/>
              </a:spcBef>
            </a:pPr>
          </a:p>
        </p:txBody>
      </p:sp>
      <p:sp>
        <p:nvSpPr>
          <p:cNvPr id="163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shift the models focus on either opcodes or operands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to train our BERT model we base on traditional Masked Language Modeling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The category we want to focus on is masked with a 80% probability while the other one receives a 20% masking probability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 </a:t>
            </a:r>
          </a:p>
        </p:txBody>
      </p:sp>
      <p:sp>
        <p:nvSpPr>
          <p:cNvPr id="166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Cosine Similarity</a:t>
            </a:r>
          </a:p>
        </p:txBody>
      </p:sp>
      <p:sp>
        <p:nvSpPr>
          <p:cNvPr id="167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Precompute the output embeddings of the anchor functions of all pools and store them for lookup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Batch process candidates of each pool and compute cosine similarity between anchor &amp; candidates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70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/>
          <a:p>
            <a:pPr/>
            <a:r>
              <a:t>Function Pools</a:t>
            </a:r>
          </a:p>
        </p:txBody>
      </p:sp>
      <p:sp>
        <p:nvSpPr>
          <p:cNvPr id="171" name="PlaceHolder 3"/>
          <p:cNvSpPr txBox="1"/>
          <p:nvPr/>
        </p:nvSpPr>
        <p:spPr>
          <a:xfrm>
            <a:off x="1206359" y="36561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Each function pool follows the same structure: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N-Positive Samples:</a:t>
            </a: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 = number of all positive samples across each test project</a:t>
            </a: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Samples that have the same f_name and same file origin are filtered out (duplicates)</a:t>
            </a: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7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spc="-200" sz="5600"/>
            </a:lvl1pPr>
          </a:lstStyle>
          <a:p>
            <a:pPr/>
            <a:r>
              <a:t>Function Pools 2</a:t>
            </a:r>
          </a:p>
        </p:txBody>
      </p:sp>
      <p:sp>
        <p:nvSpPr>
          <p:cNvPr id="175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200 Negative Samples: 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Randomly pick 100 samples from each of the two test projects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Ensure each sample has a different name than the anchor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Anchor Function:</a:t>
            </a: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Hyperparameters</a:t>
            </a:r>
          </a:p>
        </p:txBody>
      </p:sp>
      <p:graphicFrame>
        <p:nvGraphicFramePr>
          <p:cNvPr id="178" name="Tabelle"/>
          <p:cNvGraphicFramePr/>
          <p:nvPr/>
        </p:nvGraphicFramePr>
        <p:xfrm>
          <a:off x="2877117" y="3518279"/>
          <a:ext cx="18629285" cy="81504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Results</a:t>
            </a:r>
          </a:p>
        </p:txBody>
      </p:sp>
      <p:graphicFrame>
        <p:nvGraphicFramePr>
          <p:cNvPr id="181" name="Tabelle"/>
          <p:cNvGraphicFramePr/>
          <p:nvPr/>
        </p:nvGraphicFramePr>
        <p:xfrm>
          <a:off x="1670760" y="3283198"/>
          <a:ext cx="21042480" cy="824255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60620"/>
                <a:gridCol w="5260620"/>
                <a:gridCol w="5260620"/>
                <a:gridCol w="5260620"/>
              </a:tblGrid>
              <a:tr h="2060639"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Top_K* 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Traditional MLM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0.108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-&gt; Opcodes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0.108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0.867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-&gt; 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
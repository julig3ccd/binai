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558" y="1080"/>
    <p:text>We use the tokenization of clap because it preserves opcodes as one token, which is needed for our opcode categorization during own Masking Approach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bene 1…"/>
          <p:cNvSpPr txBox="1"/>
          <p:nvPr>
            <p:ph type="body" idx="1"/>
          </p:nvPr>
        </p:nvSpPr>
        <p:spPr>
          <a:xfrm>
            <a:off x="-1155601" y="-1295282"/>
            <a:ext cx="26745481" cy="16018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" name="Titeltext"/>
          <p:cNvSpPr txBox="1"/>
          <p:nvPr>
            <p:ph type="title"/>
          </p:nvPr>
        </p:nvSpPr>
        <p:spPr>
          <a:xfrm>
            <a:off x="1206359" y="7124758"/>
            <a:ext cx="21970442" cy="464760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" name="PlaceHolder 3"/>
          <p:cNvSpPr/>
          <p:nvPr>
            <p:ph type="body" sz="quarter" idx="21"/>
          </p:nvPr>
        </p:nvSpPr>
        <p:spPr>
          <a:xfrm>
            <a:off x="1206359" y="11609999"/>
            <a:ext cx="21970442" cy="111636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idx="1"/>
          </p:nvPr>
        </p:nvSpPr>
        <p:spPr>
          <a:xfrm>
            <a:off x="10972800" y="-203041"/>
            <a:ext cx="12144241" cy="1413432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Titeltext"/>
          <p:cNvSpPr txBox="1"/>
          <p:nvPr>
            <p:ph type="title"/>
          </p:nvPr>
        </p:nvSpPr>
        <p:spPr>
          <a:xfrm>
            <a:off x="1206359" y="1270080"/>
            <a:ext cx="9778322" cy="588168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23" name="PlaceHolder 3"/>
          <p:cNvSpPr/>
          <p:nvPr>
            <p:ph type="body" sz="quarter" idx="21"/>
          </p:nvPr>
        </p:nvSpPr>
        <p:spPr>
          <a:xfrm>
            <a:off x="1206357" y="7060679"/>
            <a:ext cx="9778325" cy="538488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24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eltext"/>
          <p:cNvSpPr txBox="1"/>
          <p:nvPr>
            <p:ph type="title"/>
          </p:nvPr>
        </p:nvSpPr>
        <p:spPr>
          <a:xfrm>
            <a:off x="1206359" y="1079640"/>
            <a:ext cx="21970442" cy="14324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3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3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32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0" name="PlaceHolder 2"/>
          <p:cNvSpPr/>
          <p:nvPr>
            <p:ph type="body" idx="21"/>
          </p:nvPr>
        </p:nvSpPr>
        <p:spPr>
          <a:xfrm>
            <a:off x="12192119" y="-407160"/>
            <a:ext cx="10916284" cy="1455516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51" name="Titeltext"/>
          <p:cNvSpPr txBox="1"/>
          <p:nvPr>
            <p:ph type="title"/>
          </p:nvPr>
        </p:nvSpPr>
        <p:spPr>
          <a:xfrm>
            <a:off x="1206359" y="1079640"/>
            <a:ext cx="977832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5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eltext"/>
          <p:cNvSpPr txBox="1"/>
          <p:nvPr>
            <p:ph type="title"/>
          </p:nvPr>
        </p:nvSpPr>
        <p:spPr>
          <a:xfrm>
            <a:off x="1206359" y="4533839"/>
            <a:ext cx="21970442" cy="4647601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0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7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8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ebene 1…"/>
          <p:cNvSpPr txBox="1"/>
          <p:nvPr>
            <p:ph type="body" sz="half" idx="1"/>
          </p:nvPr>
        </p:nvSpPr>
        <p:spPr>
          <a:xfrm>
            <a:off x="1206359" y="4920839"/>
            <a:ext cx="21970442" cy="3873603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ebene 1…"/>
          <p:cNvSpPr txBox="1"/>
          <p:nvPr>
            <p:ph type="body" idx="1"/>
          </p:nvPr>
        </p:nvSpPr>
        <p:spPr>
          <a:xfrm>
            <a:off x="1206359" y="1076040"/>
            <a:ext cx="21970442" cy="7241041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5" name="PlaceHolder 2"/>
          <p:cNvSpPr/>
          <p:nvPr>
            <p:ph type="body" sz="quarter" idx="21"/>
          </p:nvPr>
        </p:nvSpPr>
        <p:spPr>
          <a:xfrm>
            <a:off x="1206359" y="8262360"/>
            <a:ext cx="21970442" cy="93420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9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245" cy="63612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4" name="PlaceHolder 2"/>
          <p:cNvSpPr/>
          <p:nvPr>
            <p:ph type="body" sz="half" idx="21"/>
          </p:nvPr>
        </p:nvSpPr>
        <p:spPr>
          <a:xfrm>
            <a:off x="1753920" y="4939920"/>
            <a:ext cx="20875320" cy="383544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323" cy="59490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3" name="PlaceHolder 2"/>
          <p:cNvSpPr/>
          <p:nvPr>
            <p:ph type="body" idx="21"/>
          </p:nvPr>
        </p:nvSpPr>
        <p:spPr>
          <a:xfrm>
            <a:off x="-139680" y="495357"/>
            <a:ext cx="16610760" cy="12458166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ebene 1…"/>
          <p:cNvSpPr txBox="1"/>
          <p:nvPr>
            <p:ph type="body" idx="1"/>
          </p:nvPr>
        </p:nvSpPr>
        <p:spPr>
          <a:xfrm>
            <a:off x="-1333441" y="-5524561"/>
            <a:ext cx="27050399" cy="2163996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442" cy="63612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7" name="Titeltext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8" name="PlaceHolder 3"/>
          <p:cNvSpPr/>
          <p:nvPr>
            <p:ph type="body" sz="quarter" idx="21"/>
          </p:nvPr>
        </p:nvSpPr>
        <p:spPr>
          <a:xfrm>
            <a:off x="1201319" y="7223038"/>
            <a:ext cx="21970442" cy="190440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080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442" cy="636123"/>
          </a:xfrm>
          <a:prstGeom prst="rect">
            <a:avLst/>
          </a:prstGeom>
        </p:spPr>
        <p:txBody>
          <a:bodyPr/>
          <a:lstStyle>
            <a:lvl1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/>
          <a:lstStyle>
            <a:lvl1pPr defTabSz="2438280">
              <a:lnSpc>
                <a:spcPct val="80000"/>
              </a:lnSpc>
              <a:defRPr b="1" spc="-300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Binary Analysis using AI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442" cy="1904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442" cy="8255159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n-lt"/>
                <a:ea typeface="+mn-ea"/>
                <a:cs typeface="+mn-cs"/>
                <a:sym typeface="Helvetica Neue"/>
              </a:defRPr>
            </a:pPr>
            <a:r>
              <a:t>Measure the importance of certain model inputs for learning about binary function similarity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n-lt"/>
                <a:ea typeface="+mn-ea"/>
                <a:cs typeface="+mn-cs"/>
                <a:sym typeface="Helvetica Neue"/>
              </a:defRPr>
            </a:pPr>
            <a:r>
              <a:t>Recent Research</a:t>
            </a:r>
            <a:r>
              <a:rPr baseline="-5000"/>
              <a:t>[1]</a:t>
            </a:r>
            <a:r>
              <a:t>: importance of instructions containing specific opcodes (like „call“ 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Arial"/>
                <a:ea typeface="Arial"/>
                <a:cs typeface="Arial"/>
                <a:sym typeface="Arial"/>
              </a:defRPr>
            </a:pPr>
            <a:r>
              <a:t>Our Approach:</a:t>
            </a:r>
            <a:r>
              <a:rPr>
                <a:latin typeface="+mn-lt"/>
                <a:ea typeface="+mn-ea"/>
                <a:cs typeface="+mn-cs"/>
                <a:sym typeface="Helvetica Neue"/>
              </a:rPr>
              <a:t> measure the importance between different instruction parts,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598" y="12310919"/>
            <a:ext cx="22102516" cy="382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>
                <a:latin typeface="Arial"/>
                <a:ea typeface="Arial"/>
                <a:cs typeface="Arial"/>
                <a:sym typeface="Arial"/>
              </a:defRPr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40" y="1846800"/>
            <a:ext cx="19542240" cy="100224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358" y="9380878"/>
            <a:ext cx="3293646" cy="2320205"/>
            <a:chOff x="-1" y="0"/>
            <a:chExt cx="3293645" cy="2320203"/>
          </a:xfrm>
        </p:grpSpPr>
        <p:sp>
          <p:nvSpPr>
            <p:cNvPr id="158" name="Rechteck"/>
            <p:cNvSpPr/>
            <p:nvPr/>
          </p:nvSpPr>
          <p:spPr>
            <a:xfrm>
              <a:off x="-2" y="-1"/>
              <a:ext cx="3293647" cy="2320204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360" y="607931"/>
              <a:ext cx="3166566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358" y="9380878"/>
            <a:ext cx="3293646" cy="2320205"/>
            <a:chOff x="-1" y="0"/>
            <a:chExt cx="3293645" cy="2320203"/>
          </a:xfrm>
        </p:grpSpPr>
        <p:sp>
          <p:nvSpPr>
            <p:cNvPr id="161" name="Rechteck"/>
            <p:cNvSpPr/>
            <p:nvPr/>
          </p:nvSpPr>
          <p:spPr>
            <a:xfrm>
              <a:off x="-2" y="-1"/>
              <a:ext cx="3293647" cy="2320204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360" y="607931"/>
              <a:ext cx="3166566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lvl1pPr>
            </a:lstStyle>
            <a:p>
              <a:pPr/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600" y="12541318"/>
            <a:ext cx="13562943" cy="5259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[1] Hao Wang, Zeyu Gao, Chao Zhang, Zihan Sha, Mingyang Sun, Yuchen Zhou, Wenyu Zhu, Wenju Sun, Han Qiu, &amp; Xi Xiao. (2024).</a:t>
            </a:r>
            <a:endParaRPr>
              <a:solidFill>
                <a:srgbClr val="000000"/>
              </a:solidFill>
            </a:endParaRPr>
          </a:p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80" y="10794958"/>
            <a:ext cx="351582" cy="345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0" grpId="1"/>
      <p:bldP build="whole" bldLvl="1" animBg="1" rev="0" advAuto="0" spid="16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Shift the models focus on either opcodes or operands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To train our BERT model we base on traditional Masked Language Modeling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520" y="9598320"/>
            <a:ext cx="2183043" cy="1171443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77" name="&lt;mask&gt;"/>
          <p:cNvGrpSpPr/>
          <p:nvPr/>
        </p:nvGrpSpPr>
        <p:grpSpPr>
          <a:xfrm>
            <a:off x="11142357" y="9683638"/>
            <a:ext cx="1971006" cy="1000804"/>
            <a:chOff x="-1" y="-1"/>
            <a:chExt cx="1971005" cy="1000803"/>
          </a:xfrm>
        </p:grpSpPr>
        <p:sp>
          <p:nvSpPr>
            <p:cNvPr id="175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6" name="&lt;mask&gt;"/>
            <p:cNvSpPr txBox="1"/>
            <p:nvPr/>
          </p:nvSpPr>
          <p:spPr>
            <a:xfrm>
              <a:off x="-2" y="241178"/>
              <a:ext cx="1971007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80" name="lea"/>
          <p:cNvGrpSpPr/>
          <p:nvPr/>
        </p:nvGrpSpPr>
        <p:grpSpPr>
          <a:xfrm>
            <a:off x="11142357" y="9683638"/>
            <a:ext cx="1971006" cy="1000804"/>
            <a:chOff x="-1" y="-1"/>
            <a:chExt cx="1971005" cy="1000803"/>
          </a:xfrm>
        </p:grpSpPr>
        <p:sp>
          <p:nvSpPr>
            <p:cNvPr id="178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9" name="lea"/>
            <p:cNvSpPr txBox="1"/>
            <p:nvPr/>
          </p:nvSpPr>
          <p:spPr>
            <a:xfrm>
              <a:off x="-2" y="240049"/>
              <a:ext cx="1971007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0" grpId="3"/>
      <p:bldP build="whole" bldLvl="1" animBg="1" rev="0" advAuto="0" spid="174" grpId="1"/>
      <p:bldP build="whole" bldLvl="1" animBg="1" rev="0" advAuto="0" spid="177" grpId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83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7" name="&lt;mask&gt;"/>
          <p:cNvGrpSpPr/>
          <p:nvPr/>
        </p:nvGrpSpPr>
        <p:grpSpPr>
          <a:xfrm>
            <a:off x="6752878" y="9701278"/>
            <a:ext cx="1971006" cy="1000804"/>
            <a:chOff x="-1" y="-1"/>
            <a:chExt cx="1971005" cy="1000803"/>
          </a:xfrm>
        </p:grpSpPr>
        <p:sp>
          <p:nvSpPr>
            <p:cNvPr id="185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6" name="&lt;mask&gt;"/>
            <p:cNvSpPr txBox="1"/>
            <p:nvPr/>
          </p:nvSpPr>
          <p:spPr>
            <a:xfrm>
              <a:off x="-2" y="241178"/>
              <a:ext cx="1971007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90" name="lea"/>
          <p:cNvGrpSpPr/>
          <p:nvPr/>
        </p:nvGrpSpPr>
        <p:grpSpPr>
          <a:xfrm>
            <a:off x="6752878" y="9701278"/>
            <a:ext cx="1971006" cy="1000804"/>
            <a:chOff x="-1" y="-1"/>
            <a:chExt cx="1971005" cy="1000803"/>
          </a:xfrm>
        </p:grpSpPr>
        <p:sp>
          <p:nvSpPr>
            <p:cNvPr id="188" name="Rechteck"/>
            <p:cNvSpPr/>
            <p:nvPr/>
          </p:nvSpPr>
          <p:spPr>
            <a:xfrm>
              <a:off x="-2" y="-2"/>
              <a:ext cx="1971007" cy="100080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9" name="lea"/>
            <p:cNvSpPr txBox="1"/>
            <p:nvPr/>
          </p:nvSpPr>
          <p:spPr>
            <a:xfrm>
              <a:off x="-2" y="240049"/>
              <a:ext cx="1971007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  <p:grpSp>
        <p:nvGrpSpPr>
          <p:cNvPr id="193" name="Choose the tokens not randomly but with p:"/>
          <p:cNvGrpSpPr/>
          <p:nvPr/>
        </p:nvGrpSpPr>
        <p:grpSpPr>
          <a:xfrm>
            <a:off x="602999" y="11100877"/>
            <a:ext cx="5661004" cy="1585244"/>
            <a:chOff x="0" y="0"/>
            <a:chExt cx="5661002" cy="1585242"/>
          </a:xfrm>
        </p:grpSpPr>
        <p:sp>
          <p:nvSpPr>
            <p:cNvPr id="191" name="Rechteck"/>
            <p:cNvSpPr/>
            <p:nvPr/>
          </p:nvSpPr>
          <p:spPr>
            <a:xfrm>
              <a:off x="-1" y="157761"/>
              <a:ext cx="5661003" cy="1269724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2" name="Choose the tokens not uniform, but with split_propability*MLM"/>
            <p:cNvSpPr txBox="1"/>
            <p:nvPr/>
          </p:nvSpPr>
          <p:spPr>
            <a:xfrm>
              <a:off x="-1" y="-1"/>
              <a:ext cx="5661003" cy="15852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Choose the tokens not uniform, but with split_propability*MLM</a:t>
              </a:r>
            </a:p>
          </p:txBody>
        </p:sp>
      </p:grpSp>
      <p:grpSp>
        <p:nvGrpSpPr>
          <p:cNvPr id="196" name="p = 0.8"/>
          <p:cNvGrpSpPr/>
          <p:nvPr/>
        </p:nvGrpSpPr>
        <p:grpSpPr>
          <a:xfrm>
            <a:off x="6695997" y="11258639"/>
            <a:ext cx="2664007" cy="1269725"/>
            <a:chOff x="0" y="0"/>
            <a:chExt cx="2664005" cy="1269723"/>
          </a:xfrm>
        </p:grpSpPr>
        <p:sp>
          <p:nvSpPr>
            <p:cNvPr id="194" name="Rechteck"/>
            <p:cNvSpPr/>
            <p:nvPr/>
          </p:nvSpPr>
          <p:spPr>
            <a:xfrm>
              <a:off x="-1" y="0"/>
              <a:ext cx="2664007" cy="1269724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5" name="p = 0.8*0.15"/>
            <p:cNvSpPr txBox="1"/>
            <p:nvPr/>
          </p:nvSpPr>
          <p:spPr>
            <a:xfrm>
              <a:off x="12699" y="375638"/>
              <a:ext cx="2638607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p = 0.8*0.15</a:t>
              </a:r>
            </a:p>
          </p:txBody>
        </p:sp>
      </p:grpSp>
      <p:grpSp>
        <p:nvGrpSpPr>
          <p:cNvPr id="199" name="p = 0.2"/>
          <p:cNvGrpSpPr/>
          <p:nvPr/>
        </p:nvGrpSpPr>
        <p:grpSpPr>
          <a:xfrm>
            <a:off x="12023997" y="11258639"/>
            <a:ext cx="2520006" cy="1269725"/>
            <a:chOff x="-1" y="0"/>
            <a:chExt cx="2520005" cy="1269723"/>
          </a:xfrm>
        </p:grpSpPr>
        <p:sp>
          <p:nvSpPr>
            <p:cNvPr id="197" name="Rechteck"/>
            <p:cNvSpPr/>
            <p:nvPr/>
          </p:nvSpPr>
          <p:spPr>
            <a:xfrm>
              <a:off x="-2" y="0"/>
              <a:ext cx="2520007" cy="1269724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8" name="p = 0.2*0.15"/>
            <p:cNvSpPr txBox="1"/>
            <p:nvPr/>
          </p:nvSpPr>
          <p:spPr>
            <a:xfrm>
              <a:off x="12698" y="108938"/>
              <a:ext cx="2494607" cy="10518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p = 0.2*0.15</a:t>
              </a:r>
            </a:p>
          </p:txBody>
        </p:sp>
      </p:grpSp>
      <p:sp>
        <p:nvSpPr>
          <p:cNvPr id="200" name="Linie"/>
          <p:cNvSpPr/>
          <p:nvPr/>
        </p:nvSpPr>
        <p:spPr>
          <a:xfrm flipV="1">
            <a:off x="7698960" y="10650959"/>
            <a:ext cx="3" cy="593643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ie"/>
          <p:cNvSpPr/>
          <p:nvPr/>
        </p:nvSpPr>
        <p:spPr>
          <a:xfrm flipH="1" flipV="1">
            <a:off x="9889200" y="10630079"/>
            <a:ext cx="2134803" cy="110592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Linie"/>
          <p:cNvSpPr/>
          <p:nvPr/>
        </p:nvSpPr>
        <p:spPr>
          <a:xfrm flipV="1">
            <a:off x="14544000" y="10618560"/>
            <a:ext cx="1919523" cy="1261443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3" name="Linie"/>
          <p:cNvSpPr/>
          <p:nvPr/>
        </p:nvSpPr>
        <p:spPr>
          <a:xfrm flipV="1">
            <a:off x="13663800" y="10633319"/>
            <a:ext cx="619923" cy="619563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4" name="Linie"/>
          <p:cNvSpPr/>
          <p:nvPr/>
        </p:nvSpPr>
        <p:spPr>
          <a:xfrm flipH="1" flipV="1">
            <a:off x="12160800" y="10629358"/>
            <a:ext cx="627843" cy="627843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Rechteck"/>
          <p:cNvSpPr/>
          <p:nvPr/>
        </p:nvSpPr>
        <p:spPr>
          <a:xfrm>
            <a:off x="6646680" y="9615960"/>
            <a:ext cx="2183043" cy="1171443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7" grpId="2"/>
      <p:bldP build="whole" bldLvl="1" animBg="1" rev="0" advAuto="0" spid="205" grpId="1"/>
      <p:bldP build="whole" bldLvl="1" animBg="1" rev="0" advAuto="0" spid="190" grpId="3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 </a:t>
            </a:r>
          </a:p>
        </p:txBody>
      </p:sp>
      <p:sp>
        <p:nvSpPr>
          <p:cNvPr id="20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Cosine Similarity</a:t>
            </a:r>
          </a:p>
        </p:txBody>
      </p:sp>
      <p:sp>
        <p:nvSpPr>
          <p:cNvPr id="20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Precompute the output embeddings of the anchor functions of all pools and store them for lookup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Batch process candidates of each pool and compute cosine similarity between anchor &amp; candidates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Function Pools</a:t>
            </a:r>
          </a:p>
        </p:txBody>
      </p:sp>
      <p:sp>
        <p:nvSpPr>
          <p:cNvPr id="213" name="PlaceHolder 3"/>
          <p:cNvSpPr txBox="1"/>
          <p:nvPr/>
        </p:nvSpPr>
        <p:spPr>
          <a:xfrm>
            <a:off x="1206359" y="36561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Each function pool follows the same structure: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N-Positive Samples: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each test project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Samples that have the same f_name and same file origin are filtered out (duplicates)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6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Function Pool Setup</a:t>
            </a:r>
          </a:p>
        </p:txBody>
      </p:sp>
      <p:sp>
        <p:nvSpPr>
          <p:cNvPr id="217" name="PlaceHolder 3"/>
          <p:cNvSpPr txBox="1"/>
          <p:nvPr/>
        </p:nvSpPr>
        <p:spPr>
          <a:xfrm>
            <a:off x="1206360" y="4035240"/>
            <a:ext cx="8156520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= arbitrary function variant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the anchors’ project (minimum 7)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K = number of negative samples per test project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200 negative samples per pool</a:t>
            </a:r>
          </a:p>
        </p:txBody>
      </p:sp>
      <p:pic>
        <p:nvPicPr>
          <p:cNvPr id="218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358" y="2657160"/>
            <a:ext cx="13191124" cy="84013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1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Duplicated Assembly</a:t>
            </a:r>
          </a:p>
        </p:txBody>
      </p:sp>
      <p:pic>
        <p:nvPicPr>
          <p:cNvPr id="222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57" y="4348800"/>
            <a:ext cx="19126805" cy="724680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5" name="Very Similar Embedding:…"/>
          <p:cNvGrpSpPr/>
          <p:nvPr/>
        </p:nvGrpSpPr>
        <p:grpSpPr>
          <a:xfrm>
            <a:off x="12481197" y="4445637"/>
            <a:ext cx="9213127" cy="7052766"/>
            <a:chOff x="-1" y="0"/>
            <a:chExt cx="9213126" cy="7052764"/>
          </a:xfrm>
        </p:grpSpPr>
        <p:sp>
          <p:nvSpPr>
            <p:cNvPr id="223" name="Rechteck"/>
            <p:cNvSpPr/>
            <p:nvPr/>
          </p:nvSpPr>
          <p:spPr>
            <a:xfrm>
              <a:off x="-2" y="-1"/>
              <a:ext cx="9213127" cy="7052766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4" name="Very Similar Embedding:…"/>
            <p:cNvSpPr txBox="1"/>
            <p:nvPr/>
          </p:nvSpPr>
          <p:spPr>
            <a:xfrm>
              <a:off x="31678" y="2988535"/>
              <a:ext cx="9149407" cy="107641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Very Similar Embedding: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same Name, same File</a:t>
            </a:r>
          </a:p>
        </p:txBody>
      </p:sp>
      <p:pic>
        <p:nvPicPr>
          <p:cNvPr id="229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280" y="2921760"/>
            <a:ext cx="19182960" cy="8920441"/>
          </a:xfrm>
          <a:prstGeom prst="rect">
            <a:avLst/>
          </a:prstGeom>
          <a:ln w="12700">
            <a:miter lim="400000"/>
          </a:ln>
        </p:spPr>
      </p:pic>
      <p:sp>
        <p:nvSpPr>
          <p:cNvPr id="230" name="Linie"/>
          <p:cNvSpPr/>
          <p:nvPr/>
        </p:nvSpPr>
        <p:spPr>
          <a:xfrm flipH="1">
            <a:off x="7495919" y="5144039"/>
            <a:ext cx="2309403" cy="3765961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Linie"/>
          <p:cNvSpPr/>
          <p:nvPr/>
        </p:nvSpPr>
        <p:spPr>
          <a:xfrm>
            <a:off x="9808199" y="5180037"/>
            <a:ext cx="7225560" cy="3705845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2" name="Slight differences in assembly"/>
          <p:cNvSpPr txBox="1"/>
          <p:nvPr/>
        </p:nvSpPr>
        <p:spPr>
          <a:xfrm>
            <a:off x="4907879" y="4398840"/>
            <a:ext cx="5381427" cy="456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32" grpId="1"/>
      <p:bldP build="whole" bldLvl="1" animBg="1" rev="0" advAuto="0" spid="230" grpId="2"/>
      <p:bldP build="whole" bldLvl="1" animBg="1" rev="0" advAuto="0" spid="231" grpId="3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35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b="1" spc="-300" sz="5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Function Pools 2</a:t>
            </a:r>
          </a:p>
        </p:txBody>
      </p:sp>
      <p:sp>
        <p:nvSpPr>
          <p:cNvPr id="236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200 Negative Samples: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Randomly pick 100 samples from each of the two test projects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Ensure each sample has a different name than the anchor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Function: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Configuration</a:t>
            </a:r>
          </a:p>
        </p:txBody>
      </p:sp>
      <p:graphicFrame>
        <p:nvGraphicFramePr>
          <p:cNvPr id="239" name="Tabelle"/>
          <p:cNvGraphicFramePr/>
          <p:nvPr/>
        </p:nvGraphicFramePr>
        <p:xfrm>
          <a:off x="2877117" y="3518279"/>
          <a:ext cx="18629285" cy="877716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 (warmup 10%)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Binary Data Architecture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X64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</a:t>
            </a:r>
          </a:p>
        </p:txBody>
      </p:sp>
      <p:graphicFrame>
        <p:nvGraphicFramePr>
          <p:cNvPr id="242" name="Tabelle"/>
          <p:cNvGraphicFramePr/>
          <p:nvPr/>
        </p:nvGraphicFramePr>
        <p:xfrm>
          <a:off x="1736637" y="3136319"/>
          <a:ext cx="20910245" cy="902412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60/40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0.1328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0.8935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(p_operand normalized)</a:t>
            </a:r>
          </a:p>
        </p:txBody>
      </p:sp>
      <p:graphicFrame>
        <p:nvGraphicFramePr>
          <p:cNvPr id="245" name="Tabelle"/>
          <p:cNvGraphicFramePr/>
          <p:nvPr/>
        </p:nvGraphicFramePr>
        <p:xfrm>
          <a:off x="1736880" y="4279679"/>
          <a:ext cx="20910240" cy="51566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0.1343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0.9012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0.8718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0.8502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
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14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9" name="Shape 14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r und Datum"/>
          <p:cNvSpPr txBox="1"/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Autor und Datum</a:t>
            </a:r>
          </a:p>
        </p:txBody>
      </p:sp>
      <p:sp>
        <p:nvSpPr>
          <p:cNvPr id="12" name="Titel der Präsentation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Titel der Präsentation</a:t>
            </a:r>
          </a:p>
        </p:txBody>
      </p:sp>
      <p:sp>
        <p:nvSpPr>
          <p:cNvPr id="13" name="Textebene 1…"/>
          <p:cNvSpPr txBox="1"/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Präsentationsuntertitel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666699290_02_crop_3159x1892.jpg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Titel der Präsentation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Titel der Präsentation</a:t>
            </a:r>
          </a:p>
        </p:txBody>
      </p:sp>
      <p:sp>
        <p:nvSpPr>
          <p:cNvPr id="23" name="Autor und Datum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Autor und Datum</a:t>
            </a:r>
          </a:p>
        </p:txBody>
      </p:sp>
      <p:sp>
        <p:nvSpPr>
          <p:cNvPr id="24" name="Textebene 1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Präsentationsuntertitel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910457886_1434x1669.jpg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Folientitel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Folientitel</a:t>
            </a:r>
          </a:p>
        </p:txBody>
      </p:sp>
      <p:sp>
        <p:nvSpPr>
          <p:cNvPr id="34" name="Textebene 1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Folien-Untertitel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Foliennumm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Folientitel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Folientitel</a:t>
            </a:r>
          </a:p>
        </p:txBody>
      </p:sp>
      <p:sp>
        <p:nvSpPr>
          <p:cNvPr id="43" name="Folien-Untertitel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Folien-Untertitel</a:t>
            </a:r>
          </a:p>
        </p:txBody>
      </p:sp>
      <p:sp>
        <p:nvSpPr>
          <p:cNvPr id="44" name="Textebene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 für Folienpunkt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ebene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Text für Folienpunkt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, Punkte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Folien-Untertitel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Folien-Untertitel</a:t>
            </a:r>
          </a:p>
        </p:txBody>
      </p:sp>
      <p:sp>
        <p:nvSpPr>
          <p:cNvPr id="61" name="Textebene 1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Text für Folienpunkt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660384004_1290x1720.jpg"/>
          <p:cNvSpPr/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Folientitel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Folientitel</a:t>
            </a:r>
          </a:p>
        </p:txBody>
      </p:sp>
      <p:sp>
        <p:nvSpPr>
          <p:cNvPr id="6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itel des Abschnitts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Titel des Abschnitts</a:t>
            </a:r>
          </a:p>
        </p:txBody>
      </p:sp>
      <p:sp>
        <p:nvSpPr>
          <p:cNvPr id="72" name="Foliennumm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Folientitel"/>
          <p:cNvSpPr txBox="1"/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Folientitel</a:t>
            </a:r>
          </a:p>
        </p:txBody>
      </p:sp>
      <p:sp>
        <p:nvSpPr>
          <p:cNvPr id="80" name="Folien-Untertitel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Folien-Untertitel</a:t>
            </a:r>
          </a:p>
        </p:txBody>
      </p:sp>
      <p:sp>
        <p:nvSpPr>
          <p:cNvPr id="8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-Titel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Agenda-Titel</a:t>
            </a:r>
          </a:p>
        </p:txBody>
      </p:sp>
      <p:sp>
        <p:nvSpPr>
          <p:cNvPr id="89" name="Agenda-Untertitel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Agenda-Untertitel</a:t>
            </a:r>
          </a:p>
        </p:txBody>
      </p:sp>
      <p:sp>
        <p:nvSpPr>
          <p:cNvPr id="90" name="Textebene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Agendathemen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ufstel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ebene 1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Aufstellung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akt (groß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ebene 1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100 %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7" name="Fakte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Fakten</a:t>
            </a:r>
          </a:p>
        </p:txBody>
      </p:sp>
      <p:sp>
        <p:nvSpPr>
          <p:cNvPr id="10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Quellenangabe"/>
          <p:cNvSpPr txBox="1"/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Quellenangabe</a:t>
            </a:r>
          </a:p>
        </p:txBody>
      </p:sp>
      <p:sp>
        <p:nvSpPr>
          <p:cNvPr id="116" name="Textebene 1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„Bemerkenswert“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 - 3 Stü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Bild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5" name="Bild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6" name="Bild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Bild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titel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Folientitel</a:t>
            </a:r>
          </a:p>
        </p:txBody>
      </p:sp>
      <p:sp>
        <p:nvSpPr>
          <p:cNvPr id="3" name="Textebene 1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Text für Folienpunkt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oman Rankl, Julian Geißinger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Roman Rankl, Julian Geißinger</a:t>
            </a:r>
          </a:p>
        </p:txBody>
      </p:sp>
      <p:sp>
        <p:nvSpPr>
          <p:cNvPr id="152" name="Binary Analysis using BERT"/>
          <p:cNvSpPr txBox="1"/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Binary Analysis using BERT</a:t>
            </a:r>
          </a:p>
        </p:txBody>
      </p:sp>
      <p:sp>
        <p:nvSpPr>
          <p:cNvPr id="153" name="Explainability of the Input Space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Explainability of the Input Space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Motivation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Motivation</a:t>
            </a:r>
          </a:p>
        </p:txBody>
      </p:sp>
      <p:sp>
        <p:nvSpPr>
          <p:cNvPr id="156" name="Measure the importance of certain model inputs for learning about binary function similarity…"/>
          <p:cNvSpPr txBox="1"/>
          <p:nvPr>
            <p:ph type="body" idx="1"/>
          </p:nvPr>
        </p:nvSpPr>
        <p:spPr>
          <a:xfrm>
            <a:off x="1206499" y="2992574"/>
            <a:ext cx="21971001" cy="8256012"/>
          </a:xfrm>
          <a:prstGeom prst="rect">
            <a:avLst/>
          </a:prstGeom>
        </p:spPr>
        <p:txBody>
          <a:bodyPr/>
          <a:lstStyle/>
          <a:p>
            <a:pPr/>
            <a:r>
              <a:t>Measure the importance of certain model inputs for learning about binary function similarity</a:t>
            </a:r>
          </a:p>
          <a:p>
            <a:pPr/>
            <a:r>
              <a:t>CLAP highlights the importance of instructions containing specific opcodes (like „call“ ) within a function</a:t>
            </a:r>
          </a:p>
          <a:p>
            <a:pPr/>
            <a:r>
              <a:t>Our approach tries to extend the understanding about the relevance of certain inputs</a:t>
            </a:r>
          </a:p>
          <a:p>
            <a:pPr/>
            <a:r>
              <a:t>Instead of measuring the importance between different instructions, we compare the parts of an instruction ( opcode vs. operands 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raining Pipelin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Training Pipeline</a:t>
            </a:r>
          </a:p>
        </p:txBody>
      </p:sp>
      <p:pic>
        <p:nvPicPr>
          <p:cNvPr id="159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816196" y="2320693"/>
            <a:ext cx="14751608" cy="1005728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Opcode vs. Operand Statistic Masking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Opcode vs. Operand Statistic Masking</a:t>
            </a:r>
          </a:p>
        </p:txBody>
      </p:sp>
      <p:sp>
        <p:nvSpPr>
          <p:cNvPr id="162" name="Folien-Untertitel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3" name="shift the models focus on either opcodes or operands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shift the models focus on either opcodes or operands</a:t>
            </a:r>
          </a:p>
          <a:p>
            <a:pPr/>
            <a:r>
              <a:t>to train our BERT model we base on traditional Masked Language Modeling</a:t>
            </a:r>
          </a:p>
          <a:p>
            <a:pPr/>
            <a:r>
              <a:t>we measure the importance of each category by setting a statistic focus on opcodes and operands </a:t>
            </a:r>
          </a:p>
          <a:p>
            <a:pPr/>
            <a:r>
              <a:t>The category we want to focus on is masked with a 80% probability while the other one receives a 20% masking probability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Inferenc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Inference</a:t>
            </a:r>
          </a:p>
        </p:txBody>
      </p:sp>
      <p:sp>
        <p:nvSpPr>
          <p:cNvPr id="166" name="Function Pools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Function Pools</a:t>
            </a:r>
          </a:p>
        </p:txBody>
      </p:sp>
      <p:sp>
        <p:nvSpPr>
          <p:cNvPr id="167" name="Each function pool follows the same structure:…"/>
          <p:cNvSpPr txBox="1"/>
          <p:nvPr>
            <p:ph type="body" idx="1"/>
          </p:nvPr>
        </p:nvSpPr>
        <p:spPr>
          <a:xfrm>
            <a:off x="1206500" y="3656084"/>
            <a:ext cx="21971000" cy="8256012"/>
          </a:xfrm>
          <a:prstGeom prst="rect">
            <a:avLst/>
          </a:prstGeom>
        </p:spPr>
        <p:txBody>
          <a:bodyPr/>
          <a:lstStyle/>
          <a:p>
            <a:pPr marL="560831" indent="-560831" defTabSz="2243271">
              <a:spcBef>
                <a:spcPts val="4100"/>
              </a:spcBef>
              <a:defRPr sz="4416"/>
            </a:pPr>
            <a:r>
              <a:t>Each function pool follows the same structure:</a:t>
            </a:r>
          </a:p>
          <a:p>
            <a:pPr marL="560831" indent="-560831" defTabSz="2243271">
              <a:spcBef>
                <a:spcPts val="4100"/>
              </a:spcBef>
              <a:defRPr sz="4416"/>
            </a:pPr>
            <a:r>
              <a:t>1 Anchor Function, N-Positive Samples, 200 Negative Samples, where N &gt; 7 to only include pools with sufficient function variants</a:t>
            </a:r>
          </a:p>
          <a:p>
            <a:pPr marL="560831" indent="-560831" defTabSz="2243271">
              <a:spcBef>
                <a:spcPts val="4100"/>
              </a:spcBef>
              <a:defRPr sz="4416"/>
            </a:pPr>
            <a:r>
              <a:t>N-Positive Samples:</a:t>
            </a:r>
          </a:p>
          <a:p>
            <a:pPr lvl="3" marL="2243327" indent="-560831" defTabSz="2243271">
              <a:spcBef>
                <a:spcPts val="4100"/>
              </a:spcBef>
              <a:defRPr sz="4416"/>
            </a:pPr>
            <a:r>
              <a:t>N = number of all positive samples across each test project</a:t>
            </a:r>
          </a:p>
          <a:p>
            <a:pPr lvl="3" marL="2243327" indent="-560831" defTabSz="2243271">
              <a:spcBef>
                <a:spcPts val="4100"/>
              </a:spcBef>
              <a:defRPr sz="4416"/>
            </a:pPr>
            <a:r>
              <a:t>Samples that have the same f_name and same file origin are filtered out (duplicates)</a:t>
            </a:r>
          </a:p>
          <a:p>
            <a:pPr lvl="3" marL="2243327" indent="-560831" defTabSz="2243271">
              <a:spcBef>
                <a:spcPts val="4100"/>
              </a:spcBef>
              <a:defRPr sz="4416"/>
            </a:pPr>
            <a:r>
              <a:t>filter out function variants which contain the exact same assembly instructions, but differ in file origin (prevent spoiling the measurements)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Inferenc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Inference</a:t>
            </a:r>
          </a:p>
        </p:txBody>
      </p:sp>
      <p:sp>
        <p:nvSpPr>
          <p:cNvPr id="170" name="Function Pools 2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 defTabSz="1609303">
              <a:lnSpc>
                <a:spcPct val="80000"/>
              </a:lnSpc>
              <a:defRPr spc="-112" sz="5610"/>
            </a:lvl1pPr>
          </a:lstStyle>
          <a:p>
            <a:pPr/>
            <a:r>
              <a:t>Function Pools 2</a:t>
            </a:r>
          </a:p>
        </p:txBody>
      </p:sp>
      <p:sp>
        <p:nvSpPr>
          <p:cNvPr id="171" name="200 Negative Samples: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200 Negative Samples: </a:t>
            </a:r>
          </a:p>
          <a:p>
            <a:pPr lvl="2"/>
            <a:r>
              <a:t>Randomly pick 100 samples from each of the two test projects</a:t>
            </a:r>
          </a:p>
          <a:p>
            <a:pPr lvl="2"/>
            <a:r>
              <a:t>Ensure each sample has a different name than the anchor</a:t>
            </a:r>
          </a:p>
          <a:p>
            <a:pPr/>
            <a:r>
              <a:t>Anchor Function:</a:t>
            </a:r>
          </a:p>
          <a:p>
            <a:pPr lvl="3"/>
            <a:r>
              <a:t>pick an arbitrary variant of similar named functions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Inferenc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Inference</a:t>
            </a:r>
          </a:p>
        </p:txBody>
      </p:sp>
      <p:sp>
        <p:nvSpPr>
          <p:cNvPr id="174" name="Folien-Untertitel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5" name="Precompute the output embeddings of the anchor functions of all pools and store them for lookup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Precompute the output embeddings of the anchor functions of all pools and store them for lookup</a:t>
            </a:r>
          </a:p>
          <a:p>
            <a:pPr/>
            <a:r>
              <a:t>Batch process candidates of each pool and compute cosine similarity between anchor &amp; candidates</a:t>
            </a:r>
          </a:p>
          <a:p>
            <a:pPr/>
            <a:r>
              <a:t>Take measurements based on the cosine similarities (MRR, Top_K, nDCG)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raining Hyperparameter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Training Hyperparameters</a:t>
            </a:r>
          </a:p>
        </p:txBody>
      </p:sp>
      <p:graphicFrame>
        <p:nvGraphicFramePr>
          <p:cNvPr id="178" name="Tabelle"/>
          <p:cNvGraphicFramePr/>
          <p:nvPr/>
        </p:nvGraphicFramePr>
        <p:xfrm>
          <a:off x="2877179" y="3518131"/>
          <a:ext cx="18642342" cy="8165469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9314821"/>
                <a:gridCol w="9314821"/>
              </a:tblGrid>
              <a:tr h="1019096">
                <a:tc>
                  <a:txBody>
                    <a:bodyPr/>
                    <a:lstStyle/>
                    <a:p>
                      <a:pPr defTabSz="914400"/>
                      <a:r>
                        <a:rPr b="1" sz="3200"/>
                        <a:t>Batch Size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8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019096">
                <a:tc>
                  <a:txBody>
                    <a:bodyPr/>
                    <a:lstStyle/>
                    <a:p>
                      <a:pPr defTabSz="914400"/>
                      <a:r>
                        <a:rPr b="1" sz="3200"/>
                        <a:t>Learning Rate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0.0001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019096">
                <a:tc>
                  <a:txBody>
                    <a:bodyPr/>
                    <a:lstStyle/>
                    <a:p>
                      <a:pPr defTabSz="914400"/>
                      <a:r>
                        <a:rPr b="1" sz="3200"/>
                        <a:t>Epochs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2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019096">
                <a:tc>
                  <a:txBody>
                    <a:bodyPr/>
                    <a:lstStyle/>
                    <a:p>
                      <a:pPr defTabSz="914400"/>
                      <a:r>
                        <a:rPr b="1" sz="3200"/>
                        <a:t>Number of Attention Heads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8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019096">
                <a:tc>
                  <a:txBody>
                    <a:bodyPr/>
                    <a:lstStyle/>
                    <a:p>
                      <a:pPr defTabSz="914400"/>
                      <a:r>
                        <a:rPr b="1" sz="3200"/>
                        <a:t>Number of Hidden Layers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4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019096">
                <a:tc>
                  <a:txBody>
                    <a:bodyPr/>
                    <a:lstStyle/>
                    <a:p>
                      <a:pPr defTabSz="914400"/>
                      <a:r>
                        <a:rPr b="1" sz="3200"/>
                        <a:t>Train Data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clamav, nmap, openssl ( ~ 1GB )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019096">
                <a:tc>
                  <a:txBody>
                    <a:bodyPr/>
                    <a:lstStyle/>
                    <a:p>
                      <a:pPr defTabSz="914400"/>
                      <a:r>
                        <a:rPr b="1" sz="3200"/>
                        <a:t>Validation Data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curl ( ~ 40MB )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019096">
                <a:tc>
                  <a:txBody>
                    <a:bodyPr/>
                    <a:lstStyle/>
                    <a:p>
                      <a:pPr defTabSz="914400"/>
                      <a:r>
                        <a:rPr b="1" sz="3200"/>
                        <a:t>Test Data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zlib, unrar ( ~ 400MB )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sult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Results</a:t>
            </a:r>
          </a:p>
        </p:txBody>
      </p:sp>
      <p:graphicFrame>
        <p:nvGraphicFramePr>
          <p:cNvPr id="181" name="Tabelle"/>
          <p:cNvGraphicFramePr/>
          <p:nvPr/>
        </p:nvGraphicFramePr>
        <p:xfrm>
          <a:off x="1670623" y="3283285"/>
          <a:ext cx="21055454" cy="825601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4208550"/>
                <a:gridCol w="4208550"/>
                <a:gridCol w="4208550"/>
                <a:gridCol w="4208550"/>
                <a:gridCol w="4208550"/>
              </a:tblGrid>
              <a:tr h="2060827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? Top Eval Loss ?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MRR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nDCG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Top_K* 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2060827"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Traditional MLM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/>
                </a:tc>
              </a:tr>
              <a:tr h="2060827"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MLM -&gt; Opcodes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/>
                </a:tc>
              </a:tr>
              <a:tr h="2060827"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MLM -&gt; Operands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
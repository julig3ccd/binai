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omments/comment1.xml" ContentType="application/vnd.openxmlformats-officedocument.presentationml.comment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mAuthor id="0" name="Julian Geißinger" initials="JG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 b="def" i="def"/>
      <a:tcStyle>
        <a:tcBdr/>
        <a:fill>
          <a:solidFill>
            <a:srgbClr val="EAF8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CDDF"/>
          </a:solidFill>
        </a:fill>
      </a:tcStyle>
    </a:wholeTbl>
    <a:band2H>
      <a:tcTxStyle b="def" i="def"/>
      <a:tcStyle>
        <a:tcBdr/>
        <a:fill>
          <a:solidFill>
            <a:srgbClr val="FFE8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9E9E9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D1D1"/>
          </a:solidFill>
        </a:fill>
      </a:tcStyle>
    </a:wholeTbl>
    <a:band2H>
      <a:tcTxStyle b="def" i="def"/>
      <a:tcStyle>
        <a:tcBdr/>
        <a:fill>
          <a:solidFill>
            <a:srgbClr val="E9E9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12700" cap="flat">
              <a:solidFill>
                <a:srgbClr val="5E5E5E"/>
              </a:solidFill>
              <a:prstDash val="solid"/>
              <a:round/>
            </a:ln>
          </a:top>
          <a:bottom>
            <a:ln w="127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solidFill>
            <a:srgbClr val="5E5E5E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12700" cap="flat">
              <a:solidFill>
                <a:srgbClr val="5E5E5E"/>
              </a:solidFill>
              <a:prstDash val="solid"/>
              <a:round/>
            </a:ln>
          </a:top>
          <a:bottom>
            <a:ln w="127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solidFill>
            <a:srgbClr val="5E5E5E">
              <a:alpha val="20000"/>
            </a:srgbClr>
          </a:solidFill>
        </a:fill>
      </a:tcStyle>
    </a:firstCol>
    <a:la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50800" cap="flat">
              <a:solidFill>
                <a:srgbClr val="5E5E5E"/>
              </a:solidFill>
              <a:prstDash val="solid"/>
              <a:round/>
            </a:ln>
          </a:top>
          <a:bottom>
            <a:ln w="127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127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comments" Target="comments/comment1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/Relationships>
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m authorId="0" dt="2026-02-09T22:48:11.927" idx="1">
    <p:pos x="7558" y="1080"/>
    <p:text>We use the tokenization of clap because it preserves opcodes as one token, which is needed for our opcode categorization during own Masking Approach</p:text>
    <p:extLst>
      <p:ext uri="{C676402C-5697-4E1C-873F-D02D1690AC5C}">
        <p15:threadingInfo xmlns:p15="http://schemas.microsoft.com/office/powerpoint/2012/main" timeZoneBias="-60"/>
      </p:ext>
    </p:extLst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145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6" name="Shape 146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Helvetica Neue"/>
      </a:defRPr>
    </a:lvl1pPr>
    <a:lvl2pPr indent="228600" latinLnBrk="0">
      <a:defRPr sz="1200">
        <a:latin typeface="+mj-lt"/>
        <a:ea typeface="+mj-ea"/>
        <a:cs typeface="+mj-cs"/>
        <a:sym typeface="Helvetica Neue"/>
      </a:defRPr>
    </a:lvl2pPr>
    <a:lvl3pPr indent="457200" latinLnBrk="0">
      <a:defRPr sz="1200">
        <a:latin typeface="+mj-lt"/>
        <a:ea typeface="+mj-ea"/>
        <a:cs typeface="+mj-cs"/>
        <a:sym typeface="Helvetica Neue"/>
      </a:defRPr>
    </a:lvl3pPr>
    <a:lvl4pPr indent="685800" latinLnBrk="0">
      <a:defRPr sz="1200">
        <a:latin typeface="+mj-lt"/>
        <a:ea typeface="+mj-ea"/>
        <a:cs typeface="+mj-cs"/>
        <a:sym typeface="Helvetica Neue"/>
      </a:defRPr>
    </a:lvl4pPr>
    <a:lvl5pPr indent="914400" latinLnBrk="0">
      <a:defRPr sz="1200">
        <a:latin typeface="+mj-lt"/>
        <a:ea typeface="+mj-ea"/>
        <a:cs typeface="+mj-cs"/>
        <a:sym typeface="Helvetica Neue"/>
      </a:defRPr>
    </a:lvl5pPr>
    <a:lvl6pPr indent="1143000" latinLnBrk="0">
      <a:defRPr sz="1200">
        <a:latin typeface="+mj-lt"/>
        <a:ea typeface="+mj-ea"/>
        <a:cs typeface="+mj-cs"/>
        <a:sym typeface="Helvetica Neue"/>
      </a:defRPr>
    </a:lvl6pPr>
    <a:lvl7pPr indent="1371600" latinLnBrk="0">
      <a:defRPr sz="1200">
        <a:latin typeface="+mj-lt"/>
        <a:ea typeface="+mj-ea"/>
        <a:cs typeface="+mj-cs"/>
        <a:sym typeface="Helvetica Neue"/>
      </a:defRPr>
    </a:lvl7pPr>
    <a:lvl8pPr indent="1600200" latinLnBrk="0">
      <a:defRPr sz="1200">
        <a:latin typeface="+mj-lt"/>
        <a:ea typeface="+mj-ea"/>
        <a:cs typeface="+mj-cs"/>
        <a:sym typeface="Helvetica Neue"/>
      </a:defRPr>
    </a:lvl8pPr>
    <a:lvl9pPr indent="1828800" latinLnBrk="0">
      <a:defRPr sz="1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el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ebene 1…"/>
          <p:cNvSpPr txBox="1"/>
          <p:nvPr>
            <p:ph type="body" idx="1"/>
          </p:nvPr>
        </p:nvSpPr>
        <p:spPr>
          <a:xfrm>
            <a:off x="-1155601" y="-1295281"/>
            <a:ext cx="26745482" cy="16018202"/>
          </a:xfrm>
          <a:prstGeom prst="rect">
            <a:avLst/>
          </a:prstGeom>
        </p:spPr>
        <p:txBody>
          <a:bodyPr lIns="45719" tIns="45719" rIns="45719" bIns="45719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2" name="Titeltext"/>
          <p:cNvSpPr txBox="1"/>
          <p:nvPr>
            <p:ph type="title"/>
          </p:nvPr>
        </p:nvSpPr>
        <p:spPr>
          <a:xfrm>
            <a:off x="1206359" y="7124759"/>
            <a:ext cx="21970442" cy="4647601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13" name="PlaceHolder 3"/>
          <p:cNvSpPr/>
          <p:nvPr>
            <p:ph type="body" sz="quarter" idx="21"/>
          </p:nvPr>
        </p:nvSpPr>
        <p:spPr>
          <a:xfrm>
            <a:off x="1206359" y="11609999"/>
            <a:ext cx="21970442" cy="1116361"/>
          </a:xfrm>
          <a:prstGeom prst="rect">
            <a:avLst/>
          </a:prstGeom>
        </p:spPr>
        <p:txBody>
          <a:bodyPr numCol="1" spcCol="38100"/>
          <a:lstStyle/>
          <a:p>
            <a:pPr marL="431999" indent="-323999"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ebene 1…"/>
          <p:cNvSpPr txBox="1"/>
          <p:nvPr>
            <p:ph type="body" idx="1"/>
          </p:nvPr>
        </p:nvSpPr>
        <p:spPr>
          <a:xfrm>
            <a:off x="10972800" y="-203041"/>
            <a:ext cx="12144241" cy="14134322"/>
          </a:xfrm>
          <a:prstGeom prst="rect">
            <a:avLst/>
          </a:prstGeom>
        </p:spPr>
        <p:txBody>
          <a:bodyPr lIns="45719" tIns="45719" rIns="45719" bIns="45719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Titeltext"/>
          <p:cNvSpPr txBox="1"/>
          <p:nvPr>
            <p:ph type="title"/>
          </p:nvPr>
        </p:nvSpPr>
        <p:spPr>
          <a:xfrm>
            <a:off x="1206359" y="1270080"/>
            <a:ext cx="9778322" cy="5881681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23" name="PlaceHolder 3"/>
          <p:cNvSpPr/>
          <p:nvPr>
            <p:ph type="body" sz="quarter" idx="21"/>
          </p:nvPr>
        </p:nvSpPr>
        <p:spPr>
          <a:xfrm>
            <a:off x="1206359" y="7060679"/>
            <a:ext cx="9778322" cy="5384881"/>
          </a:xfrm>
          <a:prstGeom prst="rect">
            <a:avLst/>
          </a:prstGeom>
        </p:spPr>
        <p:txBody>
          <a:bodyPr numCol="1" spcCol="38100"/>
          <a:lstStyle/>
          <a:p>
            <a:pPr marL="431999" indent="-323999"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4" name="Foliennummer"/>
          <p:cNvSpPr txBox="1"/>
          <p:nvPr>
            <p:ph type="sldNum" sz="quarter" idx="2"/>
          </p:nvPr>
        </p:nvSpPr>
        <p:spPr>
          <a:xfrm>
            <a:off x="12001320" y="13078400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eltext"/>
          <p:cNvSpPr txBox="1"/>
          <p:nvPr>
            <p:ph type="title"/>
          </p:nvPr>
        </p:nvSpPr>
        <p:spPr>
          <a:xfrm>
            <a:off x="1206359" y="1079640"/>
            <a:ext cx="21970442" cy="14324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32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442" cy="934201"/>
          </a:xfrm>
          <a:prstGeom prst="rect">
            <a:avLst/>
          </a:prstGeom>
        </p:spPr>
        <p:txBody>
          <a:bodyPr lIns="45719" tIns="45719" rIns="45719" bIns="45719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3" name="PlaceHolder 3"/>
          <p:cNvSpPr/>
          <p:nvPr>
            <p:ph type="body" idx="21"/>
          </p:nvPr>
        </p:nvSpPr>
        <p:spPr>
          <a:xfrm>
            <a:off x="1206359" y="4248360"/>
            <a:ext cx="21970442" cy="8255160"/>
          </a:xfrm>
          <a:prstGeom prst="rect">
            <a:avLst/>
          </a:prstGeom>
        </p:spPr>
        <p:txBody>
          <a:bodyPr numCol="1" spcCol="38100"/>
          <a:lstStyle/>
          <a:p>
            <a:pPr marL="431999" indent="-323999"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ebene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, Punkte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ebene 1…"/>
          <p:cNvSpPr txBox="1"/>
          <p:nvPr>
            <p:ph type="body" sz="quarter" idx="1"/>
          </p:nvPr>
        </p:nvSpPr>
        <p:spPr>
          <a:xfrm>
            <a:off x="1206359" y="2373120"/>
            <a:ext cx="9778322" cy="934201"/>
          </a:xfrm>
          <a:prstGeom prst="rect">
            <a:avLst/>
          </a:prstGeom>
        </p:spPr>
        <p:txBody>
          <a:bodyPr lIns="45719" tIns="45719" rIns="45719" bIns="45719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50" name="PlaceHolder 2"/>
          <p:cNvSpPr/>
          <p:nvPr>
            <p:ph type="body" idx="21"/>
          </p:nvPr>
        </p:nvSpPr>
        <p:spPr>
          <a:xfrm>
            <a:off x="12192120" y="-407160"/>
            <a:ext cx="10916281" cy="14555160"/>
          </a:xfrm>
          <a:prstGeom prst="rect">
            <a:avLst/>
          </a:prstGeom>
        </p:spPr>
        <p:txBody>
          <a:bodyPr lIns="45719" tIns="45719" rIns="45719" bIns="45719" numCol="1" spcCol="38100"/>
          <a:lstStyle/>
          <a:p>
            <a:pPr marL="431999" indent="-323999"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1" name="Titeltext"/>
          <p:cNvSpPr txBox="1"/>
          <p:nvPr>
            <p:ph type="title"/>
          </p:nvPr>
        </p:nvSpPr>
        <p:spPr>
          <a:xfrm>
            <a:off x="1206359" y="1079640"/>
            <a:ext cx="9778322" cy="14342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5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iteltext"/>
          <p:cNvSpPr txBox="1"/>
          <p:nvPr>
            <p:ph type="title"/>
          </p:nvPr>
        </p:nvSpPr>
        <p:spPr>
          <a:xfrm>
            <a:off x="1206359" y="4533839"/>
            <a:ext cx="21970442" cy="4647601"/>
          </a:xfrm>
          <a:prstGeom prst="rect">
            <a:avLst/>
          </a:prstGeom>
        </p:spPr>
        <p:txBody>
          <a:bodyPr lIns="50760" tIns="50760" rIns="50760" bIns="50760">
            <a:normAutofit fontScale="100000" lnSpcReduction="0"/>
          </a:bodyPr>
          <a:lstStyle>
            <a:lvl1pPr defTabSz="2438280">
              <a:lnSpc>
                <a:spcPct val="80000"/>
              </a:lnSpc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60" name="Foliennummer"/>
          <p:cNvSpPr txBox="1"/>
          <p:nvPr>
            <p:ph type="sldNum" sz="quarter" idx="2"/>
          </p:nvPr>
        </p:nvSpPr>
        <p:spPr>
          <a:xfrm>
            <a:off x="12001320" y="13078400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iteltext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68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442" cy="934201"/>
          </a:xfrm>
          <a:prstGeom prst="rect">
            <a:avLst/>
          </a:prstGeom>
        </p:spPr>
        <p:txBody>
          <a:bodyPr lIns="45719" tIns="45719" rIns="45719" bIns="45719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6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iteltext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77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442" cy="934201"/>
          </a:xfrm>
          <a:prstGeom prst="rect">
            <a:avLst/>
          </a:prstGeom>
        </p:spPr>
        <p:txBody>
          <a:bodyPr lIns="45719" tIns="45719" rIns="45719" bIns="45719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8" name="PlaceHolder 3"/>
          <p:cNvSpPr/>
          <p:nvPr>
            <p:ph type="body" idx="21"/>
          </p:nvPr>
        </p:nvSpPr>
        <p:spPr>
          <a:xfrm>
            <a:off x="1206359" y="4248360"/>
            <a:ext cx="21970442" cy="8255160"/>
          </a:xfrm>
          <a:prstGeom prst="rect">
            <a:avLst/>
          </a:prstGeom>
        </p:spPr>
        <p:txBody>
          <a:bodyPr numCol="1" spcCol="38100"/>
          <a:lstStyle/>
          <a:p>
            <a:pPr marL="431999" indent="-323999"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ufstel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ebene 1…"/>
          <p:cNvSpPr txBox="1"/>
          <p:nvPr>
            <p:ph type="body" sz="half" idx="1"/>
          </p:nvPr>
        </p:nvSpPr>
        <p:spPr>
          <a:xfrm>
            <a:off x="1206359" y="4920839"/>
            <a:ext cx="21970442" cy="3873601"/>
          </a:xfrm>
          <a:prstGeom prst="rect">
            <a:avLst/>
          </a:prstGeom>
        </p:spPr>
        <p:txBody>
          <a:bodyPr numCol="1" spcCol="38100" anchor="ctr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7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akt (groß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ebene 1…"/>
          <p:cNvSpPr txBox="1"/>
          <p:nvPr>
            <p:ph type="body" idx="1"/>
          </p:nvPr>
        </p:nvSpPr>
        <p:spPr>
          <a:xfrm>
            <a:off x="1206359" y="1076040"/>
            <a:ext cx="21970442" cy="7241041"/>
          </a:xfrm>
          <a:prstGeom prst="rect">
            <a:avLst/>
          </a:prstGeom>
        </p:spPr>
        <p:txBody>
          <a:bodyPr numCol="1" spcCol="38100" anchor="b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95" name="PlaceHolder 2"/>
          <p:cNvSpPr/>
          <p:nvPr>
            <p:ph type="body" sz="quarter" idx="21"/>
          </p:nvPr>
        </p:nvSpPr>
        <p:spPr>
          <a:xfrm>
            <a:off x="1206359" y="8262360"/>
            <a:ext cx="21970442" cy="934200"/>
          </a:xfrm>
          <a:prstGeom prst="rect">
            <a:avLst/>
          </a:prstGeom>
        </p:spPr>
        <p:txBody>
          <a:bodyPr lIns="45719" tIns="45719" rIns="45719" bIns="45719" numCol="1" spcCol="38100"/>
          <a:lstStyle/>
          <a:p>
            <a:pPr marL="431999" indent="-323999"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6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ebene 1…"/>
          <p:cNvSpPr txBox="1"/>
          <p:nvPr>
            <p:ph type="body" sz="quarter" idx="1"/>
          </p:nvPr>
        </p:nvSpPr>
        <p:spPr>
          <a:xfrm>
            <a:off x="2429999" y="10675439"/>
            <a:ext cx="20199241" cy="636121"/>
          </a:xfrm>
          <a:prstGeom prst="rect">
            <a:avLst/>
          </a:prstGeom>
        </p:spPr>
        <p:txBody>
          <a:bodyPr lIns="45719" tIns="45719" rIns="45719" bIns="45719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04" name="PlaceHolder 2"/>
          <p:cNvSpPr/>
          <p:nvPr>
            <p:ph type="body" sz="half" idx="21"/>
          </p:nvPr>
        </p:nvSpPr>
        <p:spPr>
          <a:xfrm>
            <a:off x="1753920" y="4939920"/>
            <a:ext cx="20875320" cy="3835441"/>
          </a:xfrm>
          <a:prstGeom prst="rect">
            <a:avLst/>
          </a:prstGeom>
        </p:spPr>
        <p:txBody>
          <a:bodyPr numCol="1" spcCol="38100"/>
          <a:lstStyle/>
          <a:p>
            <a:pPr marL="431999" indent="-323999"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 - 3 Stü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ebene 1…"/>
          <p:cNvSpPr txBox="1"/>
          <p:nvPr>
            <p:ph type="body" sz="quarter" idx="1"/>
          </p:nvPr>
        </p:nvSpPr>
        <p:spPr>
          <a:xfrm>
            <a:off x="15760800" y="1015919"/>
            <a:ext cx="7438321" cy="5949002"/>
          </a:xfrm>
          <a:prstGeom prst="rect">
            <a:avLst/>
          </a:prstGeom>
        </p:spPr>
        <p:txBody>
          <a:bodyPr lIns="45719" tIns="45719" rIns="45719" bIns="45719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13" name="PlaceHolder 2"/>
          <p:cNvSpPr/>
          <p:nvPr>
            <p:ph type="body" idx="21"/>
          </p:nvPr>
        </p:nvSpPr>
        <p:spPr>
          <a:xfrm>
            <a:off x="-139680" y="495359"/>
            <a:ext cx="16610760" cy="12458162"/>
          </a:xfrm>
          <a:prstGeom prst="rect">
            <a:avLst/>
          </a:prstGeom>
        </p:spPr>
        <p:txBody>
          <a:bodyPr lIns="45719" tIns="45719" rIns="45719" bIns="45719" numCol="1" spcCol="38100"/>
          <a:lstStyle/>
          <a:p>
            <a:pPr marL="431999" indent="-323999"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ebene 1…"/>
          <p:cNvSpPr txBox="1"/>
          <p:nvPr>
            <p:ph type="body" idx="1"/>
          </p:nvPr>
        </p:nvSpPr>
        <p:spPr>
          <a:xfrm>
            <a:off x="-1333441" y="-5524561"/>
            <a:ext cx="27050400" cy="21639961"/>
          </a:xfrm>
          <a:prstGeom prst="rect">
            <a:avLst/>
          </a:prstGeom>
        </p:spPr>
        <p:txBody>
          <a:bodyPr lIns="45719" tIns="45719" rIns="45719" bIns="45719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ebene 1…"/>
          <p:cNvSpPr txBox="1"/>
          <p:nvPr>
            <p:ph type="body" sz="quarter" idx="1"/>
          </p:nvPr>
        </p:nvSpPr>
        <p:spPr>
          <a:xfrm>
            <a:off x="1201319" y="11859839"/>
            <a:ext cx="21970442" cy="636121"/>
          </a:xfrm>
          <a:prstGeom prst="rect">
            <a:avLst/>
          </a:prstGeom>
        </p:spPr>
        <p:txBody>
          <a:bodyPr lIns="45719" tIns="45719" rIns="45719" bIns="45719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7" name="Titeltext"/>
          <p:cNvSpPr txBox="1"/>
          <p:nvPr>
            <p:ph type="title"/>
          </p:nvPr>
        </p:nvSpPr>
        <p:spPr>
          <a:xfrm>
            <a:off x="1206359" y="2575080"/>
            <a:ext cx="21970442" cy="4647601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138" name="PlaceHolder 3"/>
          <p:cNvSpPr/>
          <p:nvPr>
            <p:ph type="body" sz="quarter" idx="21"/>
          </p:nvPr>
        </p:nvSpPr>
        <p:spPr>
          <a:xfrm>
            <a:off x="1201319" y="7223039"/>
            <a:ext cx="21970442" cy="1904401"/>
          </a:xfrm>
          <a:prstGeom prst="rect">
            <a:avLst/>
          </a:prstGeom>
        </p:spPr>
        <p:txBody>
          <a:bodyPr numCol="1" spcCol="38100"/>
          <a:lstStyle/>
          <a:p>
            <a:pPr marL="431999" indent="-323999"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3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ebene 1…"/>
          <p:cNvSpPr txBox="1"/>
          <p:nvPr>
            <p:ph type="body" idx="1"/>
          </p:nvPr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 numCol="2" spcCol="1098720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" name="Titeltext"/>
          <p:cNvSpPr txBox="1"/>
          <p:nvPr>
            <p:ph type="title"/>
          </p:nvPr>
        </p:nvSpPr>
        <p:spPr>
          <a:xfrm>
            <a:off x="3653366" y="2168314"/>
            <a:ext cx="19507201" cy="2080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Titeltext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12001320" y="13074079"/>
            <a:ext cx="368494" cy="380921"/>
          </a:xfrm>
          <a:prstGeom prst="rect">
            <a:avLst/>
          </a:prstGeom>
          <a:ln w="12700">
            <a:miter lim="400000"/>
          </a:ln>
        </p:spPr>
        <p:txBody>
          <a:bodyPr wrap="none" lIns="50760" tIns="50760" rIns="50760" bIns="50760" anchor="b">
            <a:spAutoFit/>
          </a:bodyPr>
          <a:lstStyle>
            <a:lvl1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omments" Target="../comments/comment1.xml"/><Relationship Id="rId3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 txBox="1"/>
          <p:nvPr>
            <p:ph type="body" sz="quarter" idx="1"/>
          </p:nvPr>
        </p:nvSpPr>
        <p:spPr>
          <a:xfrm>
            <a:off x="1201319" y="11859839"/>
            <a:ext cx="21970442" cy="636121"/>
          </a:xfrm>
          <a:prstGeom prst="rect">
            <a:avLst/>
          </a:prstGeom>
        </p:spPr>
        <p:txBody>
          <a:bodyPr/>
          <a:lstStyle>
            <a:lvl1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Roman Rankl, Julian Geißinger</a:t>
            </a:r>
          </a:p>
        </p:txBody>
      </p:sp>
      <p:sp>
        <p:nvSpPr>
          <p:cNvPr id="149" name="PlaceHolder 2"/>
          <p:cNvSpPr txBox="1"/>
          <p:nvPr>
            <p:ph type="title"/>
          </p:nvPr>
        </p:nvSpPr>
        <p:spPr>
          <a:xfrm>
            <a:off x="1206359" y="2575080"/>
            <a:ext cx="21970442" cy="4647601"/>
          </a:xfrm>
          <a:prstGeom prst="rect">
            <a:avLst/>
          </a:prstGeom>
        </p:spPr>
        <p:txBody>
          <a:bodyPr/>
          <a:lstStyle>
            <a:lvl1pPr defTabSz="2438280">
              <a:lnSpc>
                <a:spcPct val="80000"/>
              </a:lnSpc>
              <a:defRPr b="1" spc="-300" sz="116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Binary Analysis using AI</a:t>
            </a:r>
          </a:p>
        </p:txBody>
      </p:sp>
      <p:sp>
        <p:nvSpPr>
          <p:cNvPr id="150" name="PlaceHolder 3"/>
          <p:cNvSpPr txBox="1"/>
          <p:nvPr/>
        </p:nvSpPr>
        <p:spPr>
          <a:xfrm>
            <a:off x="1201319" y="7223039"/>
            <a:ext cx="21970442" cy="1904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>
            <a:lvl1pPr defTabSz="825480">
              <a:defRPr b="1" sz="5500">
                <a:solidFill>
                  <a:srgbClr val="000000"/>
                </a:solidFill>
              </a:defRPr>
            </a:lvl1pPr>
          </a:lstStyle>
          <a:p>
            <a:pPr/>
            <a:r>
              <a:t>Explainability of the Input Space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 txBox="1"/>
          <p:nvPr>
            <p:ph type="title"/>
          </p:nvPr>
        </p:nvSpPr>
        <p:spPr>
          <a:xfrm>
            <a:off x="1206359" y="1079640"/>
            <a:ext cx="21970442" cy="1432441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Motivation</a:t>
            </a:r>
          </a:p>
        </p:txBody>
      </p:sp>
      <p:sp>
        <p:nvSpPr>
          <p:cNvPr id="153" name="PlaceHolder 2"/>
          <p:cNvSpPr txBox="1"/>
          <p:nvPr>
            <p:ph type="body" idx="1"/>
          </p:nvPr>
        </p:nvSpPr>
        <p:spPr>
          <a:xfrm>
            <a:off x="1206359" y="2992679"/>
            <a:ext cx="21970442" cy="8255160"/>
          </a:xfrm>
          <a:prstGeom prst="rect">
            <a:avLst/>
          </a:prstGeom>
        </p:spPr>
        <p:txBody>
          <a:bodyPr lIns="50760" tIns="50760" rIns="50760" bIns="50760"/>
          <a:lstStyle/>
          <a:p>
            <a:pPr marL="609479" indent="-609479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latin typeface="+mj-lt"/>
                <a:ea typeface="+mj-ea"/>
                <a:cs typeface="+mj-cs"/>
                <a:sym typeface="Helvetica Neue"/>
              </a:defRPr>
            </a:pPr>
            <a:r>
              <a:t>Measure the importance of certain model inputs for learning about binary function similarity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9" indent="-609479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latin typeface="+mj-lt"/>
                <a:ea typeface="+mj-ea"/>
                <a:cs typeface="+mj-cs"/>
                <a:sym typeface="Helvetica Neue"/>
              </a:defRPr>
            </a:pPr>
            <a:r>
              <a:t>Recent Research</a:t>
            </a:r>
            <a:r>
              <a:rPr baseline="-5000"/>
              <a:t>[1]</a:t>
            </a:r>
            <a:r>
              <a:t>: importance of instructions containing specific opcodes (like „call“ 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9" indent="-609479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latin typeface="+mj-lt"/>
                <a:ea typeface="+mj-ea"/>
                <a:cs typeface="+mj-cs"/>
                <a:sym typeface="Helvetica Neue"/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Our Approach:</a:t>
            </a:r>
            <a:r>
              <a:t> measure the importance between different instruction parts, ( opcode vs. operands )</a:t>
            </a:r>
          </a:p>
        </p:txBody>
      </p:sp>
      <p:sp>
        <p:nvSpPr>
          <p:cNvPr id="154" name="[1]:Dannehl, M., Valenzuela, S. &amp; Kinder, J. Which Instructions Matter the Most: A Saliency Analysis of Binary Function Embedding Models (2025)"/>
          <p:cNvSpPr txBox="1"/>
          <p:nvPr/>
        </p:nvSpPr>
        <p:spPr>
          <a:xfrm>
            <a:off x="1092599" y="12310919"/>
            <a:ext cx="22102516" cy="3824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 sz="2700">
                <a:latin typeface="Arial"/>
                <a:ea typeface="Arial"/>
                <a:cs typeface="Arial"/>
                <a:sym typeface="Arial"/>
              </a:defRPr>
            </a:pPr>
            <a:r>
              <a:t>[1]:Dannehl, M., Valenzuela, S. &amp; Kinder, J. Which Instructions Matter the Most: A Saliency Analysis of Binary Function Embedding Models (2025)</a:t>
            </a:r>
            <a:r>
              <a:rPr sz="1800"/>
              <a:t>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 txBox="1"/>
          <p:nvPr>
            <p:ph type="title"/>
          </p:nvPr>
        </p:nvSpPr>
        <p:spPr>
          <a:xfrm>
            <a:off x="1206359" y="1079640"/>
            <a:ext cx="21970442" cy="1432441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Training Pipeline</a:t>
            </a:r>
          </a:p>
        </p:txBody>
      </p:sp>
      <p:pic>
        <p:nvPicPr>
          <p:cNvPr id="157" name="Bild" descr="Bild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420640" y="1846800"/>
            <a:ext cx="19542240" cy="1002240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0" name="Opcode Masking"/>
          <p:cNvGrpSpPr/>
          <p:nvPr/>
        </p:nvGrpSpPr>
        <p:grpSpPr>
          <a:xfrm>
            <a:off x="16416360" y="9380880"/>
            <a:ext cx="3293641" cy="2320201"/>
            <a:chOff x="0" y="0"/>
            <a:chExt cx="3293640" cy="2320200"/>
          </a:xfrm>
        </p:grpSpPr>
        <p:sp>
          <p:nvSpPr>
            <p:cNvPr id="158" name="Rechteck"/>
            <p:cNvSpPr/>
            <p:nvPr/>
          </p:nvSpPr>
          <p:spPr>
            <a:xfrm>
              <a:off x="-1" y="-1"/>
              <a:ext cx="3293642" cy="2320202"/>
            </a:xfrm>
            <a:prstGeom prst="rect">
              <a:avLst/>
            </a:prstGeom>
            <a:solidFill>
              <a:srgbClr val="FFE265"/>
            </a:solidFill>
            <a:ln w="127000" cap="flat">
              <a:solidFill>
                <a:srgbClr val="A7A7A7"/>
              </a:solidFill>
              <a:prstDash val="sysDot"/>
              <a:miter lim="8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b="1" sz="3600">
                  <a:solidFill>
                    <a:srgbClr val="000000"/>
                  </a:solidFill>
                </a:defRPr>
              </a:pPr>
            </a:p>
          </p:txBody>
        </p:sp>
        <p:sp>
          <p:nvSpPr>
            <p:cNvPr id="159" name="Opcode Masking"/>
            <p:cNvSpPr txBox="1"/>
            <p:nvPr/>
          </p:nvSpPr>
          <p:spPr>
            <a:xfrm>
              <a:off x="63360" y="607931"/>
              <a:ext cx="3166561" cy="11043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</a:defRPr>
              </a:lvl1pPr>
            </a:lstStyle>
            <a:p>
              <a:pPr/>
              <a:r>
                <a:t> Opcode Masking</a:t>
              </a:r>
            </a:p>
          </p:txBody>
        </p:sp>
      </p:grpSp>
      <p:grpSp>
        <p:nvGrpSpPr>
          <p:cNvPr id="163" name="Operand Masking"/>
          <p:cNvGrpSpPr/>
          <p:nvPr/>
        </p:nvGrpSpPr>
        <p:grpSpPr>
          <a:xfrm>
            <a:off x="16416360" y="9380880"/>
            <a:ext cx="3293641" cy="2320201"/>
            <a:chOff x="0" y="0"/>
            <a:chExt cx="3293640" cy="2320200"/>
          </a:xfrm>
        </p:grpSpPr>
        <p:sp>
          <p:nvSpPr>
            <p:cNvPr id="161" name="Rechteck"/>
            <p:cNvSpPr/>
            <p:nvPr/>
          </p:nvSpPr>
          <p:spPr>
            <a:xfrm>
              <a:off x="-1" y="-1"/>
              <a:ext cx="3293642" cy="2320202"/>
            </a:xfrm>
            <a:prstGeom prst="rect">
              <a:avLst/>
            </a:prstGeom>
            <a:solidFill>
              <a:schemeClr val="accent5">
                <a:lumOff val="8676"/>
              </a:schemeClr>
            </a:solidFill>
            <a:ln w="127000" cap="flat">
              <a:solidFill>
                <a:srgbClr val="A7A7A7"/>
              </a:solidFill>
              <a:prstDash val="sysDot"/>
              <a:miter lim="8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b="1" sz="3600">
                  <a:solidFill>
                    <a:srgbClr val="000000"/>
                  </a:solidFill>
                </a:defRPr>
              </a:pPr>
            </a:p>
          </p:txBody>
        </p:sp>
        <p:sp>
          <p:nvSpPr>
            <p:cNvPr id="162" name="Operand Masking"/>
            <p:cNvSpPr txBox="1"/>
            <p:nvPr/>
          </p:nvSpPr>
          <p:spPr>
            <a:xfrm>
              <a:off x="63360" y="607931"/>
              <a:ext cx="3166561" cy="11043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</a:defRPr>
              </a:lvl1pPr>
            </a:lstStyle>
            <a:p>
              <a:pPr/>
              <a:r>
                <a:t> Operand Masking</a:t>
              </a:r>
            </a:p>
          </p:txBody>
        </p:sp>
      </p:grpSp>
      <p:sp>
        <p:nvSpPr>
          <p:cNvPr id="164" name="[1] Hao Wang, Zeyu Gao, Chao Zhang, Zihan Sha, Mingyang Sun, Yuchen Zhou, Wenyu Zhu, Wenju Sun, Han Qiu, &amp; Xi Xiao. (2024).…"/>
          <p:cNvSpPr txBox="1"/>
          <p:nvPr/>
        </p:nvSpPr>
        <p:spPr>
          <a:xfrm>
            <a:off x="10209600" y="12541319"/>
            <a:ext cx="13562943" cy="5259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  <a:r>
              <a:t>[1] Hao Wang, Zeyu Gao, Chao Zhang, Zihan Sha, Mingyang Sun, Yuchen Zhou, Wenyu Zhu, Wenju Sun, Han Qiu, &amp; Xi Xiao. (2024).</a:t>
            </a:r>
            <a:endParaRPr>
              <a:solidFill>
                <a:srgbClr val="000000"/>
              </a:solidFill>
            </a:endParaRPr>
          </a:p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  <a:r>
              <a:t>CLAP: Learning Transferable Binary Code Representations with Natural Language Supervision.</a:t>
            </a:r>
          </a:p>
        </p:txBody>
      </p:sp>
      <p:sp>
        <p:nvSpPr>
          <p:cNvPr id="165" name="[1]"/>
          <p:cNvSpPr txBox="1"/>
          <p:nvPr/>
        </p:nvSpPr>
        <p:spPr>
          <a:xfrm>
            <a:off x="12755880" y="10794959"/>
            <a:ext cx="351582" cy="345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[1]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60" grpId="1"/>
      <p:bldP build="whole" bldLvl="1" animBg="1" rev="0" advAuto="0" spid="163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 txBox="1"/>
          <p:nvPr>
            <p:ph type="title"/>
          </p:nvPr>
        </p:nvSpPr>
        <p:spPr>
          <a:xfrm>
            <a:off x="1206359" y="1079640"/>
            <a:ext cx="21970442" cy="1432441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68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/>
          <a:p>
            <a:pPr>
              <a:spcBef>
                <a:spcPts val="1400"/>
              </a:spcBef>
              <a:defRPr b="1" sz="5500">
                <a:latin typeface="+mj-lt"/>
                <a:ea typeface="+mj-ea"/>
                <a:cs typeface="+mj-cs"/>
                <a:sym typeface="Helvetica Neue"/>
              </a:defRPr>
            </a:pPr>
          </a:p>
        </p:txBody>
      </p:sp>
      <p:sp>
        <p:nvSpPr>
          <p:cNvPr id="169" name="PlaceHolder 3"/>
          <p:cNvSpPr txBox="1"/>
          <p:nvPr/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9" indent="-609479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Shift the models focus on either opcodes or operands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9" indent="-609479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To train our BERT model we base on traditional Masked Language Modeling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9" indent="-609479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We measure the importance of each category by setting a statistic focus on opcodes and operands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 txBox="1"/>
          <p:nvPr>
            <p:ph type="title"/>
          </p:nvPr>
        </p:nvSpPr>
        <p:spPr>
          <a:xfrm>
            <a:off x="1206359" y="1079640"/>
            <a:ext cx="21970442" cy="1432441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72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lnSpc>
                <a:spcPct val="90000"/>
              </a:lnSpc>
              <a:spcBef>
                <a:spcPts val="1400"/>
              </a:spcBef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Standard MLM</a:t>
            </a:r>
          </a:p>
        </p:txBody>
      </p:sp>
      <p:pic>
        <p:nvPicPr>
          <p:cNvPr id="173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27800" y="3921480"/>
            <a:ext cx="15128280" cy="6728040"/>
          </a:xfrm>
          <a:prstGeom prst="rect">
            <a:avLst/>
          </a:prstGeom>
          <a:ln w="12700">
            <a:miter lim="400000"/>
          </a:ln>
        </p:spPr>
      </p:pic>
      <p:sp>
        <p:nvSpPr>
          <p:cNvPr id="174" name="Rechteck"/>
          <p:cNvSpPr/>
          <p:nvPr/>
        </p:nvSpPr>
        <p:spPr>
          <a:xfrm>
            <a:off x="11036520" y="9598320"/>
            <a:ext cx="2183041" cy="1171441"/>
          </a:xfrm>
          <a:prstGeom prst="rect">
            <a:avLst/>
          </a:prstGeom>
          <a:ln w="88900">
            <a:solidFill>
              <a:srgbClr val="000000"/>
            </a:solidFill>
            <a:prstDash val="sysDot"/>
            <a:miter/>
          </a:ln>
        </p:spPr>
        <p:txBody>
          <a:bodyPr lIns="0" tIns="0" rIns="0" bIns="0"/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77" name="&lt;mask&gt;"/>
          <p:cNvGrpSpPr/>
          <p:nvPr/>
        </p:nvGrpSpPr>
        <p:grpSpPr>
          <a:xfrm>
            <a:off x="11142360" y="9683639"/>
            <a:ext cx="1971001" cy="1000800"/>
            <a:chOff x="0" y="0"/>
            <a:chExt cx="1971000" cy="1000798"/>
          </a:xfrm>
        </p:grpSpPr>
        <p:sp>
          <p:nvSpPr>
            <p:cNvPr id="175" name="Rechteck"/>
            <p:cNvSpPr/>
            <p:nvPr/>
          </p:nvSpPr>
          <p:spPr>
            <a:xfrm>
              <a:off x="-1" y="0"/>
              <a:ext cx="1971002" cy="1000799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76" name="&lt;mask&gt;"/>
            <p:cNvSpPr txBox="1"/>
            <p:nvPr/>
          </p:nvSpPr>
          <p:spPr>
            <a:xfrm>
              <a:off x="-1" y="241178"/>
              <a:ext cx="1971002" cy="5184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&lt;mask&gt;</a:t>
              </a:r>
            </a:p>
          </p:txBody>
        </p:sp>
      </p:grpSp>
      <p:grpSp>
        <p:nvGrpSpPr>
          <p:cNvPr id="180" name="lea"/>
          <p:cNvGrpSpPr/>
          <p:nvPr/>
        </p:nvGrpSpPr>
        <p:grpSpPr>
          <a:xfrm>
            <a:off x="11142360" y="9683639"/>
            <a:ext cx="1971001" cy="1000800"/>
            <a:chOff x="0" y="0"/>
            <a:chExt cx="1971000" cy="1000798"/>
          </a:xfrm>
        </p:grpSpPr>
        <p:sp>
          <p:nvSpPr>
            <p:cNvPr id="178" name="Rechteck"/>
            <p:cNvSpPr/>
            <p:nvPr/>
          </p:nvSpPr>
          <p:spPr>
            <a:xfrm>
              <a:off x="-1" y="0"/>
              <a:ext cx="1971002" cy="1000799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79" name="lea"/>
            <p:cNvSpPr txBox="1"/>
            <p:nvPr/>
          </p:nvSpPr>
          <p:spPr>
            <a:xfrm>
              <a:off x="-1" y="240049"/>
              <a:ext cx="1971002" cy="520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lea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80" grpId="3"/>
      <p:bldP build="whole" bldLvl="1" animBg="1" rev="0" advAuto="0" spid="177" grpId="2"/>
      <p:bldP build="whole" bldLvl="1" animBg="1" rev="0" advAuto="0" spid="174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 txBox="1"/>
          <p:nvPr>
            <p:ph type="title"/>
          </p:nvPr>
        </p:nvSpPr>
        <p:spPr>
          <a:xfrm>
            <a:off x="1206359" y="1079640"/>
            <a:ext cx="21970442" cy="1432441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83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lnSpc>
                <a:spcPct val="90000"/>
              </a:lnSpc>
              <a:spcBef>
                <a:spcPts val="1400"/>
              </a:spcBef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Statistic Opcode / Operand Split MLM</a:t>
            </a:r>
          </a:p>
        </p:txBody>
      </p:sp>
      <p:pic>
        <p:nvPicPr>
          <p:cNvPr id="184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27800" y="3921480"/>
            <a:ext cx="15128280" cy="672804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87" name="&lt;mask&gt;"/>
          <p:cNvGrpSpPr/>
          <p:nvPr/>
        </p:nvGrpSpPr>
        <p:grpSpPr>
          <a:xfrm>
            <a:off x="6752880" y="9701279"/>
            <a:ext cx="1971001" cy="1000800"/>
            <a:chOff x="0" y="0"/>
            <a:chExt cx="1971000" cy="1000798"/>
          </a:xfrm>
        </p:grpSpPr>
        <p:sp>
          <p:nvSpPr>
            <p:cNvPr id="185" name="Rechteck"/>
            <p:cNvSpPr/>
            <p:nvPr/>
          </p:nvSpPr>
          <p:spPr>
            <a:xfrm>
              <a:off x="-1" y="0"/>
              <a:ext cx="1971002" cy="1000799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86" name="&lt;mask&gt;"/>
            <p:cNvSpPr txBox="1"/>
            <p:nvPr/>
          </p:nvSpPr>
          <p:spPr>
            <a:xfrm>
              <a:off x="-1" y="241178"/>
              <a:ext cx="1971002" cy="5184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&lt;mask&gt;</a:t>
              </a:r>
            </a:p>
          </p:txBody>
        </p:sp>
      </p:grpSp>
      <p:grpSp>
        <p:nvGrpSpPr>
          <p:cNvPr id="190" name="lea"/>
          <p:cNvGrpSpPr/>
          <p:nvPr/>
        </p:nvGrpSpPr>
        <p:grpSpPr>
          <a:xfrm>
            <a:off x="6752880" y="9701279"/>
            <a:ext cx="1971001" cy="1000800"/>
            <a:chOff x="0" y="0"/>
            <a:chExt cx="1971000" cy="1000798"/>
          </a:xfrm>
        </p:grpSpPr>
        <p:sp>
          <p:nvSpPr>
            <p:cNvPr id="188" name="Rechteck"/>
            <p:cNvSpPr/>
            <p:nvPr/>
          </p:nvSpPr>
          <p:spPr>
            <a:xfrm>
              <a:off x="-1" y="0"/>
              <a:ext cx="1971002" cy="1000799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89" name="lea"/>
            <p:cNvSpPr txBox="1"/>
            <p:nvPr/>
          </p:nvSpPr>
          <p:spPr>
            <a:xfrm>
              <a:off x="-1" y="240049"/>
              <a:ext cx="1971002" cy="520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lea</a:t>
              </a:r>
            </a:p>
          </p:txBody>
        </p:sp>
      </p:grpSp>
      <p:grpSp>
        <p:nvGrpSpPr>
          <p:cNvPr id="193" name="Choose the tokens not randomly but with p:"/>
          <p:cNvGrpSpPr/>
          <p:nvPr/>
        </p:nvGrpSpPr>
        <p:grpSpPr>
          <a:xfrm>
            <a:off x="603000" y="11100878"/>
            <a:ext cx="5661000" cy="1585244"/>
            <a:chOff x="0" y="0"/>
            <a:chExt cx="5660999" cy="1585242"/>
          </a:xfrm>
        </p:grpSpPr>
        <p:sp>
          <p:nvSpPr>
            <p:cNvPr id="191" name="Rechteck"/>
            <p:cNvSpPr/>
            <p:nvPr/>
          </p:nvSpPr>
          <p:spPr>
            <a:xfrm>
              <a:off x="0" y="157761"/>
              <a:ext cx="5661000" cy="1269721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92" name="Choose the tokens not uniform, but with split_propability*MLM"/>
            <p:cNvSpPr txBox="1"/>
            <p:nvPr/>
          </p:nvSpPr>
          <p:spPr>
            <a:xfrm>
              <a:off x="0" y="0"/>
              <a:ext cx="5661000" cy="15852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Choose the tokens not uniform, but with split_propability*MLM</a:t>
              </a:r>
            </a:p>
          </p:txBody>
        </p:sp>
      </p:grpSp>
      <p:grpSp>
        <p:nvGrpSpPr>
          <p:cNvPr id="196" name="p = 0.8"/>
          <p:cNvGrpSpPr/>
          <p:nvPr/>
        </p:nvGrpSpPr>
        <p:grpSpPr>
          <a:xfrm>
            <a:off x="6695999" y="11258639"/>
            <a:ext cx="2664001" cy="1269721"/>
            <a:chOff x="0" y="0"/>
            <a:chExt cx="2663999" cy="1269719"/>
          </a:xfrm>
        </p:grpSpPr>
        <p:sp>
          <p:nvSpPr>
            <p:cNvPr id="194" name="Rechteck"/>
            <p:cNvSpPr/>
            <p:nvPr/>
          </p:nvSpPr>
          <p:spPr>
            <a:xfrm>
              <a:off x="0" y="0"/>
              <a:ext cx="2664000" cy="1269720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95" name="p = 0.8*0.15"/>
            <p:cNvSpPr txBox="1"/>
            <p:nvPr/>
          </p:nvSpPr>
          <p:spPr>
            <a:xfrm>
              <a:off x="12700" y="375638"/>
              <a:ext cx="2638600" cy="518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p = 0.8*0.15</a:t>
              </a:r>
            </a:p>
          </p:txBody>
        </p:sp>
      </p:grpSp>
      <p:grpSp>
        <p:nvGrpSpPr>
          <p:cNvPr id="199" name="p = 0.2"/>
          <p:cNvGrpSpPr/>
          <p:nvPr/>
        </p:nvGrpSpPr>
        <p:grpSpPr>
          <a:xfrm>
            <a:off x="12024000" y="11258639"/>
            <a:ext cx="2520001" cy="1269721"/>
            <a:chOff x="0" y="0"/>
            <a:chExt cx="2520000" cy="1269719"/>
          </a:xfrm>
        </p:grpSpPr>
        <p:sp>
          <p:nvSpPr>
            <p:cNvPr id="197" name="Rechteck"/>
            <p:cNvSpPr/>
            <p:nvPr/>
          </p:nvSpPr>
          <p:spPr>
            <a:xfrm>
              <a:off x="-1" y="0"/>
              <a:ext cx="2520002" cy="1269720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98" name="p = 0.2*0.15"/>
            <p:cNvSpPr txBox="1"/>
            <p:nvPr/>
          </p:nvSpPr>
          <p:spPr>
            <a:xfrm>
              <a:off x="12699" y="108938"/>
              <a:ext cx="2494602" cy="10518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p = 0.2*0.15</a:t>
              </a:r>
            </a:p>
          </p:txBody>
        </p:sp>
      </p:grpSp>
      <p:sp>
        <p:nvSpPr>
          <p:cNvPr id="200" name="Linie"/>
          <p:cNvSpPr/>
          <p:nvPr/>
        </p:nvSpPr>
        <p:spPr>
          <a:xfrm flipV="1">
            <a:off x="7698960" y="10650959"/>
            <a:ext cx="1" cy="593641"/>
          </a:xfrm>
          <a:prstGeom prst="line">
            <a:avLst/>
          </a:prstGeom>
          <a:ln w="63500">
            <a:solidFill>
              <a:schemeClr val="accent1"/>
            </a:solidFill>
            <a:tailEnd type="triangle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1" name="Linie"/>
          <p:cNvSpPr/>
          <p:nvPr/>
        </p:nvSpPr>
        <p:spPr>
          <a:xfrm flipH="1" flipV="1">
            <a:off x="9889200" y="10630079"/>
            <a:ext cx="2134801" cy="1105921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2" name="Linie"/>
          <p:cNvSpPr/>
          <p:nvPr/>
        </p:nvSpPr>
        <p:spPr>
          <a:xfrm flipV="1">
            <a:off x="14544000" y="10618560"/>
            <a:ext cx="1919521" cy="1261441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3" name="Linie"/>
          <p:cNvSpPr/>
          <p:nvPr/>
        </p:nvSpPr>
        <p:spPr>
          <a:xfrm flipV="1">
            <a:off x="13663800" y="10633319"/>
            <a:ext cx="619921" cy="619561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4" name="Linie"/>
          <p:cNvSpPr/>
          <p:nvPr/>
        </p:nvSpPr>
        <p:spPr>
          <a:xfrm flipH="1" flipV="1">
            <a:off x="12160800" y="10629359"/>
            <a:ext cx="627841" cy="627841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5" name="Rechteck"/>
          <p:cNvSpPr/>
          <p:nvPr/>
        </p:nvSpPr>
        <p:spPr>
          <a:xfrm>
            <a:off x="6646680" y="9615960"/>
            <a:ext cx="2183041" cy="1171441"/>
          </a:xfrm>
          <a:prstGeom prst="rect">
            <a:avLst/>
          </a:prstGeom>
          <a:ln w="88900">
            <a:solidFill>
              <a:srgbClr val="000000"/>
            </a:solidFill>
            <a:prstDash val="sysDot"/>
            <a:miter/>
          </a:ln>
        </p:spPr>
        <p:txBody>
          <a:bodyPr lIns="0" tIns="0" rIns="0" bIns="0"/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05" grpId="1"/>
      <p:bldP build="whole" bldLvl="1" animBg="1" rev="0" advAuto="0" spid="187" grpId="2"/>
      <p:bldP build="whole" bldLvl="1" animBg="1" rev="0" advAuto="0" spid="190" grpId="3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 txBox="1"/>
          <p:nvPr>
            <p:ph type="title"/>
          </p:nvPr>
        </p:nvSpPr>
        <p:spPr>
          <a:xfrm>
            <a:off x="1206359" y="1079640"/>
            <a:ext cx="21970442" cy="1432441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 </a:t>
            </a:r>
          </a:p>
        </p:txBody>
      </p:sp>
      <p:sp>
        <p:nvSpPr>
          <p:cNvPr id="208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lnSpc>
                <a:spcPct val="90000"/>
              </a:lnSpc>
              <a:spcBef>
                <a:spcPts val="1400"/>
              </a:spcBef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Cosine Similarity</a:t>
            </a:r>
          </a:p>
        </p:txBody>
      </p:sp>
      <p:sp>
        <p:nvSpPr>
          <p:cNvPr id="209" name="PlaceHolder 3"/>
          <p:cNvSpPr txBox="1"/>
          <p:nvPr/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9" indent="-609479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Precompute the output embeddings of the anchor functions of all pools and store them for lookup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9" indent="-609479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Batch process candidates of each pool and compute cosine similarity between anchor &amp; candidates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9" indent="-609479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Take measurements based on the cosine similarities (MRR, Top_K, nDCG)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 txBox="1"/>
          <p:nvPr>
            <p:ph type="title"/>
          </p:nvPr>
        </p:nvSpPr>
        <p:spPr>
          <a:xfrm>
            <a:off x="1206359" y="1079640"/>
            <a:ext cx="21970442" cy="1432441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</a:t>
            </a:r>
          </a:p>
        </p:txBody>
      </p:sp>
      <p:sp>
        <p:nvSpPr>
          <p:cNvPr id="212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Function Pools</a:t>
            </a:r>
          </a:p>
        </p:txBody>
      </p:sp>
      <p:sp>
        <p:nvSpPr>
          <p:cNvPr id="213" name="PlaceHolder 3"/>
          <p:cNvSpPr txBox="1"/>
          <p:nvPr/>
        </p:nvSpPr>
        <p:spPr>
          <a:xfrm>
            <a:off x="1206359" y="36561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Each function pool follows the same structure: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1 Anchor Function, N-Positive Samples, 200 Negative Samples, where N &gt; 7 to only include pools with sufficient function variants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N-Positive Samples: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243159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N = number of all positive samples across each test project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243159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Samples that have the same f_name and same file origin are filtered out (duplicates)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243159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Filter out function variants which contain the exact same assembly instructions, but differ in file origin (prevent spoiling the measurements)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 txBox="1"/>
          <p:nvPr>
            <p:ph type="title"/>
          </p:nvPr>
        </p:nvSpPr>
        <p:spPr>
          <a:xfrm>
            <a:off x="1206359" y="1079640"/>
            <a:ext cx="21970442" cy="1432441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</a:t>
            </a:r>
          </a:p>
        </p:txBody>
      </p:sp>
      <p:sp>
        <p:nvSpPr>
          <p:cNvPr id="216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Function Pool Setup</a:t>
            </a:r>
          </a:p>
        </p:txBody>
      </p:sp>
      <p:sp>
        <p:nvSpPr>
          <p:cNvPr id="217" name="PlaceHolder 3"/>
          <p:cNvSpPr txBox="1"/>
          <p:nvPr/>
        </p:nvSpPr>
        <p:spPr>
          <a:xfrm>
            <a:off x="1206360" y="4035240"/>
            <a:ext cx="8156520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lvl="2"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Anchor = arbitrary function variant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2"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N = number of all positive samples across the anchors’ project (mininum 7)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K = number of negative samples per test project</a:t>
            </a:r>
          </a:p>
        </p:txBody>
      </p:sp>
      <p:pic>
        <p:nvPicPr>
          <p:cNvPr id="218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729359" y="2657160"/>
            <a:ext cx="13191122" cy="840132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Positive Samples Filtering</a:t>
            </a:r>
          </a:p>
        </p:txBody>
      </p:sp>
      <p:sp>
        <p:nvSpPr>
          <p:cNvPr id="221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Duplicated Assembly</a:t>
            </a:r>
          </a:p>
        </p:txBody>
      </p:sp>
      <p:pic>
        <p:nvPicPr>
          <p:cNvPr id="222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628359" y="4348800"/>
            <a:ext cx="19126801" cy="724680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25" name="Very Similar Embedding:…"/>
          <p:cNvGrpSpPr/>
          <p:nvPr/>
        </p:nvGrpSpPr>
        <p:grpSpPr>
          <a:xfrm>
            <a:off x="12481200" y="4445639"/>
            <a:ext cx="9213121" cy="7052761"/>
            <a:chOff x="0" y="0"/>
            <a:chExt cx="9213119" cy="7052760"/>
          </a:xfrm>
        </p:grpSpPr>
        <p:sp>
          <p:nvSpPr>
            <p:cNvPr id="223" name="Rechteck"/>
            <p:cNvSpPr/>
            <p:nvPr/>
          </p:nvSpPr>
          <p:spPr>
            <a:xfrm>
              <a:off x="0" y="-1"/>
              <a:ext cx="9213120" cy="7052762"/>
            </a:xfrm>
            <a:prstGeom prst="rect">
              <a:avLst/>
            </a:prstGeom>
            <a:solidFill>
              <a:srgbClr val="FFFFFF"/>
            </a:solidFill>
            <a:ln w="63500" cap="flat">
              <a:solidFill>
                <a:srgbClr val="FFE265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800"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24" name="Very Similar Embedding:…"/>
            <p:cNvSpPr txBox="1"/>
            <p:nvPr/>
          </p:nvSpPr>
          <p:spPr>
            <a:xfrm>
              <a:off x="31679" y="2988534"/>
              <a:ext cx="9149401" cy="107641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800">
                  <a:latin typeface="Arial"/>
                  <a:ea typeface="Arial"/>
                  <a:cs typeface="Arial"/>
                  <a:sym typeface="Arial"/>
                </a:defRPr>
              </a:pPr>
              <a:r>
                <a:t>Very Similar Embedding: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800">
                  <a:latin typeface="Arial"/>
                  <a:ea typeface="Arial"/>
                  <a:cs typeface="Arial"/>
                  <a:sym typeface="Arial"/>
                </a:defRPr>
              </a:pPr>
              <a:r>
                <a:t>—&gt; spoiled measurements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25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Positive Samples Filtering</a:t>
            </a:r>
          </a:p>
        </p:txBody>
      </p:sp>
      <p:sp>
        <p:nvSpPr>
          <p:cNvPr id="228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same Name, same File</a:t>
            </a:r>
          </a:p>
        </p:txBody>
      </p:sp>
      <p:pic>
        <p:nvPicPr>
          <p:cNvPr id="229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600280" y="2921760"/>
            <a:ext cx="19182960" cy="8920441"/>
          </a:xfrm>
          <a:prstGeom prst="rect">
            <a:avLst/>
          </a:prstGeom>
          <a:ln w="12700">
            <a:miter lim="400000"/>
          </a:ln>
        </p:spPr>
      </p:pic>
      <p:sp>
        <p:nvSpPr>
          <p:cNvPr id="230" name="Linie"/>
          <p:cNvSpPr/>
          <p:nvPr/>
        </p:nvSpPr>
        <p:spPr>
          <a:xfrm flipH="1">
            <a:off x="7495919" y="5144039"/>
            <a:ext cx="2309401" cy="3765961"/>
          </a:xfrm>
          <a:prstGeom prst="line">
            <a:avLst/>
          </a:prstGeom>
          <a:ln w="63500">
            <a:solidFill>
              <a:srgbClr val="EE8C00"/>
            </a:solidFill>
            <a:tailEnd type="triangle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1" name="Linie"/>
          <p:cNvSpPr/>
          <p:nvPr/>
        </p:nvSpPr>
        <p:spPr>
          <a:xfrm>
            <a:off x="9808199" y="5180039"/>
            <a:ext cx="7225560" cy="3705842"/>
          </a:xfrm>
          <a:prstGeom prst="line">
            <a:avLst/>
          </a:prstGeom>
          <a:ln w="63500">
            <a:solidFill>
              <a:srgbClr val="EE8C00"/>
            </a:solidFill>
            <a:tailEnd type="triangle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2" name="Slight differences in assembly"/>
          <p:cNvSpPr txBox="1"/>
          <p:nvPr/>
        </p:nvSpPr>
        <p:spPr>
          <a:xfrm>
            <a:off x="4907879" y="4398840"/>
            <a:ext cx="5381428" cy="4566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Slight differences in assembly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32" grpId="1"/>
      <p:bldP build="whole" bldLvl="1" animBg="1" rev="0" advAuto="0" spid="230" grpId="2"/>
      <p:bldP build="whole" bldLvl="1" animBg="1" rev="0" advAuto="0" spid="231" grpId="3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 txBox="1"/>
          <p:nvPr>
            <p:ph type="title"/>
          </p:nvPr>
        </p:nvSpPr>
        <p:spPr>
          <a:xfrm>
            <a:off x="1206359" y="1079640"/>
            <a:ext cx="21970442" cy="1432441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</a:t>
            </a:r>
          </a:p>
        </p:txBody>
      </p:sp>
      <p:sp>
        <p:nvSpPr>
          <p:cNvPr id="235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1609200">
              <a:lnSpc>
                <a:spcPct val="80000"/>
              </a:lnSpc>
              <a:defRPr b="1" spc="-300" sz="56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Function Pools 2</a:t>
            </a:r>
          </a:p>
        </p:txBody>
      </p:sp>
      <p:sp>
        <p:nvSpPr>
          <p:cNvPr id="236" name="PlaceHolder 3"/>
          <p:cNvSpPr txBox="1"/>
          <p:nvPr/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9" indent="-609479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200 Negative Samples: 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2" marL="182880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Randomly pick 100 samples from each of the two test projects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2" marL="182880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Ensure each sample has a different name than the anchor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9" indent="-609479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Anchor Function: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43828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Pick an arbitrary variant of similar named functions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 txBox="1"/>
          <p:nvPr>
            <p:ph type="title"/>
          </p:nvPr>
        </p:nvSpPr>
        <p:spPr>
          <a:xfrm>
            <a:off x="1206359" y="1079640"/>
            <a:ext cx="21970442" cy="1432441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Training Configuration</a:t>
            </a:r>
          </a:p>
        </p:txBody>
      </p:sp>
      <p:graphicFrame>
        <p:nvGraphicFramePr>
          <p:cNvPr id="239" name="Tabelle"/>
          <p:cNvGraphicFramePr/>
          <p:nvPr/>
        </p:nvGraphicFramePr>
        <p:xfrm>
          <a:off x="2877119" y="3518279"/>
          <a:ext cx="18629281" cy="877716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9314640"/>
                <a:gridCol w="9314640"/>
              </a:tblGrid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Batch Size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96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Learning Rate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0,0001 (warmup 10%)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Epochs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10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Number of Attention Heads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Number of Hidden Layers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Train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clamav, nmap, openssl ( ~ 1GB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Validation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curl ( ~ 40MB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Test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zlib, unrar ( ~ 400MB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Binary Data Architecture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X64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 txBox="1"/>
          <p:nvPr>
            <p:ph type="title"/>
          </p:nvPr>
        </p:nvSpPr>
        <p:spPr>
          <a:xfrm>
            <a:off x="1206359" y="1079640"/>
            <a:ext cx="21970442" cy="1432441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Results </a:t>
            </a:r>
          </a:p>
        </p:txBody>
      </p:sp>
      <p:graphicFrame>
        <p:nvGraphicFramePr>
          <p:cNvPr id="242" name="Tabelle"/>
          <p:cNvGraphicFramePr/>
          <p:nvPr/>
        </p:nvGraphicFramePr>
        <p:xfrm>
          <a:off x="1736639" y="3136319"/>
          <a:ext cx="20910241" cy="902412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5227560"/>
                <a:gridCol w="5227560"/>
                <a:gridCol w="5227560"/>
                <a:gridCol w="5227560"/>
              </a:tblGrid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MLM Split Opcodes/Operands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MRR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nDCG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Prec@10 (top_K)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Random (baseline)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0.1305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0.8339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0.8870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90/10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0.1316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0.8585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0.8886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80/20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0.1316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0.8493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0.8893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70/30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0.1285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0.8226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0.8769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60/40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20/80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0.1328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0.8499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0.8936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 txBox="1"/>
          <p:nvPr>
            <p:ph type="title"/>
          </p:nvPr>
        </p:nvSpPr>
        <p:spPr>
          <a:xfrm>
            <a:off x="1206359" y="1079640"/>
            <a:ext cx="21970442" cy="1432440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Results (p_operand normalized)</a:t>
            </a:r>
          </a:p>
        </p:txBody>
      </p:sp>
      <p:graphicFrame>
        <p:nvGraphicFramePr>
          <p:cNvPr id="245" name="Tabelle"/>
          <p:cNvGraphicFramePr/>
          <p:nvPr/>
        </p:nvGraphicFramePr>
        <p:xfrm>
          <a:off x="1736880" y="4279680"/>
          <a:ext cx="20910240" cy="902412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5227560"/>
                <a:gridCol w="5227560"/>
                <a:gridCol w="5227560"/>
                <a:gridCol w="5227560"/>
              </a:tblGrid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MLM Split Opcodes/Operands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MRR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nDCG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Prec@10 (top_K)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Random (baseline)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0.1305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0.8339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0.8870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80/20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20/80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
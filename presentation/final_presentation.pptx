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comments/comment1.xml" ContentType="application/vnd.openxmlformats-officedocument.presentationml.comments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</p:sldIdLst>
  <p:sldSz cx="24384000" cy="13716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"/>
      </a:defRPr>
    </a:lvl1pPr>
    <a:lvl2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"/>
      </a:defRPr>
    </a:lvl2pPr>
    <a:lvl3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"/>
      </a:defRPr>
    </a:lvl3pPr>
    <a:lvl4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"/>
      </a:defRPr>
    </a:lvl4pPr>
    <a:lvl5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"/>
      </a:defRPr>
    </a:lvl5pPr>
    <a:lvl6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"/>
      </a:defRPr>
    </a:lvl6pPr>
    <a:lvl7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"/>
      </a:defRPr>
    </a:lvl7pPr>
    <a:lvl8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"/>
      </a:defRPr>
    </a:lvl8pPr>
    <a:lvl9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mAuthor id="0" name="Julian Geißinger" initials="JG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ajor">
          <a:srgbClr val="5E5E5E"/>
        </a:fontRef>
        <a:srgbClr val="5E5E5E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DFFF"/>
          </a:solidFill>
        </a:fill>
      </a:tcStyle>
    </a:wholeTbl>
    <a:band2H>
      <a:tcTxStyle b="def" i="def"/>
      <a:tcStyle>
        <a:tcBdr/>
        <a:fill>
          <a:solidFill>
            <a:srgbClr val="E6F0FF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5E5E5E"/>
        </a:fontRef>
        <a:srgbClr val="5E5E5E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DFFF"/>
          </a:solidFill>
        </a:fill>
      </a:tcStyle>
    </a:wholeTbl>
    <a:band2H>
      <a:tcTxStyle b="def" i="def"/>
      <a:tcStyle>
        <a:tcBdr/>
        <a:fill>
          <a:solidFill>
            <a:srgbClr val="E6F0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5E5E5E"/>
        </a:fontRef>
        <a:srgbClr val="5E5E5E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1F0CC"/>
          </a:solidFill>
        </a:fill>
      </a:tcStyle>
    </a:wholeTbl>
    <a:band2H>
      <a:tcTxStyle b="def" i="def"/>
      <a:tcStyle>
        <a:tcBdr/>
        <a:fill>
          <a:solidFill>
            <a:srgbClr val="EAF8E7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5E5E5E"/>
        </a:fontRef>
        <a:srgbClr val="5E5E5E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FCDDF"/>
          </a:solidFill>
        </a:fill>
      </a:tcStyle>
    </a:wholeTbl>
    <a:band2H>
      <a:tcTxStyle b="def" i="def"/>
      <a:tcStyle>
        <a:tcBdr/>
        <a:fill>
          <a:solidFill>
            <a:srgbClr val="FFE8F0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5E5E5E"/>
        </a:fontRef>
        <a:srgbClr val="5E5E5E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9E9E9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5E5E5E"/>
        </a:fontRef>
        <a:srgbClr val="5E5E5E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5E5E5E"/>
              </a:solidFill>
              <a:prstDash val="solid"/>
              <a:round/>
            </a:ln>
          </a:top>
          <a:bottom>
            <a:ln w="25400" cap="flat">
              <a:solidFill>
                <a:srgbClr val="5E5E5E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5E5E5E"/>
              </a:solidFill>
              <a:prstDash val="solid"/>
              <a:round/>
            </a:ln>
          </a:top>
          <a:bottom>
            <a:ln w="25400" cap="flat">
              <a:solidFill>
                <a:srgbClr val="5E5E5E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5E5E5E"/>
        </a:fontRef>
        <a:srgbClr val="5E5E5E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1D1D1"/>
          </a:solidFill>
        </a:fill>
      </a:tcStyle>
    </a:wholeTbl>
    <a:band2H>
      <a:tcTxStyle b="def" i="def"/>
      <a:tcStyle>
        <a:tcBdr/>
        <a:fill>
          <a:solidFill>
            <a:srgbClr val="E9E9E9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5E5E5E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5E5E5E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5E5E5E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comments" Target="comments/comment1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/Relationships>
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m authorId="0" dt="2026-02-09T22:48:11.927" idx="1">
    <p:pos x="7558" y="1080"/>
    <p:text>We use the tokenization of clap because it preserves opcodes as one token, which is needed for our opcode categorization during own Masking Approach</p:text>
    <p:extLst>
      <p:ext uri="{C676402C-5697-4E1C-873F-D02D1690AC5C}">
        <p15:threadingInfo xmlns:p15="http://schemas.microsoft.com/office/powerpoint/2012/main" timeZoneBias="-60"/>
      </p:ext>
    </p:extLst>
  </p:cm>
</p:cmLst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Shape 145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46" name="Shape 146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j-lt"/>
        <a:ea typeface="+mj-ea"/>
        <a:cs typeface="+mj-cs"/>
        <a:sym typeface="Helvetica Neue"/>
      </a:defRPr>
    </a:lvl1pPr>
    <a:lvl2pPr indent="228600" latinLnBrk="0">
      <a:defRPr sz="1200">
        <a:latin typeface="+mj-lt"/>
        <a:ea typeface="+mj-ea"/>
        <a:cs typeface="+mj-cs"/>
        <a:sym typeface="Helvetica Neue"/>
      </a:defRPr>
    </a:lvl2pPr>
    <a:lvl3pPr indent="457200" latinLnBrk="0">
      <a:defRPr sz="1200">
        <a:latin typeface="+mj-lt"/>
        <a:ea typeface="+mj-ea"/>
        <a:cs typeface="+mj-cs"/>
        <a:sym typeface="Helvetica Neue"/>
      </a:defRPr>
    </a:lvl3pPr>
    <a:lvl4pPr indent="685800" latinLnBrk="0">
      <a:defRPr sz="1200">
        <a:latin typeface="+mj-lt"/>
        <a:ea typeface="+mj-ea"/>
        <a:cs typeface="+mj-cs"/>
        <a:sym typeface="Helvetica Neue"/>
      </a:defRPr>
    </a:lvl4pPr>
    <a:lvl5pPr indent="914400" latinLnBrk="0">
      <a:defRPr sz="1200">
        <a:latin typeface="+mj-lt"/>
        <a:ea typeface="+mj-ea"/>
        <a:cs typeface="+mj-cs"/>
        <a:sym typeface="Helvetica Neue"/>
      </a:defRPr>
    </a:lvl5pPr>
    <a:lvl6pPr indent="1143000" latinLnBrk="0">
      <a:defRPr sz="1200">
        <a:latin typeface="+mj-lt"/>
        <a:ea typeface="+mj-ea"/>
        <a:cs typeface="+mj-cs"/>
        <a:sym typeface="Helvetica Neue"/>
      </a:defRPr>
    </a:lvl6pPr>
    <a:lvl7pPr indent="1371600" latinLnBrk="0">
      <a:defRPr sz="1200">
        <a:latin typeface="+mj-lt"/>
        <a:ea typeface="+mj-ea"/>
        <a:cs typeface="+mj-cs"/>
        <a:sym typeface="Helvetica Neue"/>
      </a:defRPr>
    </a:lvl7pPr>
    <a:lvl8pPr indent="1600200" latinLnBrk="0">
      <a:defRPr sz="1200">
        <a:latin typeface="+mj-lt"/>
        <a:ea typeface="+mj-ea"/>
        <a:cs typeface="+mj-cs"/>
        <a:sym typeface="Helvetica Neue"/>
      </a:defRPr>
    </a:lvl8pPr>
    <a:lvl9pPr indent="1828800" latinLnBrk="0">
      <a:defRPr sz="1200">
        <a:latin typeface="+mj-lt"/>
        <a:ea typeface="+mj-ea"/>
        <a:cs typeface="+mj-cs"/>
        <a:sym typeface="Helvetica Neue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itle" showMasterSp="1" showMasterPhAnim="1">
  <p:cSld name="Titel &amp; F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ebene 1…"/>
          <p:cNvSpPr txBox="1"/>
          <p:nvPr>
            <p:ph type="body" idx="1"/>
          </p:nvPr>
        </p:nvSpPr>
        <p:spPr>
          <a:xfrm>
            <a:off x="-1155601" y="-1295282"/>
            <a:ext cx="26745481" cy="16018204"/>
          </a:xfrm>
          <a:prstGeom prst="rect">
            <a:avLst/>
          </a:prstGeom>
        </p:spPr>
        <p:txBody>
          <a:bodyPr lIns="45718" tIns="45718" rIns="45718" bIns="45718" numCol="1" spcCol="38100"/>
          <a:lstStyle/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12" name="Titeltext"/>
          <p:cNvSpPr txBox="1"/>
          <p:nvPr>
            <p:ph type="title"/>
          </p:nvPr>
        </p:nvSpPr>
        <p:spPr>
          <a:xfrm>
            <a:off x="1206359" y="7124758"/>
            <a:ext cx="21970442" cy="4647602"/>
          </a:xfrm>
          <a:prstGeom prst="rect">
            <a:avLst/>
          </a:prstGeom>
        </p:spPr>
        <p:txBody>
          <a:bodyPr lIns="50760" tIns="50760" rIns="50760" bIns="50760" anchor="b">
            <a:normAutofit fontScale="100000" lnSpcReduction="0"/>
          </a:bodyPr>
          <a:lstStyle/>
          <a:p>
            <a:pPr/>
            <a:r>
              <a:t>Titeltext</a:t>
            </a:r>
          </a:p>
        </p:txBody>
      </p:sp>
      <p:sp>
        <p:nvSpPr>
          <p:cNvPr id="13" name="PlaceHolder 3"/>
          <p:cNvSpPr/>
          <p:nvPr>
            <p:ph type="body" sz="quarter" idx="21"/>
          </p:nvPr>
        </p:nvSpPr>
        <p:spPr>
          <a:xfrm>
            <a:off x="1206359" y="11609999"/>
            <a:ext cx="21970442" cy="1116362"/>
          </a:xfrm>
          <a:prstGeom prst="rect">
            <a:avLst/>
          </a:prstGeom>
        </p:spPr>
        <p:txBody>
          <a:bodyPr numCol="1" spcCol="38100"/>
          <a:lstStyle/>
          <a:p>
            <a:pPr/>
          </a:p>
        </p:txBody>
      </p:sp>
      <p:sp>
        <p:nvSpPr>
          <p:cNvPr id="14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el &amp; F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ebene 1…"/>
          <p:cNvSpPr txBox="1"/>
          <p:nvPr>
            <p:ph type="body" idx="1"/>
          </p:nvPr>
        </p:nvSpPr>
        <p:spPr>
          <a:xfrm>
            <a:off x="10972800" y="-203041"/>
            <a:ext cx="12144241" cy="14134322"/>
          </a:xfrm>
          <a:prstGeom prst="rect">
            <a:avLst/>
          </a:prstGeom>
        </p:spPr>
        <p:txBody>
          <a:bodyPr lIns="45718" tIns="45718" rIns="45718" bIns="45718" numCol="1" spcCol="38100"/>
          <a:lstStyle/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22" name="Titeltext"/>
          <p:cNvSpPr txBox="1"/>
          <p:nvPr>
            <p:ph type="title"/>
          </p:nvPr>
        </p:nvSpPr>
        <p:spPr>
          <a:xfrm>
            <a:off x="1206359" y="1270080"/>
            <a:ext cx="9778322" cy="5881681"/>
          </a:xfrm>
          <a:prstGeom prst="rect">
            <a:avLst/>
          </a:prstGeom>
        </p:spPr>
        <p:txBody>
          <a:bodyPr lIns="50760" tIns="50760" rIns="50760" bIns="50760" anchor="b">
            <a:normAutofit fontScale="100000" lnSpcReduction="0"/>
          </a:bodyPr>
          <a:lstStyle>
            <a:lvl1pPr defTabSz="2438280">
              <a:lnSpc>
                <a:spcPct val="80000"/>
              </a:lnSpc>
              <a:defRPr b="1" spc="-170" sz="8500"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Titeltext</a:t>
            </a:r>
          </a:p>
        </p:txBody>
      </p:sp>
      <p:sp>
        <p:nvSpPr>
          <p:cNvPr id="23" name="PlaceHolder 3"/>
          <p:cNvSpPr/>
          <p:nvPr>
            <p:ph type="body" sz="quarter" idx="21"/>
          </p:nvPr>
        </p:nvSpPr>
        <p:spPr>
          <a:xfrm>
            <a:off x="1206358" y="7060679"/>
            <a:ext cx="9778324" cy="5384882"/>
          </a:xfrm>
          <a:prstGeom prst="rect">
            <a:avLst/>
          </a:prstGeom>
        </p:spPr>
        <p:txBody>
          <a:bodyPr numCol="1" spcCol="38100"/>
          <a:lstStyle/>
          <a:p>
            <a:pPr/>
          </a:p>
        </p:txBody>
      </p:sp>
      <p:sp>
        <p:nvSpPr>
          <p:cNvPr id="24" name="Foliennummer"/>
          <p:cNvSpPr txBox="1"/>
          <p:nvPr>
            <p:ph type="sldNum" sz="quarter" idx="2"/>
          </p:nvPr>
        </p:nvSpPr>
        <p:spPr>
          <a:xfrm>
            <a:off x="12001320" y="13078401"/>
            <a:ext cx="368494" cy="380921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el &amp; Punk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iteltext"/>
          <p:cNvSpPr txBox="1"/>
          <p:nvPr>
            <p:ph type="title"/>
          </p:nvPr>
        </p:nvSpPr>
        <p:spPr>
          <a:xfrm>
            <a:off x="1206359" y="1079640"/>
            <a:ext cx="21970442" cy="1432440"/>
          </a:xfrm>
          <a:prstGeom prst="rect">
            <a:avLst/>
          </a:prstGeom>
        </p:spPr>
        <p:txBody>
          <a:bodyPr lIns="50760" tIns="50760" rIns="50760" bIns="50760" anchor="t">
            <a:normAutofit fontScale="100000" lnSpcReduction="0"/>
          </a:bodyPr>
          <a:lstStyle>
            <a:lvl1pPr defTabSz="2438280">
              <a:lnSpc>
                <a:spcPct val="80000"/>
              </a:lnSpc>
              <a:defRPr b="1" spc="-170" sz="8500"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Titeltext</a:t>
            </a:r>
          </a:p>
        </p:txBody>
      </p:sp>
      <p:sp>
        <p:nvSpPr>
          <p:cNvPr id="32" name="Textebene 1…"/>
          <p:cNvSpPr txBox="1"/>
          <p:nvPr>
            <p:ph type="body" sz="quarter" idx="1"/>
          </p:nvPr>
        </p:nvSpPr>
        <p:spPr>
          <a:xfrm>
            <a:off x="1206359" y="2373120"/>
            <a:ext cx="21970442" cy="934202"/>
          </a:xfrm>
          <a:prstGeom prst="rect">
            <a:avLst/>
          </a:prstGeom>
        </p:spPr>
        <p:txBody>
          <a:bodyPr lIns="45718" tIns="45718" rIns="45718" bIns="45718" numCol="1" spcCol="38100"/>
          <a:lstStyle/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33" name="PlaceHolder 3"/>
          <p:cNvSpPr/>
          <p:nvPr>
            <p:ph type="body" idx="21"/>
          </p:nvPr>
        </p:nvSpPr>
        <p:spPr>
          <a:xfrm>
            <a:off x="1206359" y="4248360"/>
            <a:ext cx="21970442" cy="8255160"/>
          </a:xfrm>
          <a:prstGeom prst="rect">
            <a:avLst/>
          </a:prstGeom>
        </p:spPr>
        <p:txBody>
          <a:bodyPr numCol="1" spcCol="38100"/>
          <a:lstStyle/>
          <a:p>
            <a:pPr/>
          </a:p>
        </p:txBody>
      </p:sp>
      <p:sp>
        <p:nvSpPr>
          <p:cNvPr id="34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unk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Textebene 1…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42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el, Punkte &amp; F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Textebene 1…"/>
          <p:cNvSpPr txBox="1"/>
          <p:nvPr>
            <p:ph type="body" sz="quarter" idx="1"/>
          </p:nvPr>
        </p:nvSpPr>
        <p:spPr>
          <a:xfrm>
            <a:off x="1206359" y="2373120"/>
            <a:ext cx="9778322" cy="934202"/>
          </a:xfrm>
          <a:prstGeom prst="rect">
            <a:avLst/>
          </a:prstGeom>
        </p:spPr>
        <p:txBody>
          <a:bodyPr lIns="45718" tIns="45718" rIns="45718" bIns="45718" numCol="1" spcCol="38100"/>
          <a:lstStyle/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50" name="PlaceHolder 2"/>
          <p:cNvSpPr/>
          <p:nvPr>
            <p:ph type="body" idx="21"/>
          </p:nvPr>
        </p:nvSpPr>
        <p:spPr>
          <a:xfrm>
            <a:off x="12192120" y="-407160"/>
            <a:ext cx="10916282" cy="14555160"/>
          </a:xfrm>
          <a:prstGeom prst="rect">
            <a:avLst/>
          </a:prstGeom>
        </p:spPr>
        <p:txBody>
          <a:bodyPr lIns="45718" tIns="45718" rIns="45718" bIns="45718" numCol="1" spcCol="38100"/>
          <a:lstStyle/>
          <a:p>
            <a:pPr/>
          </a:p>
        </p:txBody>
      </p:sp>
      <p:sp>
        <p:nvSpPr>
          <p:cNvPr id="51" name="Titeltext"/>
          <p:cNvSpPr txBox="1"/>
          <p:nvPr>
            <p:ph type="title"/>
          </p:nvPr>
        </p:nvSpPr>
        <p:spPr>
          <a:xfrm>
            <a:off x="1206359" y="1079640"/>
            <a:ext cx="9778322" cy="1434240"/>
          </a:xfrm>
          <a:prstGeom prst="rect">
            <a:avLst/>
          </a:prstGeom>
        </p:spPr>
        <p:txBody>
          <a:bodyPr lIns="50760" tIns="50760" rIns="50760" bIns="50760" anchor="t">
            <a:normAutofit fontScale="100000" lnSpcReduction="0"/>
          </a:bodyPr>
          <a:lstStyle>
            <a:lvl1pPr defTabSz="2438280">
              <a:lnSpc>
                <a:spcPct val="80000"/>
              </a:lnSpc>
              <a:defRPr b="1" spc="-170" sz="8500"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Titeltext</a:t>
            </a:r>
          </a:p>
        </p:txBody>
      </p:sp>
      <p:sp>
        <p:nvSpPr>
          <p:cNvPr id="52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Abschnit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Titeltext"/>
          <p:cNvSpPr txBox="1"/>
          <p:nvPr>
            <p:ph type="title"/>
          </p:nvPr>
        </p:nvSpPr>
        <p:spPr>
          <a:xfrm>
            <a:off x="1206359" y="4533839"/>
            <a:ext cx="21970442" cy="4647601"/>
          </a:xfrm>
          <a:prstGeom prst="rect">
            <a:avLst/>
          </a:prstGeom>
        </p:spPr>
        <p:txBody>
          <a:bodyPr lIns="50760" tIns="50760" rIns="50760" bIns="50760">
            <a:normAutofit fontScale="100000" lnSpcReduction="0"/>
          </a:bodyPr>
          <a:lstStyle>
            <a:lvl1pPr defTabSz="2438280">
              <a:lnSpc>
                <a:spcPct val="80000"/>
              </a:lnSpc>
              <a:defRPr spc="-232" sz="116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pPr/>
            <a:r>
              <a:t>Titeltext</a:t>
            </a:r>
          </a:p>
        </p:txBody>
      </p:sp>
      <p:sp>
        <p:nvSpPr>
          <p:cNvPr id="60" name="Foliennummer"/>
          <p:cNvSpPr txBox="1"/>
          <p:nvPr>
            <p:ph type="sldNum" sz="quarter" idx="2"/>
          </p:nvPr>
        </p:nvSpPr>
        <p:spPr>
          <a:xfrm>
            <a:off x="12001320" y="13078401"/>
            <a:ext cx="368494" cy="380921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Titeltext"/>
          <p:cNvSpPr txBox="1"/>
          <p:nvPr>
            <p:ph type="title"/>
          </p:nvPr>
        </p:nvSpPr>
        <p:spPr>
          <a:xfrm>
            <a:off x="1206359" y="1079640"/>
            <a:ext cx="21970442" cy="1434240"/>
          </a:xfrm>
          <a:prstGeom prst="rect">
            <a:avLst/>
          </a:prstGeom>
        </p:spPr>
        <p:txBody>
          <a:bodyPr lIns="50760" tIns="50760" rIns="50760" bIns="50760" anchor="t">
            <a:normAutofit fontScale="100000" lnSpcReduction="0"/>
          </a:bodyPr>
          <a:lstStyle>
            <a:lvl1pPr defTabSz="2438280">
              <a:lnSpc>
                <a:spcPct val="80000"/>
              </a:lnSpc>
              <a:defRPr b="1" spc="-170" sz="8500"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Titeltext</a:t>
            </a:r>
          </a:p>
        </p:txBody>
      </p:sp>
      <p:sp>
        <p:nvSpPr>
          <p:cNvPr id="68" name="Textebene 1…"/>
          <p:cNvSpPr txBox="1"/>
          <p:nvPr>
            <p:ph type="body" sz="quarter" idx="1"/>
          </p:nvPr>
        </p:nvSpPr>
        <p:spPr>
          <a:xfrm>
            <a:off x="1206359" y="2373120"/>
            <a:ext cx="21970442" cy="934202"/>
          </a:xfrm>
          <a:prstGeom prst="rect">
            <a:avLst/>
          </a:prstGeom>
        </p:spPr>
        <p:txBody>
          <a:bodyPr lIns="45718" tIns="45718" rIns="45718" bIns="45718" numCol="1" spcCol="38100"/>
          <a:lstStyle/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69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Titeltext"/>
          <p:cNvSpPr txBox="1"/>
          <p:nvPr>
            <p:ph type="title"/>
          </p:nvPr>
        </p:nvSpPr>
        <p:spPr>
          <a:xfrm>
            <a:off x="1206359" y="1079640"/>
            <a:ext cx="21970442" cy="1434240"/>
          </a:xfrm>
          <a:prstGeom prst="rect">
            <a:avLst/>
          </a:prstGeom>
        </p:spPr>
        <p:txBody>
          <a:bodyPr lIns="50760" tIns="50760" rIns="50760" bIns="50760" anchor="t">
            <a:normAutofit fontScale="100000" lnSpcReduction="0"/>
          </a:bodyPr>
          <a:lstStyle>
            <a:lvl1pPr defTabSz="2438280">
              <a:lnSpc>
                <a:spcPct val="80000"/>
              </a:lnSpc>
              <a:defRPr b="1" spc="-170" sz="8500"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Titeltext</a:t>
            </a:r>
          </a:p>
        </p:txBody>
      </p:sp>
      <p:sp>
        <p:nvSpPr>
          <p:cNvPr id="77" name="Textebene 1…"/>
          <p:cNvSpPr txBox="1"/>
          <p:nvPr>
            <p:ph type="body" sz="quarter" idx="1"/>
          </p:nvPr>
        </p:nvSpPr>
        <p:spPr>
          <a:xfrm>
            <a:off x="1206359" y="2373120"/>
            <a:ext cx="21970442" cy="934202"/>
          </a:xfrm>
          <a:prstGeom prst="rect">
            <a:avLst/>
          </a:prstGeom>
        </p:spPr>
        <p:txBody>
          <a:bodyPr lIns="45718" tIns="45718" rIns="45718" bIns="45718" numCol="1" spcCol="38100"/>
          <a:lstStyle/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78" name="PlaceHolder 3"/>
          <p:cNvSpPr/>
          <p:nvPr>
            <p:ph type="body" idx="21"/>
          </p:nvPr>
        </p:nvSpPr>
        <p:spPr>
          <a:xfrm>
            <a:off x="1206359" y="4248360"/>
            <a:ext cx="21970442" cy="8255160"/>
          </a:xfrm>
          <a:prstGeom prst="rect">
            <a:avLst/>
          </a:prstGeom>
        </p:spPr>
        <p:txBody>
          <a:bodyPr numCol="1" spcCol="38100"/>
          <a:lstStyle/>
          <a:p>
            <a:pPr/>
          </a:p>
        </p:txBody>
      </p:sp>
      <p:sp>
        <p:nvSpPr>
          <p:cNvPr id="79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Aufstell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Textebene 1…"/>
          <p:cNvSpPr txBox="1"/>
          <p:nvPr>
            <p:ph type="body" sz="half" idx="1"/>
          </p:nvPr>
        </p:nvSpPr>
        <p:spPr>
          <a:xfrm>
            <a:off x="1206359" y="4920839"/>
            <a:ext cx="21970442" cy="3873602"/>
          </a:xfrm>
          <a:prstGeom prst="rect">
            <a:avLst/>
          </a:prstGeom>
        </p:spPr>
        <p:txBody>
          <a:bodyPr numCol="1" spcCol="38100" anchor="ctr"/>
          <a:lstStyle/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87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Fakt (groß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Textebene 1…"/>
          <p:cNvSpPr txBox="1"/>
          <p:nvPr>
            <p:ph type="body" idx="1"/>
          </p:nvPr>
        </p:nvSpPr>
        <p:spPr>
          <a:xfrm>
            <a:off x="1206359" y="1076040"/>
            <a:ext cx="21970442" cy="7241041"/>
          </a:xfrm>
          <a:prstGeom prst="rect">
            <a:avLst/>
          </a:prstGeom>
        </p:spPr>
        <p:txBody>
          <a:bodyPr numCol="1" spcCol="38100" anchor="b"/>
          <a:lstStyle/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95" name="PlaceHolder 2"/>
          <p:cNvSpPr/>
          <p:nvPr>
            <p:ph type="body" sz="quarter" idx="21"/>
          </p:nvPr>
        </p:nvSpPr>
        <p:spPr>
          <a:xfrm>
            <a:off x="1206359" y="8262360"/>
            <a:ext cx="21970442" cy="934200"/>
          </a:xfrm>
          <a:prstGeom prst="rect">
            <a:avLst/>
          </a:prstGeom>
        </p:spPr>
        <p:txBody>
          <a:bodyPr lIns="45718" tIns="45718" rIns="45718" bIns="45718" numCol="1" spcCol="38100"/>
          <a:lstStyle/>
          <a:p>
            <a:pPr/>
          </a:p>
        </p:txBody>
      </p:sp>
      <p:sp>
        <p:nvSpPr>
          <p:cNvPr id="96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Zita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Textebene 1…"/>
          <p:cNvSpPr txBox="1"/>
          <p:nvPr>
            <p:ph type="body" sz="quarter" idx="1"/>
          </p:nvPr>
        </p:nvSpPr>
        <p:spPr>
          <a:xfrm>
            <a:off x="2429998" y="10675439"/>
            <a:ext cx="20199243" cy="636122"/>
          </a:xfrm>
          <a:prstGeom prst="rect">
            <a:avLst/>
          </a:prstGeom>
        </p:spPr>
        <p:txBody>
          <a:bodyPr lIns="45718" tIns="45718" rIns="45718" bIns="45718" numCol="1" spcCol="38100"/>
          <a:lstStyle/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104" name="PlaceHolder 2"/>
          <p:cNvSpPr/>
          <p:nvPr>
            <p:ph type="body" sz="half" idx="21"/>
          </p:nvPr>
        </p:nvSpPr>
        <p:spPr>
          <a:xfrm>
            <a:off x="1753920" y="4939920"/>
            <a:ext cx="20875320" cy="3835442"/>
          </a:xfrm>
          <a:prstGeom prst="rect">
            <a:avLst/>
          </a:prstGeom>
        </p:spPr>
        <p:txBody>
          <a:bodyPr numCol="1" spcCol="38100"/>
          <a:lstStyle/>
          <a:p>
            <a:pPr/>
          </a:p>
        </p:txBody>
      </p:sp>
      <p:sp>
        <p:nvSpPr>
          <p:cNvPr id="105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Foto - 3 Stü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Textebene 1…"/>
          <p:cNvSpPr txBox="1"/>
          <p:nvPr>
            <p:ph type="body" sz="quarter" idx="1"/>
          </p:nvPr>
        </p:nvSpPr>
        <p:spPr>
          <a:xfrm>
            <a:off x="15760800" y="1015918"/>
            <a:ext cx="7438322" cy="5949003"/>
          </a:xfrm>
          <a:prstGeom prst="rect">
            <a:avLst/>
          </a:prstGeom>
        </p:spPr>
        <p:txBody>
          <a:bodyPr lIns="45718" tIns="45718" rIns="45718" bIns="45718" numCol="1" spcCol="38100"/>
          <a:lstStyle/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113" name="PlaceHolder 2"/>
          <p:cNvSpPr/>
          <p:nvPr>
            <p:ph type="body" idx="21"/>
          </p:nvPr>
        </p:nvSpPr>
        <p:spPr>
          <a:xfrm>
            <a:off x="-139680" y="495358"/>
            <a:ext cx="16610760" cy="12458164"/>
          </a:xfrm>
          <a:prstGeom prst="rect">
            <a:avLst/>
          </a:prstGeom>
        </p:spPr>
        <p:txBody>
          <a:bodyPr lIns="45718" tIns="45718" rIns="45718" bIns="45718" numCol="1" spcCol="38100"/>
          <a:lstStyle/>
          <a:p>
            <a:pPr/>
          </a:p>
        </p:txBody>
      </p:sp>
      <p:sp>
        <p:nvSpPr>
          <p:cNvPr id="114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F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Textebene 1…"/>
          <p:cNvSpPr txBox="1"/>
          <p:nvPr>
            <p:ph type="body" idx="1"/>
          </p:nvPr>
        </p:nvSpPr>
        <p:spPr>
          <a:xfrm>
            <a:off x="-1333441" y="-5524561"/>
            <a:ext cx="27050399" cy="21639962"/>
          </a:xfrm>
          <a:prstGeom prst="rect">
            <a:avLst/>
          </a:prstGeom>
        </p:spPr>
        <p:txBody>
          <a:bodyPr lIns="45718" tIns="45718" rIns="45718" bIns="45718" numCol="1" spcCol="38100"/>
          <a:lstStyle/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122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Textebene 1…"/>
          <p:cNvSpPr txBox="1"/>
          <p:nvPr>
            <p:ph type="body" sz="quarter" idx="1"/>
          </p:nvPr>
        </p:nvSpPr>
        <p:spPr>
          <a:xfrm>
            <a:off x="1201319" y="11859838"/>
            <a:ext cx="21970442" cy="636122"/>
          </a:xfrm>
          <a:prstGeom prst="rect">
            <a:avLst/>
          </a:prstGeom>
        </p:spPr>
        <p:txBody>
          <a:bodyPr lIns="45718" tIns="45718" rIns="45718" bIns="45718" numCol="1" spcCol="38100"/>
          <a:lstStyle/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137" name="Titeltext"/>
          <p:cNvSpPr txBox="1"/>
          <p:nvPr>
            <p:ph type="title"/>
          </p:nvPr>
        </p:nvSpPr>
        <p:spPr>
          <a:xfrm>
            <a:off x="1206359" y="2575080"/>
            <a:ext cx="21970442" cy="4647601"/>
          </a:xfrm>
          <a:prstGeom prst="rect">
            <a:avLst/>
          </a:prstGeom>
        </p:spPr>
        <p:txBody>
          <a:bodyPr lIns="50760" tIns="50760" rIns="50760" bIns="50760" anchor="b">
            <a:normAutofit fontScale="100000" lnSpcReduction="0"/>
          </a:bodyPr>
          <a:lstStyle/>
          <a:p>
            <a:pPr/>
            <a:r>
              <a:t>Titeltext</a:t>
            </a:r>
          </a:p>
        </p:txBody>
      </p:sp>
      <p:sp>
        <p:nvSpPr>
          <p:cNvPr id="138" name="PlaceHolder 3"/>
          <p:cNvSpPr/>
          <p:nvPr>
            <p:ph type="body" sz="quarter" idx="21"/>
          </p:nvPr>
        </p:nvSpPr>
        <p:spPr>
          <a:xfrm>
            <a:off x="1201319" y="7223038"/>
            <a:ext cx="21970442" cy="1904402"/>
          </a:xfrm>
          <a:prstGeom prst="rect">
            <a:avLst/>
          </a:prstGeom>
        </p:spPr>
        <p:txBody>
          <a:bodyPr numCol="1" spcCol="38100"/>
          <a:lstStyle/>
          <a:p>
            <a:pPr/>
          </a:p>
        </p:txBody>
      </p:sp>
      <p:sp>
        <p:nvSpPr>
          <p:cNvPr id="139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ebene 1…"/>
          <p:cNvSpPr txBox="1"/>
          <p:nvPr>
            <p:ph type="body" idx="1"/>
          </p:nvPr>
        </p:nvSpPr>
        <p:spPr>
          <a:xfrm>
            <a:off x="1206359" y="4248360"/>
            <a:ext cx="21970442" cy="82551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760" tIns="50760" rIns="50760" bIns="50760" numCol="2" spcCol="1098720">
            <a:normAutofit fontScale="100000" lnSpcReduction="0"/>
          </a:bodyPr>
          <a:lstStyle/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3" name="Titeltext"/>
          <p:cNvSpPr txBox="1"/>
          <p:nvPr>
            <p:ph type="title"/>
          </p:nvPr>
        </p:nvSpPr>
        <p:spPr>
          <a:xfrm>
            <a:off x="3653366" y="2168314"/>
            <a:ext cx="19507201" cy="208004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/>
          <a:lstStyle/>
          <a:p>
            <a:pPr/>
            <a:r>
              <a:t>Titeltext</a:t>
            </a:r>
          </a:p>
        </p:txBody>
      </p:sp>
      <p:sp>
        <p:nvSpPr>
          <p:cNvPr id="4" name="Foliennummer"/>
          <p:cNvSpPr txBox="1"/>
          <p:nvPr>
            <p:ph type="sldNum" sz="quarter" idx="2"/>
          </p:nvPr>
        </p:nvSpPr>
        <p:spPr>
          <a:xfrm>
            <a:off x="12001320" y="13074080"/>
            <a:ext cx="368494" cy="380921"/>
          </a:xfrm>
          <a:prstGeom prst="rect">
            <a:avLst/>
          </a:prstGeom>
          <a:ln w="12700">
            <a:miter lim="400000"/>
          </a:ln>
        </p:spPr>
        <p:txBody>
          <a:bodyPr wrap="none" lIns="50760" tIns="50760" rIns="50760" bIns="50760" anchor="b">
            <a:spAutoFit/>
          </a:bodyPr>
          <a:lstStyle>
            <a:lvl1pPr>
              <a:defRPr>
                <a:solidFill>
                  <a:srgbClr val="000000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</p:sldLayoutIdLst>
  <p:transition xmlns:p14="http://schemas.microsoft.com/office/powerpoint/2010/main" spd="med" advClick="1"/>
  <p:txStyles>
    <p:titleStyle>
      <a:lvl1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1pPr>
      <a:lvl2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2pPr>
      <a:lvl3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3pPr>
      <a:lvl4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4pPr>
      <a:lvl5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5pPr>
      <a:lvl6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6pPr>
      <a:lvl7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7pPr>
      <a:lvl8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8pPr>
      <a:lvl9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9pPr>
    </p:titleStyle>
    <p:bodyStyle>
      <a:lvl1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1pPr>
      <a:lvl2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2pPr>
      <a:lvl3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3pPr>
      <a:lvl4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4pPr>
      <a:lvl5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5pPr>
      <a:lvl6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6pPr>
      <a:lvl7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7pPr>
      <a:lvl8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8pPr>
      <a:lvl9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9pPr>
    </p:bodyStyle>
    <p:otherStyle>
      <a:lvl1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1pPr>
      <a:lvl2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2pPr>
      <a:lvl3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3pPr>
      <a:lvl4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4pPr>
      <a:lvl5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5pPr>
      <a:lvl6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6pPr>
      <a:lvl7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7pPr>
      <a:lvl8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8pPr>
      <a:lvl9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5.xml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omments" Target="../comments/comment1.xml"/><Relationship Id="rId3" Type="http://schemas.openxmlformats.org/officeDocument/2006/relationships/image" Target="../media/image1.png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.png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.png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/Relationships>
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/Relationships>
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/Relationships>
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4.png"/></Relationships>
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5.png"/></Relationships>
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/Relationships>
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/Relationships>
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/Relationships>
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PlaceHolder 1"/>
          <p:cNvSpPr txBox="1"/>
          <p:nvPr>
            <p:ph type="body" sz="quarter" idx="1"/>
          </p:nvPr>
        </p:nvSpPr>
        <p:spPr>
          <a:xfrm>
            <a:off x="1201319" y="11859838"/>
            <a:ext cx="21970442" cy="636122"/>
          </a:xfrm>
          <a:prstGeom prst="rect">
            <a:avLst/>
          </a:prstGeom>
        </p:spPr>
        <p:txBody>
          <a:bodyPr/>
          <a:lstStyle>
            <a:lvl1pPr defTabSz="825480">
              <a:defRPr b="1" sz="3600"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Roman Rankl, Julian Geißinger</a:t>
            </a:r>
          </a:p>
        </p:txBody>
      </p:sp>
      <p:sp>
        <p:nvSpPr>
          <p:cNvPr id="149" name="PlaceHolder 2"/>
          <p:cNvSpPr txBox="1"/>
          <p:nvPr>
            <p:ph type="title"/>
          </p:nvPr>
        </p:nvSpPr>
        <p:spPr>
          <a:xfrm>
            <a:off x="1206359" y="2575080"/>
            <a:ext cx="21970442" cy="4647601"/>
          </a:xfrm>
          <a:prstGeom prst="rect">
            <a:avLst/>
          </a:prstGeom>
        </p:spPr>
        <p:txBody>
          <a:bodyPr/>
          <a:lstStyle>
            <a:lvl1pPr defTabSz="2438280">
              <a:lnSpc>
                <a:spcPct val="80000"/>
              </a:lnSpc>
              <a:defRPr b="1" spc="-300" sz="11600"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Binary Analysis using AI</a:t>
            </a:r>
          </a:p>
        </p:txBody>
      </p:sp>
      <p:sp>
        <p:nvSpPr>
          <p:cNvPr id="150" name="PlaceHolder 3"/>
          <p:cNvSpPr txBox="1"/>
          <p:nvPr/>
        </p:nvSpPr>
        <p:spPr>
          <a:xfrm>
            <a:off x="1201319" y="7223038"/>
            <a:ext cx="21970442" cy="19044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760" tIns="50760" rIns="50760" bIns="50760">
            <a:normAutofit fontScale="100000" lnSpcReduction="0"/>
          </a:bodyPr>
          <a:lstStyle>
            <a:lvl1pPr defTabSz="825480">
              <a:defRPr b="1" sz="5500">
                <a:solidFill>
                  <a:srgbClr val="000000"/>
                </a:solidFill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Explainability of the Input Space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PlaceHolder 1"/>
          <p:cNvSpPr txBox="1"/>
          <p:nvPr>
            <p:ph type="title"/>
          </p:nvPr>
        </p:nvSpPr>
        <p:spPr>
          <a:xfrm>
            <a:off x="1206359" y="1079639"/>
            <a:ext cx="21970442" cy="1432443"/>
          </a:xfrm>
          <a:prstGeom prst="rect">
            <a:avLst/>
          </a:prstGeom>
        </p:spPr>
        <p:txBody>
          <a:bodyPr/>
          <a:lstStyle>
            <a:lvl1pPr>
              <a:defRPr spc="-300"/>
            </a:lvl1pPr>
          </a:lstStyle>
          <a:p>
            <a:pPr/>
            <a:r>
              <a:t>Motivation</a:t>
            </a:r>
          </a:p>
        </p:txBody>
      </p:sp>
      <p:sp>
        <p:nvSpPr>
          <p:cNvPr id="153" name="PlaceHolder 2"/>
          <p:cNvSpPr txBox="1"/>
          <p:nvPr>
            <p:ph type="body" idx="1"/>
          </p:nvPr>
        </p:nvSpPr>
        <p:spPr>
          <a:xfrm>
            <a:off x="1206359" y="2992679"/>
            <a:ext cx="21970442" cy="8255159"/>
          </a:xfrm>
          <a:prstGeom prst="rect">
            <a:avLst/>
          </a:prstGeom>
        </p:spPr>
        <p:txBody>
          <a:bodyPr lIns="50760" tIns="50760" rIns="50760" bIns="50760"/>
          <a:lstStyle/>
          <a:p>
            <a:pPr marL="609478" indent="-609478" defTabSz="2438280">
              <a:lnSpc>
                <a:spcPct val="90000"/>
              </a:lnSpc>
              <a:spcBef>
                <a:spcPts val="4500"/>
              </a:spcBef>
              <a:buClr>
                <a:srgbClr val="000000"/>
              </a:buClr>
              <a:buSzPct val="123000"/>
              <a:buFont typeface="Symbol"/>
              <a:buChar char="·"/>
              <a:defRPr sz="4800">
                <a:latin typeface="+mj-lt"/>
                <a:ea typeface="+mj-ea"/>
                <a:cs typeface="+mj-cs"/>
                <a:sym typeface="Helvetica Neue"/>
              </a:defRPr>
            </a:pPr>
            <a:r>
              <a:t>Measure the importance of certain model inputs for learning about binary function similarity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marL="609478" indent="-609478" defTabSz="2438280">
              <a:lnSpc>
                <a:spcPct val="90000"/>
              </a:lnSpc>
              <a:spcBef>
                <a:spcPts val="4500"/>
              </a:spcBef>
              <a:buClr>
                <a:srgbClr val="000000"/>
              </a:buClr>
              <a:buSzPct val="123000"/>
              <a:buFont typeface="Symbol"/>
              <a:buChar char="·"/>
              <a:defRPr sz="4800">
                <a:latin typeface="+mj-lt"/>
                <a:ea typeface="+mj-ea"/>
                <a:cs typeface="+mj-cs"/>
                <a:sym typeface="Helvetica Neue"/>
              </a:defRPr>
            </a:pPr>
            <a:r>
              <a:t>Recent Research</a:t>
            </a:r>
            <a:r>
              <a:rPr baseline="-5000"/>
              <a:t>[1]</a:t>
            </a:r>
            <a:r>
              <a:t>: importance of instructions containing specific opcodes (like „call“ )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marL="609478" indent="-609478" defTabSz="2438280">
              <a:lnSpc>
                <a:spcPct val="90000"/>
              </a:lnSpc>
              <a:spcBef>
                <a:spcPts val="4500"/>
              </a:spcBef>
              <a:buClr>
                <a:srgbClr val="000000"/>
              </a:buClr>
              <a:buSzPct val="123000"/>
              <a:buFont typeface="Symbol"/>
              <a:buChar char="·"/>
              <a:defRPr sz="4800">
                <a:latin typeface="Arial"/>
                <a:ea typeface="Arial"/>
                <a:cs typeface="Arial"/>
                <a:sym typeface="Arial"/>
              </a:defRPr>
            </a:pPr>
            <a:r>
              <a:t>Our Approach:</a:t>
            </a:r>
            <a:r>
              <a:rPr>
                <a:latin typeface="+mj-lt"/>
                <a:ea typeface="+mj-ea"/>
                <a:cs typeface="+mj-cs"/>
                <a:sym typeface="Helvetica Neue"/>
              </a:rPr>
              <a:t> measure the importance between different instruction parts, ( opcode vs. operands )</a:t>
            </a:r>
          </a:p>
        </p:txBody>
      </p:sp>
      <p:sp>
        <p:nvSpPr>
          <p:cNvPr id="154" name="[1]:Dannehl, M., Valenzuela, S. &amp; Kinder, J. Which Instructions Matter the Most: A Saliency Analysis of Binary Function Embedding Models (2025)"/>
          <p:cNvSpPr txBox="1"/>
          <p:nvPr/>
        </p:nvSpPr>
        <p:spPr>
          <a:xfrm>
            <a:off x="1092599" y="12310919"/>
            <a:ext cx="22102515" cy="3824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/>
          <a:p>
            <a:pPr>
              <a:defRPr sz="2700">
                <a:latin typeface="Arial"/>
                <a:ea typeface="Arial"/>
                <a:cs typeface="Arial"/>
                <a:sym typeface="Arial"/>
              </a:defRPr>
            </a:pPr>
            <a:r>
              <a:t>[1]:Dannehl, M., Valenzuela, S. &amp; Kinder, J. Which Instructions Matter the Most: A Saliency Analysis of Binary Function Embedding Models (2025)</a:t>
            </a:r>
            <a:r>
              <a:rPr sz="1800"/>
              <a:t> 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PlaceHolder 1"/>
          <p:cNvSpPr txBox="1"/>
          <p:nvPr>
            <p:ph type="title"/>
          </p:nvPr>
        </p:nvSpPr>
        <p:spPr>
          <a:xfrm>
            <a:off x="1206359" y="1079639"/>
            <a:ext cx="21970442" cy="1432443"/>
          </a:xfrm>
          <a:prstGeom prst="rect">
            <a:avLst/>
          </a:prstGeom>
        </p:spPr>
        <p:txBody>
          <a:bodyPr/>
          <a:lstStyle>
            <a:lvl1pPr>
              <a:defRPr spc="-300"/>
            </a:lvl1pPr>
          </a:lstStyle>
          <a:p>
            <a:pPr/>
            <a:r>
              <a:t>Training Pipeline</a:t>
            </a:r>
          </a:p>
        </p:txBody>
      </p:sp>
      <p:pic>
        <p:nvPicPr>
          <p:cNvPr id="157" name="Bild" descr="Bild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2420640" y="1846800"/>
            <a:ext cx="19542240" cy="10022400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160" name="Opcode Masking"/>
          <p:cNvGrpSpPr/>
          <p:nvPr/>
        </p:nvGrpSpPr>
        <p:grpSpPr>
          <a:xfrm>
            <a:off x="16416359" y="9380879"/>
            <a:ext cx="3293644" cy="2320203"/>
            <a:chOff x="-1" y="0"/>
            <a:chExt cx="3293642" cy="2320202"/>
          </a:xfrm>
        </p:grpSpPr>
        <p:sp>
          <p:nvSpPr>
            <p:cNvPr id="158" name="Rechteck"/>
            <p:cNvSpPr/>
            <p:nvPr/>
          </p:nvSpPr>
          <p:spPr>
            <a:xfrm>
              <a:off x="-2" y="-1"/>
              <a:ext cx="3293644" cy="2320203"/>
            </a:xfrm>
            <a:prstGeom prst="rect">
              <a:avLst/>
            </a:prstGeom>
            <a:solidFill>
              <a:srgbClr val="FFE265"/>
            </a:solidFill>
            <a:ln w="127000" cap="flat">
              <a:solidFill>
                <a:srgbClr val="A7A7A7"/>
              </a:solidFill>
              <a:prstDash val="sysDot"/>
              <a:miter lim="8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b="1" sz="3600">
                  <a:solidFill>
                    <a:srgbClr val="000000"/>
                  </a:solidFill>
                  <a:latin typeface="+mj-lt"/>
                  <a:ea typeface="+mj-ea"/>
                  <a:cs typeface="+mj-cs"/>
                  <a:sym typeface="Helvetica Neue"/>
                </a:defRPr>
              </a:pPr>
            </a:p>
          </p:txBody>
        </p:sp>
        <p:sp>
          <p:nvSpPr>
            <p:cNvPr id="159" name="Opcode Masking"/>
            <p:cNvSpPr txBox="1"/>
            <p:nvPr/>
          </p:nvSpPr>
          <p:spPr>
            <a:xfrm>
              <a:off x="63359" y="607931"/>
              <a:ext cx="3166564" cy="110433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b="1" sz="3600">
                  <a:solidFill>
                    <a:srgbClr val="000000"/>
                  </a:solidFill>
                  <a:latin typeface="+mj-lt"/>
                  <a:ea typeface="+mj-ea"/>
                  <a:cs typeface="+mj-cs"/>
                  <a:sym typeface="Helvetica Neue"/>
                </a:defRPr>
              </a:lvl1pPr>
            </a:lstStyle>
            <a:p>
              <a:pPr/>
              <a:r>
                <a:t> Opcode Masking</a:t>
              </a:r>
            </a:p>
          </p:txBody>
        </p:sp>
      </p:grpSp>
      <p:grpSp>
        <p:nvGrpSpPr>
          <p:cNvPr id="163" name="Operand Masking"/>
          <p:cNvGrpSpPr/>
          <p:nvPr/>
        </p:nvGrpSpPr>
        <p:grpSpPr>
          <a:xfrm>
            <a:off x="16416359" y="9380879"/>
            <a:ext cx="3293644" cy="2320203"/>
            <a:chOff x="-1" y="0"/>
            <a:chExt cx="3293642" cy="2320202"/>
          </a:xfrm>
        </p:grpSpPr>
        <p:sp>
          <p:nvSpPr>
            <p:cNvPr id="161" name="Rechteck"/>
            <p:cNvSpPr/>
            <p:nvPr/>
          </p:nvSpPr>
          <p:spPr>
            <a:xfrm>
              <a:off x="-2" y="-1"/>
              <a:ext cx="3293644" cy="2320203"/>
            </a:xfrm>
            <a:prstGeom prst="rect">
              <a:avLst/>
            </a:prstGeom>
            <a:solidFill>
              <a:schemeClr val="accent5">
                <a:lumOff val="8676"/>
              </a:schemeClr>
            </a:solidFill>
            <a:ln w="127000" cap="flat">
              <a:solidFill>
                <a:srgbClr val="A7A7A7"/>
              </a:solidFill>
              <a:prstDash val="sysDot"/>
              <a:miter lim="8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b="1" sz="3600">
                  <a:solidFill>
                    <a:srgbClr val="000000"/>
                  </a:solidFill>
                  <a:latin typeface="+mj-lt"/>
                  <a:ea typeface="+mj-ea"/>
                  <a:cs typeface="+mj-cs"/>
                  <a:sym typeface="Helvetica Neue"/>
                </a:defRPr>
              </a:pPr>
            </a:p>
          </p:txBody>
        </p:sp>
        <p:sp>
          <p:nvSpPr>
            <p:cNvPr id="162" name="Operand Masking"/>
            <p:cNvSpPr txBox="1"/>
            <p:nvPr/>
          </p:nvSpPr>
          <p:spPr>
            <a:xfrm>
              <a:off x="63359" y="607931"/>
              <a:ext cx="3166564" cy="110433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b="1" sz="3600">
                  <a:solidFill>
                    <a:srgbClr val="000000"/>
                  </a:solidFill>
                  <a:latin typeface="+mj-lt"/>
                  <a:ea typeface="+mj-ea"/>
                  <a:cs typeface="+mj-cs"/>
                  <a:sym typeface="Helvetica Neue"/>
                </a:defRPr>
              </a:lvl1pPr>
            </a:lstStyle>
            <a:p>
              <a:pPr/>
              <a:r>
                <a:t> Operand Masking</a:t>
              </a:r>
            </a:p>
          </p:txBody>
        </p:sp>
      </p:grpSp>
      <p:sp>
        <p:nvSpPr>
          <p:cNvPr id="164" name="[1] Hao Wang, Zeyu Gao, Chao Zhang, Zihan Sha, Mingyang Sun, Yuchen Zhou, Wenyu Zhu, Wenju Sun, Han Qiu, &amp; Xi Xiao. (2024).…"/>
          <p:cNvSpPr txBox="1"/>
          <p:nvPr/>
        </p:nvSpPr>
        <p:spPr>
          <a:xfrm>
            <a:off x="10209600" y="12541318"/>
            <a:ext cx="13562943" cy="5259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/>
          <a:p>
            <a:pPr>
              <a:defRPr>
                <a:latin typeface="Arial"/>
                <a:ea typeface="Arial"/>
                <a:cs typeface="Arial"/>
                <a:sym typeface="Arial"/>
              </a:defRPr>
            </a:pPr>
            <a:r>
              <a:t>[1] Hao Wang, Zeyu Gao, Chao Zhang, Zihan Sha, Mingyang Sun, Yuchen Zhou, Wenyu Zhu, Wenju Sun, Han Qiu, &amp; Xi Xiao. (2024).</a:t>
            </a:r>
            <a:endParaRPr>
              <a:solidFill>
                <a:srgbClr val="000000"/>
              </a:solidFill>
            </a:endParaRPr>
          </a:p>
          <a:p>
            <a:pPr>
              <a:defRPr>
                <a:latin typeface="Arial"/>
                <a:ea typeface="Arial"/>
                <a:cs typeface="Arial"/>
                <a:sym typeface="Arial"/>
              </a:defRPr>
            </a:pPr>
            <a:r>
              <a:t>CLAP: Learning Transferable Binary Code Representations with Natural Language Supervision.</a:t>
            </a:r>
          </a:p>
        </p:txBody>
      </p:sp>
      <p:sp>
        <p:nvSpPr>
          <p:cNvPr id="165" name="[1]"/>
          <p:cNvSpPr txBox="1"/>
          <p:nvPr/>
        </p:nvSpPr>
        <p:spPr>
          <a:xfrm>
            <a:off x="12755880" y="10794958"/>
            <a:ext cx="351582" cy="3456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defRPr sz="2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[1]</a:t>
            </a:r>
          </a:p>
        </p:txBody>
      </p:sp>
    </p:spTree>
  </p:cSld>
  <p:clrMapOvr>
    <a:masterClrMapping/>
  </p:clrMapOvr>
  <p:transition xmlns:p14="http://schemas.microsoft.com/office/powerpoint/2010/main" spd="med" advClick="1"/>
  <p:timing>
    <p:tnLst>
      <p:par>
        <p:cTn id="1" nodeType="tmRoot" restart="never" dur="indefinite" fill="hold">
          <p:childTnLst>
            <p:seq concurrent="1" prevAc="none" nextAc="seek">
              <p:cTn id="2" nodeType="mainSeq" dur="indefinite" fill="hold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Class="entr" nodeType="clickEffect" presetSubtype="0" presetID="1" grpId="1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Class="entr" nodeType="clickEffect" presetSubtype="0" presetID="1" grpId="2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  <p:bldLst>
      <p:bldP build="whole" bldLvl="1" animBg="1" rev="0" advAuto="0" spid="160" grpId="1"/>
      <p:bldP build="whole" bldLvl="1" animBg="1" rev="0" advAuto="0" spid="163" grpId="2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PlaceHolder 1"/>
          <p:cNvSpPr txBox="1"/>
          <p:nvPr>
            <p:ph type="title"/>
          </p:nvPr>
        </p:nvSpPr>
        <p:spPr>
          <a:xfrm>
            <a:off x="1206359" y="1079639"/>
            <a:ext cx="21970442" cy="1432443"/>
          </a:xfrm>
          <a:prstGeom prst="rect">
            <a:avLst/>
          </a:prstGeom>
        </p:spPr>
        <p:txBody>
          <a:bodyPr/>
          <a:lstStyle>
            <a:lvl1pPr>
              <a:defRPr spc="-300"/>
            </a:lvl1pPr>
          </a:lstStyle>
          <a:p>
            <a:pPr/>
            <a:r>
              <a:t>Opcode vs. Operand Statistic Masking</a:t>
            </a:r>
          </a:p>
        </p:txBody>
      </p:sp>
      <p:sp>
        <p:nvSpPr>
          <p:cNvPr id="168" name="PlaceHolder 2"/>
          <p:cNvSpPr txBox="1"/>
          <p:nvPr>
            <p:ph type="body" sz="quarter" idx="1"/>
          </p:nvPr>
        </p:nvSpPr>
        <p:spPr>
          <a:xfrm>
            <a:off x="1206359" y="2373120"/>
            <a:ext cx="21970442" cy="934200"/>
          </a:xfrm>
          <a:prstGeom prst="rect">
            <a:avLst/>
          </a:prstGeom>
        </p:spPr>
        <p:txBody>
          <a:bodyPr/>
          <a:lstStyle/>
          <a:p>
            <a:pPr>
              <a:spcBef>
                <a:spcPts val="1400"/>
              </a:spcBef>
              <a:defRPr b="1" sz="5500">
                <a:latin typeface="+mj-lt"/>
                <a:ea typeface="+mj-ea"/>
                <a:cs typeface="+mj-cs"/>
                <a:sym typeface="Helvetica Neue"/>
              </a:defRPr>
            </a:pPr>
          </a:p>
        </p:txBody>
      </p:sp>
      <p:sp>
        <p:nvSpPr>
          <p:cNvPr id="169" name="PlaceHolder 3"/>
          <p:cNvSpPr txBox="1"/>
          <p:nvPr/>
        </p:nvSpPr>
        <p:spPr>
          <a:xfrm>
            <a:off x="1206359" y="4248360"/>
            <a:ext cx="21970442" cy="82551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760" tIns="50760" rIns="50760" bIns="50760">
            <a:normAutofit fontScale="100000" lnSpcReduction="0"/>
          </a:bodyPr>
          <a:lstStyle/>
          <a:p>
            <a:pPr marL="609478" indent="-609478" defTabSz="2438280">
              <a:lnSpc>
                <a:spcPct val="90000"/>
              </a:lnSpc>
              <a:spcBef>
                <a:spcPts val="4500"/>
              </a:spcBef>
              <a:buClr>
                <a:srgbClr val="000000"/>
              </a:buClr>
              <a:buSzPct val="123000"/>
              <a:buFont typeface="Symbol"/>
              <a:buChar char="·"/>
              <a:defRPr sz="4800">
                <a:solidFill>
                  <a:srgbClr val="000000"/>
                </a:solidFill>
                <a:latin typeface="+mj-lt"/>
                <a:ea typeface="+mj-ea"/>
                <a:cs typeface="+mj-cs"/>
                <a:sym typeface="Helvetica Neue"/>
              </a:defRPr>
            </a:pPr>
            <a:r>
              <a:t>Shift the models focus on either opcodes or operands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marL="609478" indent="-609478" defTabSz="2438280">
              <a:lnSpc>
                <a:spcPct val="90000"/>
              </a:lnSpc>
              <a:spcBef>
                <a:spcPts val="4500"/>
              </a:spcBef>
              <a:buClr>
                <a:srgbClr val="000000"/>
              </a:buClr>
              <a:buSzPct val="123000"/>
              <a:buFont typeface="Symbol"/>
              <a:buChar char="·"/>
              <a:defRPr sz="4800">
                <a:solidFill>
                  <a:srgbClr val="000000"/>
                </a:solidFill>
                <a:latin typeface="+mj-lt"/>
                <a:ea typeface="+mj-ea"/>
                <a:cs typeface="+mj-cs"/>
                <a:sym typeface="Helvetica Neue"/>
              </a:defRPr>
            </a:pPr>
            <a:r>
              <a:t>To train our BERT model we base on traditional Masked Language Modeling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marL="609478" indent="-609478" defTabSz="2438280">
              <a:lnSpc>
                <a:spcPct val="90000"/>
              </a:lnSpc>
              <a:spcBef>
                <a:spcPts val="4500"/>
              </a:spcBef>
              <a:buClr>
                <a:srgbClr val="000000"/>
              </a:buClr>
              <a:buSzPct val="123000"/>
              <a:buFont typeface="Symbol"/>
              <a:buChar char="·"/>
              <a:defRPr sz="4800">
                <a:solidFill>
                  <a:srgbClr val="000000"/>
                </a:solidFill>
                <a:latin typeface="+mj-lt"/>
                <a:ea typeface="+mj-ea"/>
                <a:cs typeface="+mj-cs"/>
                <a:sym typeface="Helvetica Neue"/>
              </a:defRPr>
            </a:pPr>
            <a:r>
              <a:t>We measure the importance of each category by setting a statistic focus on opcodes and operands 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PlaceHolder 1"/>
          <p:cNvSpPr txBox="1"/>
          <p:nvPr>
            <p:ph type="title"/>
          </p:nvPr>
        </p:nvSpPr>
        <p:spPr>
          <a:xfrm>
            <a:off x="1206359" y="1079639"/>
            <a:ext cx="21970442" cy="1432443"/>
          </a:xfrm>
          <a:prstGeom prst="rect">
            <a:avLst/>
          </a:prstGeom>
        </p:spPr>
        <p:txBody>
          <a:bodyPr/>
          <a:lstStyle>
            <a:lvl1pPr>
              <a:defRPr spc="-300"/>
            </a:lvl1pPr>
          </a:lstStyle>
          <a:p>
            <a:pPr/>
            <a:r>
              <a:t>Opcode vs. Operand Statistic Masking</a:t>
            </a:r>
          </a:p>
        </p:txBody>
      </p:sp>
      <p:sp>
        <p:nvSpPr>
          <p:cNvPr id="172" name="PlaceHolder 2"/>
          <p:cNvSpPr txBox="1"/>
          <p:nvPr>
            <p:ph type="body" sz="quarter" idx="1"/>
          </p:nvPr>
        </p:nvSpPr>
        <p:spPr>
          <a:xfrm>
            <a:off x="1206359" y="2373120"/>
            <a:ext cx="21970442" cy="934200"/>
          </a:xfrm>
          <a:prstGeom prst="rect">
            <a:avLst/>
          </a:prstGeom>
        </p:spPr>
        <p:txBody>
          <a:bodyPr/>
          <a:lstStyle>
            <a:lvl1pPr defTabSz="825480">
              <a:lnSpc>
                <a:spcPct val="90000"/>
              </a:lnSpc>
              <a:spcBef>
                <a:spcPts val="1400"/>
              </a:spcBef>
              <a:defRPr b="1" sz="5500"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Standard MLM</a:t>
            </a:r>
          </a:p>
        </p:txBody>
      </p:sp>
      <p:pic>
        <p:nvPicPr>
          <p:cNvPr id="173" name="Bild" descr="Bild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27800" y="3921480"/>
            <a:ext cx="15128280" cy="6728040"/>
          </a:xfrm>
          <a:prstGeom prst="rect">
            <a:avLst/>
          </a:prstGeom>
          <a:ln w="12700">
            <a:miter lim="400000"/>
          </a:ln>
        </p:spPr>
      </p:pic>
      <p:sp>
        <p:nvSpPr>
          <p:cNvPr id="174" name="Rechteck"/>
          <p:cNvSpPr/>
          <p:nvPr/>
        </p:nvSpPr>
        <p:spPr>
          <a:xfrm>
            <a:off x="11036520" y="9598320"/>
            <a:ext cx="2183042" cy="1171442"/>
          </a:xfrm>
          <a:prstGeom prst="rect">
            <a:avLst/>
          </a:prstGeom>
          <a:ln w="88900">
            <a:solidFill>
              <a:srgbClr val="000000"/>
            </a:solidFill>
            <a:prstDash val="sysDot"/>
            <a:miter/>
          </a:ln>
        </p:spPr>
        <p:txBody>
          <a:bodyPr lIns="0" tIns="0" rIns="0" bIns="0"/>
          <a:lstStyle/>
          <a:p>
            <a:pPr>
              <a:defRPr>
                <a:latin typeface="Arial"/>
                <a:ea typeface="Arial"/>
                <a:cs typeface="Arial"/>
                <a:sym typeface="Arial"/>
              </a:defRPr>
            </a:pPr>
          </a:p>
        </p:txBody>
      </p:sp>
      <p:grpSp>
        <p:nvGrpSpPr>
          <p:cNvPr id="177" name="&lt;mask&gt;"/>
          <p:cNvGrpSpPr/>
          <p:nvPr/>
        </p:nvGrpSpPr>
        <p:grpSpPr>
          <a:xfrm>
            <a:off x="11142359" y="9683639"/>
            <a:ext cx="1971004" cy="1000801"/>
            <a:chOff x="0" y="0"/>
            <a:chExt cx="1971002" cy="1000800"/>
          </a:xfrm>
        </p:grpSpPr>
        <p:sp>
          <p:nvSpPr>
            <p:cNvPr id="175" name="Rechteck"/>
            <p:cNvSpPr/>
            <p:nvPr/>
          </p:nvSpPr>
          <p:spPr>
            <a:xfrm>
              <a:off x="-1" y="-1"/>
              <a:ext cx="1971004" cy="1000802"/>
            </a:xfrm>
            <a:prstGeom prst="rect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360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176" name="&lt;mask&gt;"/>
            <p:cNvSpPr txBox="1"/>
            <p:nvPr/>
          </p:nvSpPr>
          <p:spPr>
            <a:xfrm>
              <a:off x="-1" y="241178"/>
              <a:ext cx="1971004" cy="518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360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&lt;mask&gt;</a:t>
              </a:r>
            </a:p>
          </p:txBody>
        </p:sp>
      </p:grpSp>
      <p:grpSp>
        <p:nvGrpSpPr>
          <p:cNvPr id="180" name="lea"/>
          <p:cNvGrpSpPr/>
          <p:nvPr/>
        </p:nvGrpSpPr>
        <p:grpSpPr>
          <a:xfrm>
            <a:off x="11142359" y="9683639"/>
            <a:ext cx="1971004" cy="1000801"/>
            <a:chOff x="0" y="0"/>
            <a:chExt cx="1971002" cy="1000800"/>
          </a:xfrm>
        </p:grpSpPr>
        <p:sp>
          <p:nvSpPr>
            <p:cNvPr id="178" name="Rechteck"/>
            <p:cNvSpPr/>
            <p:nvPr/>
          </p:nvSpPr>
          <p:spPr>
            <a:xfrm>
              <a:off x="-1" y="-1"/>
              <a:ext cx="1971004" cy="1000802"/>
            </a:xfrm>
            <a:prstGeom prst="rect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360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179" name="lea"/>
            <p:cNvSpPr txBox="1"/>
            <p:nvPr/>
          </p:nvSpPr>
          <p:spPr>
            <a:xfrm>
              <a:off x="-1" y="240049"/>
              <a:ext cx="1971004" cy="520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3600">
                  <a:solidFill>
                    <a:srgbClr val="000000"/>
                  </a:solidFill>
                  <a:latin typeface="Menlo Regular"/>
                  <a:ea typeface="Menlo Regular"/>
                  <a:cs typeface="Menlo Regular"/>
                  <a:sym typeface="Menlo Regular"/>
                </a:defRPr>
              </a:lvl1pPr>
            </a:lstStyle>
            <a:p>
              <a:pPr/>
              <a:r>
                <a:t>lea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  <p:timing>
    <p:tnLst>
      <p:par>
        <p:cTn id="1" nodeType="tmRoot" restart="never" dur="indefinite" fill="hold">
          <p:childTnLst>
            <p:seq concurrent="1" prevAc="none" nextAc="seek">
              <p:cTn id="2" nodeType="mainSeq" dur="indefinite" fill="hold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Class="entr" nodeType="clickEffect" presetSubtype="0" presetID="1" grpId="1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1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Class="entr" nodeType="clickEffect" presetSubtype="0" presetID="1" grpId="2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1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Class="entr" nodeType="clickEffect" presetSubtype="0" presetID="1" grpId="3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  <p:bldLst>
      <p:bldP build="whole" bldLvl="1" animBg="1" rev="0" advAuto="0" spid="180" grpId="3"/>
      <p:bldP build="whole" bldLvl="1" animBg="1" rev="0" advAuto="0" spid="177" grpId="2"/>
      <p:bldP build="whole" bldLvl="1" animBg="1" rev="0" advAuto="0" spid="174" grpId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PlaceHolder 1"/>
          <p:cNvSpPr txBox="1"/>
          <p:nvPr>
            <p:ph type="title"/>
          </p:nvPr>
        </p:nvSpPr>
        <p:spPr>
          <a:xfrm>
            <a:off x="1206359" y="1079639"/>
            <a:ext cx="21970442" cy="1432443"/>
          </a:xfrm>
          <a:prstGeom prst="rect">
            <a:avLst/>
          </a:prstGeom>
        </p:spPr>
        <p:txBody>
          <a:bodyPr/>
          <a:lstStyle>
            <a:lvl1pPr>
              <a:defRPr spc="-300"/>
            </a:lvl1pPr>
          </a:lstStyle>
          <a:p>
            <a:pPr/>
            <a:r>
              <a:t>Opcode vs. Operand Statistic Masking</a:t>
            </a:r>
          </a:p>
        </p:txBody>
      </p:sp>
      <p:sp>
        <p:nvSpPr>
          <p:cNvPr id="183" name="PlaceHolder 2"/>
          <p:cNvSpPr txBox="1"/>
          <p:nvPr>
            <p:ph type="body" sz="quarter" idx="1"/>
          </p:nvPr>
        </p:nvSpPr>
        <p:spPr>
          <a:xfrm>
            <a:off x="1206359" y="2373120"/>
            <a:ext cx="21970442" cy="934200"/>
          </a:xfrm>
          <a:prstGeom prst="rect">
            <a:avLst/>
          </a:prstGeom>
        </p:spPr>
        <p:txBody>
          <a:bodyPr/>
          <a:lstStyle>
            <a:lvl1pPr defTabSz="825480">
              <a:lnSpc>
                <a:spcPct val="90000"/>
              </a:lnSpc>
              <a:spcBef>
                <a:spcPts val="1400"/>
              </a:spcBef>
              <a:defRPr b="1" sz="5500"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Statistic Opcode / Operand Split MLM</a:t>
            </a:r>
          </a:p>
        </p:txBody>
      </p:sp>
      <p:pic>
        <p:nvPicPr>
          <p:cNvPr id="184" name="Bild" descr="Bild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27800" y="3921480"/>
            <a:ext cx="15128280" cy="6728040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187" name="&lt;mask&gt;"/>
          <p:cNvGrpSpPr/>
          <p:nvPr/>
        </p:nvGrpSpPr>
        <p:grpSpPr>
          <a:xfrm>
            <a:off x="6752879" y="9701279"/>
            <a:ext cx="1971004" cy="1000801"/>
            <a:chOff x="0" y="0"/>
            <a:chExt cx="1971002" cy="1000800"/>
          </a:xfrm>
        </p:grpSpPr>
        <p:sp>
          <p:nvSpPr>
            <p:cNvPr id="185" name="Rechteck"/>
            <p:cNvSpPr/>
            <p:nvPr/>
          </p:nvSpPr>
          <p:spPr>
            <a:xfrm>
              <a:off x="-1" y="-1"/>
              <a:ext cx="1971004" cy="1000802"/>
            </a:xfrm>
            <a:prstGeom prst="rect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360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186" name="&lt;mask&gt;"/>
            <p:cNvSpPr txBox="1"/>
            <p:nvPr/>
          </p:nvSpPr>
          <p:spPr>
            <a:xfrm>
              <a:off x="-1" y="241178"/>
              <a:ext cx="1971004" cy="518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360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&lt;mask&gt;</a:t>
              </a:r>
            </a:p>
          </p:txBody>
        </p:sp>
      </p:grpSp>
      <p:grpSp>
        <p:nvGrpSpPr>
          <p:cNvPr id="190" name="lea"/>
          <p:cNvGrpSpPr/>
          <p:nvPr/>
        </p:nvGrpSpPr>
        <p:grpSpPr>
          <a:xfrm>
            <a:off x="6752879" y="9701279"/>
            <a:ext cx="1971004" cy="1000801"/>
            <a:chOff x="0" y="0"/>
            <a:chExt cx="1971002" cy="1000800"/>
          </a:xfrm>
        </p:grpSpPr>
        <p:sp>
          <p:nvSpPr>
            <p:cNvPr id="188" name="Rechteck"/>
            <p:cNvSpPr/>
            <p:nvPr/>
          </p:nvSpPr>
          <p:spPr>
            <a:xfrm>
              <a:off x="-1" y="-1"/>
              <a:ext cx="1971004" cy="1000802"/>
            </a:xfrm>
            <a:prstGeom prst="rect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360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189" name="lea"/>
            <p:cNvSpPr txBox="1"/>
            <p:nvPr/>
          </p:nvSpPr>
          <p:spPr>
            <a:xfrm>
              <a:off x="-1" y="240049"/>
              <a:ext cx="1971004" cy="520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3600">
                  <a:solidFill>
                    <a:srgbClr val="000000"/>
                  </a:solidFill>
                  <a:latin typeface="Menlo Regular"/>
                  <a:ea typeface="Menlo Regular"/>
                  <a:cs typeface="Menlo Regular"/>
                  <a:sym typeface="Menlo Regular"/>
                </a:defRPr>
              </a:lvl1pPr>
            </a:lstStyle>
            <a:p>
              <a:pPr/>
              <a:r>
                <a:t>lea</a:t>
              </a:r>
            </a:p>
          </p:txBody>
        </p:sp>
      </p:grpSp>
      <p:grpSp>
        <p:nvGrpSpPr>
          <p:cNvPr id="193" name="Choose the tokens not randomly but with p:"/>
          <p:cNvGrpSpPr/>
          <p:nvPr/>
        </p:nvGrpSpPr>
        <p:grpSpPr>
          <a:xfrm>
            <a:off x="603000" y="11100878"/>
            <a:ext cx="5661001" cy="1585243"/>
            <a:chOff x="0" y="0"/>
            <a:chExt cx="5661000" cy="1585242"/>
          </a:xfrm>
        </p:grpSpPr>
        <p:sp>
          <p:nvSpPr>
            <p:cNvPr id="191" name="Rechteck"/>
            <p:cNvSpPr/>
            <p:nvPr/>
          </p:nvSpPr>
          <p:spPr>
            <a:xfrm>
              <a:off x="0" y="157761"/>
              <a:ext cx="5661001" cy="1269723"/>
            </a:xfrm>
            <a:prstGeom prst="rect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360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192" name="Choose the tokens not uniform, but with split_propability*MLM"/>
            <p:cNvSpPr txBox="1"/>
            <p:nvPr/>
          </p:nvSpPr>
          <p:spPr>
            <a:xfrm>
              <a:off x="0" y="-1"/>
              <a:ext cx="5661001" cy="15852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b="1" sz="360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Choose the tokens not uniform, but with split_propability*MLM</a:t>
              </a:r>
            </a:p>
          </p:txBody>
        </p:sp>
      </p:grpSp>
      <p:grpSp>
        <p:nvGrpSpPr>
          <p:cNvPr id="196" name="p = 0.8"/>
          <p:cNvGrpSpPr/>
          <p:nvPr/>
        </p:nvGrpSpPr>
        <p:grpSpPr>
          <a:xfrm>
            <a:off x="6695998" y="11258639"/>
            <a:ext cx="2664004" cy="1269723"/>
            <a:chOff x="0" y="0"/>
            <a:chExt cx="2664002" cy="1269722"/>
          </a:xfrm>
        </p:grpSpPr>
        <p:sp>
          <p:nvSpPr>
            <p:cNvPr id="194" name="Rechteck"/>
            <p:cNvSpPr/>
            <p:nvPr/>
          </p:nvSpPr>
          <p:spPr>
            <a:xfrm>
              <a:off x="-1" y="0"/>
              <a:ext cx="2664004" cy="1269723"/>
            </a:xfrm>
            <a:prstGeom prst="rect">
              <a:avLst/>
            </a:prstGeom>
            <a:solidFill>
              <a:srgbClr val="FFFFFF"/>
            </a:solidFill>
            <a:ln w="25400" cap="flat">
              <a:solidFill>
                <a:schemeClr val="accent1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360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195" name="p = 0.8*0.15"/>
            <p:cNvSpPr txBox="1"/>
            <p:nvPr/>
          </p:nvSpPr>
          <p:spPr>
            <a:xfrm>
              <a:off x="12699" y="375638"/>
              <a:ext cx="2638604" cy="5184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b="1" sz="360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p = 0.8*0.15</a:t>
              </a:r>
            </a:p>
          </p:txBody>
        </p:sp>
      </p:grpSp>
      <p:grpSp>
        <p:nvGrpSpPr>
          <p:cNvPr id="199" name="p = 0.2"/>
          <p:cNvGrpSpPr/>
          <p:nvPr/>
        </p:nvGrpSpPr>
        <p:grpSpPr>
          <a:xfrm>
            <a:off x="12023999" y="11258639"/>
            <a:ext cx="2520004" cy="1269723"/>
            <a:chOff x="0" y="0"/>
            <a:chExt cx="2520002" cy="1269722"/>
          </a:xfrm>
        </p:grpSpPr>
        <p:sp>
          <p:nvSpPr>
            <p:cNvPr id="197" name="Rechteck"/>
            <p:cNvSpPr/>
            <p:nvPr/>
          </p:nvSpPr>
          <p:spPr>
            <a:xfrm>
              <a:off x="-1" y="0"/>
              <a:ext cx="2520004" cy="1269723"/>
            </a:xfrm>
            <a:prstGeom prst="rect">
              <a:avLst/>
            </a:prstGeom>
            <a:solidFill>
              <a:srgbClr val="FFFFFF"/>
            </a:solidFill>
            <a:ln w="25400" cap="flat">
              <a:solidFill>
                <a:schemeClr val="accent1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360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198" name="p = 0.2*0.15"/>
            <p:cNvSpPr txBox="1"/>
            <p:nvPr/>
          </p:nvSpPr>
          <p:spPr>
            <a:xfrm>
              <a:off x="12699" y="108938"/>
              <a:ext cx="2494604" cy="105184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b="1" sz="360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pPr/>
              <a:r>
                <a:t>p = 0.2*0.15</a:t>
              </a:r>
            </a:p>
          </p:txBody>
        </p:sp>
      </p:grpSp>
      <p:sp>
        <p:nvSpPr>
          <p:cNvPr id="200" name="Linie"/>
          <p:cNvSpPr/>
          <p:nvPr/>
        </p:nvSpPr>
        <p:spPr>
          <a:xfrm flipV="1">
            <a:off x="7698960" y="10650959"/>
            <a:ext cx="2" cy="593642"/>
          </a:xfrm>
          <a:prstGeom prst="line">
            <a:avLst/>
          </a:prstGeom>
          <a:ln w="63500">
            <a:solidFill>
              <a:schemeClr val="accent1"/>
            </a:solidFill>
            <a:tailEnd type="triangle"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01" name="Linie"/>
          <p:cNvSpPr/>
          <p:nvPr/>
        </p:nvSpPr>
        <p:spPr>
          <a:xfrm flipH="1" flipV="1">
            <a:off x="9889200" y="10630079"/>
            <a:ext cx="2134802" cy="1105921"/>
          </a:xfrm>
          <a:prstGeom prst="line">
            <a:avLst/>
          </a:prstGeom>
          <a:ln w="25400">
            <a:solidFill>
              <a:schemeClr val="accent1"/>
            </a:solidFill>
            <a:tailEnd type="triangle"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02" name="Linie"/>
          <p:cNvSpPr/>
          <p:nvPr/>
        </p:nvSpPr>
        <p:spPr>
          <a:xfrm flipV="1">
            <a:off x="14544000" y="10618560"/>
            <a:ext cx="1919522" cy="1261442"/>
          </a:xfrm>
          <a:prstGeom prst="line">
            <a:avLst/>
          </a:prstGeom>
          <a:ln w="25400">
            <a:solidFill>
              <a:schemeClr val="accent1"/>
            </a:solidFill>
            <a:tailEnd type="triangle"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03" name="Linie"/>
          <p:cNvSpPr/>
          <p:nvPr/>
        </p:nvSpPr>
        <p:spPr>
          <a:xfrm flipV="1">
            <a:off x="13663800" y="10633319"/>
            <a:ext cx="619922" cy="619562"/>
          </a:xfrm>
          <a:prstGeom prst="line">
            <a:avLst/>
          </a:prstGeom>
          <a:ln w="25400">
            <a:solidFill>
              <a:schemeClr val="accent1"/>
            </a:solidFill>
            <a:tailEnd type="triangle"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04" name="Linie"/>
          <p:cNvSpPr/>
          <p:nvPr/>
        </p:nvSpPr>
        <p:spPr>
          <a:xfrm flipH="1" flipV="1">
            <a:off x="12160800" y="10629358"/>
            <a:ext cx="627842" cy="627842"/>
          </a:xfrm>
          <a:prstGeom prst="line">
            <a:avLst/>
          </a:prstGeom>
          <a:ln w="25400">
            <a:solidFill>
              <a:schemeClr val="accent1"/>
            </a:solidFill>
            <a:tailEnd type="triangle"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05" name="Rechteck"/>
          <p:cNvSpPr/>
          <p:nvPr/>
        </p:nvSpPr>
        <p:spPr>
          <a:xfrm>
            <a:off x="6646680" y="9615960"/>
            <a:ext cx="2183042" cy="1171442"/>
          </a:xfrm>
          <a:prstGeom prst="rect">
            <a:avLst/>
          </a:prstGeom>
          <a:ln w="88900">
            <a:solidFill>
              <a:srgbClr val="000000"/>
            </a:solidFill>
            <a:prstDash val="sysDot"/>
            <a:miter/>
          </a:ln>
        </p:spPr>
        <p:txBody>
          <a:bodyPr lIns="0" tIns="0" rIns="0" bIns="0"/>
          <a:lstStyle/>
          <a:p>
            <a:pPr>
              <a:defRPr>
                <a:latin typeface="Arial"/>
                <a:ea typeface="Arial"/>
                <a:cs typeface="Arial"/>
                <a:sym typeface="Arial"/>
              </a:defRPr>
            </a:pPr>
          </a:p>
        </p:txBody>
      </p:sp>
    </p:spTree>
  </p:cSld>
  <p:clrMapOvr>
    <a:masterClrMapping/>
  </p:clrMapOvr>
  <p:transition xmlns:p14="http://schemas.microsoft.com/office/powerpoint/2010/main" spd="med" advClick="1"/>
  <p:timing>
    <p:tnLst>
      <p:par>
        <p:cTn id="1" nodeType="tmRoot" restart="never" dur="indefinite" fill="hold">
          <p:childTnLst>
            <p:seq concurrent="1" prevAc="none" nextAc="seek">
              <p:cTn id="2" nodeType="mainSeq" dur="indefinite" fill="hold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Class="entr" nodeType="clickEffect" presetSubtype="0" presetID="1" grpId="1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Class="entr" nodeType="clickEffect" presetSubtype="0" presetID="1" grpId="2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1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Class="entr" nodeType="clickEffect" presetSubtype="0" presetID="1" grpId="3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  <p:bldLst>
      <p:bldP build="whole" bldLvl="1" animBg="1" rev="0" advAuto="0" spid="187" grpId="2"/>
      <p:bldP build="whole" bldLvl="1" animBg="1" rev="0" advAuto="0" spid="190" grpId="3"/>
      <p:bldP build="whole" bldLvl="1" animBg="1" rev="0" advAuto="0" spid="205" grpId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="0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PlaceHolder 1"/>
          <p:cNvSpPr txBox="1"/>
          <p:nvPr>
            <p:ph type="title"/>
          </p:nvPr>
        </p:nvSpPr>
        <p:spPr>
          <a:xfrm>
            <a:off x="1206359" y="1079639"/>
            <a:ext cx="21970442" cy="1432443"/>
          </a:xfrm>
          <a:prstGeom prst="rect">
            <a:avLst/>
          </a:prstGeom>
        </p:spPr>
        <p:txBody>
          <a:bodyPr/>
          <a:lstStyle>
            <a:lvl1pPr>
              <a:defRPr spc="-300"/>
            </a:lvl1pPr>
          </a:lstStyle>
          <a:p>
            <a:pPr/>
            <a:r>
              <a:t>Inference </a:t>
            </a:r>
          </a:p>
        </p:txBody>
      </p:sp>
      <p:sp>
        <p:nvSpPr>
          <p:cNvPr id="208" name="PlaceHolder 2"/>
          <p:cNvSpPr txBox="1"/>
          <p:nvPr>
            <p:ph type="body" sz="quarter" idx="1"/>
          </p:nvPr>
        </p:nvSpPr>
        <p:spPr>
          <a:xfrm>
            <a:off x="1206359" y="2373120"/>
            <a:ext cx="21970442" cy="934200"/>
          </a:xfrm>
          <a:prstGeom prst="rect">
            <a:avLst/>
          </a:prstGeom>
        </p:spPr>
        <p:txBody>
          <a:bodyPr/>
          <a:lstStyle>
            <a:lvl1pPr defTabSz="825480">
              <a:lnSpc>
                <a:spcPct val="90000"/>
              </a:lnSpc>
              <a:spcBef>
                <a:spcPts val="1400"/>
              </a:spcBef>
              <a:defRPr b="1" sz="5500"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Cosine Similarity</a:t>
            </a:r>
          </a:p>
        </p:txBody>
      </p:sp>
      <p:sp>
        <p:nvSpPr>
          <p:cNvPr id="209" name="PlaceHolder 3"/>
          <p:cNvSpPr txBox="1"/>
          <p:nvPr/>
        </p:nvSpPr>
        <p:spPr>
          <a:xfrm>
            <a:off x="1206359" y="4248360"/>
            <a:ext cx="21970442" cy="82551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760" tIns="50760" rIns="50760" bIns="50760">
            <a:normAutofit fontScale="100000" lnSpcReduction="0"/>
          </a:bodyPr>
          <a:lstStyle/>
          <a:p>
            <a:pPr marL="609478" indent="-609478" defTabSz="2438280">
              <a:lnSpc>
                <a:spcPct val="90000"/>
              </a:lnSpc>
              <a:spcBef>
                <a:spcPts val="4500"/>
              </a:spcBef>
              <a:buClr>
                <a:srgbClr val="000000"/>
              </a:buClr>
              <a:buSzPct val="123000"/>
              <a:buFont typeface="Symbol"/>
              <a:buChar char="·"/>
              <a:defRPr sz="4800">
                <a:solidFill>
                  <a:srgbClr val="000000"/>
                </a:solidFill>
                <a:latin typeface="+mj-lt"/>
                <a:ea typeface="+mj-ea"/>
                <a:cs typeface="+mj-cs"/>
                <a:sym typeface="Helvetica Neue"/>
              </a:defRPr>
            </a:pPr>
            <a:r>
              <a:t>Precompute the output embeddings of the anchor functions of all pools and store them for lookup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marL="609478" indent="-609478" defTabSz="2438280">
              <a:lnSpc>
                <a:spcPct val="90000"/>
              </a:lnSpc>
              <a:spcBef>
                <a:spcPts val="4500"/>
              </a:spcBef>
              <a:buClr>
                <a:srgbClr val="000000"/>
              </a:buClr>
              <a:buSzPct val="123000"/>
              <a:buFont typeface="Symbol"/>
              <a:buChar char="·"/>
              <a:defRPr sz="4800">
                <a:solidFill>
                  <a:srgbClr val="000000"/>
                </a:solidFill>
                <a:latin typeface="+mj-lt"/>
                <a:ea typeface="+mj-ea"/>
                <a:cs typeface="+mj-cs"/>
                <a:sym typeface="Helvetica Neue"/>
              </a:defRPr>
            </a:pPr>
            <a:r>
              <a:t>Batch process candidates of each pool and compute cosine similarity between anchor &amp; candidates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marL="609478" indent="-609478" defTabSz="2438280">
              <a:lnSpc>
                <a:spcPct val="90000"/>
              </a:lnSpc>
              <a:spcBef>
                <a:spcPts val="4500"/>
              </a:spcBef>
              <a:buClr>
                <a:srgbClr val="000000"/>
              </a:buClr>
              <a:buSzPct val="123000"/>
              <a:buFont typeface="Symbol"/>
              <a:buChar char="·"/>
              <a:defRPr sz="4800">
                <a:solidFill>
                  <a:srgbClr val="000000"/>
                </a:solidFill>
                <a:latin typeface="+mj-lt"/>
                <a:ea typeface="+mj-ea"/>
                <a:cs typeface="+mj-cs"/>
                <a:sym typeface="Helvetica Neue"/>
              </a:defRPr>
            </a:pPr>
            <a:r>
              <a:t>Take measurements based on the cosine similarities (MRR, Top_K, nDCG)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="0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PlaceHolder 1"/>
          <p:cNvSpPr txBox="1"/>
          <p:nvPr>
            <p:ph type="title"/>
          </p:nvPr>
        </p:nvSpPr>
        <p:spPr>
          <a:xfrm>
            <a:off x="1206359" y="1079639"/>
            <a:ext cx="21970442" cy="1432443"/>
          </a:xfrm>
          <a:prstGeom prst="rect">
            <a:avLst/>
          </a:prstGeom>
        </p:spPr>
        <p:txBody>
          <a:bodyPr/>
          <a:lstStyle>
            <a:lvl1pPr>
              <a:defRPr spc="-300"/>
            </a:lvl1pPr>
          </a:lstStyle>
          <a:p>
            <a:pPr/>
            <a:r>
              <a:t>Inference</a:t>
            </a:r>
          </a:p>
        </p:txBody>
      </p:sp>
      <p:sp>
        <p:nvSpPr>
          <p:cNvPr id="212" name="PlaceHolder 2"/>
          <p:cNvSpPr txBox="1"/>
          <p:nvPr>
            <p:ph type="body" sz="quarter" idx="1"/>
          </p:nvPr>
        </p:nvSpPr>
        <p:spPr>
          <a:xfrm>
            <a:off x="1206359" y="2373120"/>
            <a:ext cx="21970442" cy="934200"/>
          </a:xfrm>
          <a:prstGeom prst="rect">
            <a:avLst/>
          </a:prstGeom>
        </p:spPr>
        <p:txBody>
          <a:bodyPr/>
          <a:lstStyle>
            <a:lvl1pPr defTabSz="825480">
              <a:defRPr b="1" sz="5500"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Function Pools</a:t>
            </a:r>
          </a:p>
        </p:txBody>
      </p:sp>
      <p:sp>
        <p:nvSpPr>
          <p:cNvPr id="213" name="PlaceHolder 3"/>
          <p:cNvSpPr txBox="1"/>
          <p:nvPr/>
        </p:nvSpPr>
        <p:spPr>
          <a:xfrm>
            <a:off x="1206359" y="3656160"/>
            <a:ext cx="21970442" cy="82551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760" tIns="50760" rIns="50760" bIns="50760">
            <a:normAutofit fontScale="100000" lnSpcReduction="0"/>
          </a:bodyPr>
          <a:lstStyle/>
          <a:p>
            <a:pPr marL="560880" indent="-560880" defTabSz="2243159">
              <a:lnSpc>
                <a:spcPct val="90000"/>
              </a:lnSpc>
              <a:spcBef>
                <a:spcPts val="4000"/>
              </a:spcBef>
              <a:buClr>
                <a:srgbClr val="000000"/>
              </a:buClr>
              <a:buSzPct val="123000"/>
              <a:buFont typeface="Symbol"/>
              <a:buChar char="·"/>
              <a:defRPr sz="4400">
                <a:solidFill>
                  <a:srgbClr val="000000"/>
                </a:solidFill>
                <a:latin typeface="+mj-lt"/>
                <a:ea typeface="+mj-ea"/>
                <a:cs typeface="+mj-cs"/>
                <a:sym typeface="Helvetica Neue"/>
              </a:defRPr>
            </a:pPr>
            <a:r>
              <a:t>Each function pool follows the same structure: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marL="560880" indent="-560880" defTabSz="2243159">
              <a:lnSpc>
                <a:spcPct val="90000"/>
              </a:lnSpc>
              <a:spcBef>
                <a:spcPts val="4000"/>
              </a:spcBef>
              <a:buClr>
                <a:srgbClr val="000000"/>
              </a:buClr>
              <a:buSzPct val="123000"/>
              <a:buFont typeface="Symbol"/>
              <a:buChar char="·"/>
              <a:defRPr sz="4400">
                <a:solidFill>
                  <a:srgbClr val="000000"/>
                </a:solidFill>
                <a:latin typeface="+mj-lt"/>
                <a:ea typeface="+mj-ea"/>
                <a:cs typeface="+mj-cs"/>
                <a:sym typeface="Helvetica Neue"/>
              </a:defRPr>
            </a:pPr>
            <a:r>
              <a:t>1 Anchor Function, N-Positive Samples, 200 Negative Samples, where N &gt; 7 to only include pools with sufficient function variants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marL="560880" indent="-560880" defTabSz="2243159">
              <a:lnSpc>
                <a:spcPct val="90000"/>
              </a:lnSpc>
              <a:spcBef>
                <a:spcPts val="4000"/>
              </a:spcBef>
              <a:buClr>
                <a:srgbClr val="000000"/>
              </a:buClr>
              <a:buSzPct val="123000"/>
              <a:buFont typeface="Symbol"/>
              <a:buChar char="·"/>
              <a:defRPr sz="4400">
                <a:solidFill>
                  <a:srgbClr val="000000"/>
                </a:solidFill>
                <a:latin typeface="+mj-lt"/>
                <a:ea typeface="+mj-ea"/>
                <a:cs typeface="+mj-cs"/>
                <a:sym typeface="Helvetica Neue"/>
              </a:defRPr>
            </a:pPr>
            <a:r>
              <a:t>N-Positive Samples: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lvl="3" marL="2243159" indent="-560879" defTabSz="2243159">
              <a:lnSpc>
                <a:spcPct val="90000"/>
              </a:lnSpc>
              <a:spcBef>
                <a:spcPts val="4000"/>
              </a:spcBef>
              <a:buClr>
                <a:srgbClr val="000000"/>
              </a:buClr>
              <a:buSzPct val="123000"/>
              <a:buFont typeface="Symbol"/>
              <a:buChar char="·"/>
              <a:defRPr sz="4400">
                <a:solidFill>
                  <a:srgbClr val="000000"/>
                </a:solidFill>
                <a:latin typeface="+mj-lt"/>
                <a:ea typeface="+mj-ea"/>
                <a:cs typeface="+mj-cs"/>
                <a:sym typeface="Helvetica Neue"/>
              </a:defRPr>
            </a:pPr>
            <a:r>
              <a:t>N = number of all positive samples across each test project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lvl="3" marL="2243159" indent="-560879" defTabSz="2243159">
              <a:lnSpc>
                <a:spcPct val="90000"/>
              </a:lnSpc>
              <a:spcBef>
                <a:spcPts val="4000"/>
              </a:spcBef>
              <a:buClr>
                <a:srgbClr val="000000"/>
              </a:buClr>
              <a:buSzPct val="123000"/>
              <a:buFont typeface="Symbol"/>
              <a:buChar char="·"/>
              <a:defRPr sz="4400">
                <a:solidFill>
                  <a:srgbClr val="000000"/>
                </a:solidFill>
                <a:latin typeface="+mj-lt"/>
                <a:ea typeface="+mj-ea"/>
                <a:cs typeface="+mj-cs"/>
                <a:sym typeface="Helvetica Neue"/>
              </a:defRPr>
            </a:pPr>
            <a:r>
              <a:t>Samples that have the same f_name and same file origin are filtered out (duplicates)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lvl="3" marL="2243159" indent="-560879" defTabSz="2243159">
              <a:lnSpc>
                <a:spcPct val="90000"/>
              </a:lnSpc>
              <a:spcBef>
                <a:spcPts val="4000"/>
              </a:spcBef>
              <a:buClr>
                <a:srgbClr val="000000"/>
              </a:buClr>
              <a:buSzPct val="123000"/>
              <a:buFont typeface="Symbol"/>
              <a:buChar char="·"/>
              <a:defRPr sz="4400">
                <a:solidFill>
                  <a:srgbClr val="000000"/>
                </a:solidFill>
                <a:latin typeface="+mj-lt"/>
                <a:ea typeface="+mj-ea"/>
                <a:cs typeface="+mj-cs"/>
                <a:sym typeface="Helvetica Neue"/>
              </a:defRPr>
            </a:pPr>
            <a:r>
              <a:t>Filter out function variants which contain the exact same assembly instructions, but differ in file origin (prevent spoiling the measurements)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PlaceHolder 1"/>
          <p:cNvSpPr txBox="1"/>
          <p:nvPr>
            <p:ph type="title"/>
          </p:nvPr>
        </p:nvSpPr>
        <p:spPr>
          <a:xfrm>
            <a:off x="1206359" y="1079639"/>
            <a:ext cx="21970442" cy="1432443"/>
          </a:xfrm>
          <a:prstGeom prst="rect">
            <a:avLst/>
          </a:prstGeom>
        </p:spPr>
        <p:txBody>
          <a:bodyPr/>
          <a:lstStyle>
            <a:lvl1pPr>
              <a:defRPr spc="-300"/>
            </a:lvl1pPr>
          </a:lstStyle>
          <a:p>
            <a:pPr/>
            <a:r>
              <a:t>Inference</a:t>
            </a:r>
          </a:p>
        </p:txBody>
      </p:sp>
      <p:sp>
        <p:nvSpPr>
          <p:cNvPr id="216" name="PlaceHolder 2"/>
          <p:cNvSpPr txBox="1"/>
          <p:nvPr>
            <p:ph type="body" sz="quarter" idx="1"/>
          </p:nvPr>
        </p:nvSpPr>
        <p:spPr>
          <a:xfrm>
            <a:off x="1206359" y="2373120"/>
            <a:ext cx="21970442" cy="934200"/>
          </a:xfrm>
          <a:prstGeom prst="rect">
            <a:avLst/>
          </a:prstGeom>
        </p:spPr>
        <p:txBody>
          <a:bodyPr/>
          <a:lstStyle>
            <a:lvl1pPr defTabSz="825480">
              <a:defRPr b="1" sz="5500"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Function Pool Setup</a:t>
            </a:r>
          </a:p>
        </p:txBody>
      </p:sp>
      <p:sp>
        <p:nvSpPr>
          <p:cNvPr id="217" name="PlaceHolder 3"/>
          <p:cNvSpPr txBox="1"/>
          <p:nvPr/>
        </p:nvSpPr>
        <p:spPr>
          <a:xfrm>
            <a:off x="1206360" y="4035240"/>
            <a:ext cx="8156520" cy="82551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760" tIns="50760" rIns="50760" bIns="50760">
            <a:normAutofit fontScale="100000" lnSpcReduction="0"/>
          </a:bodyPr>
          <a:lstStyle/>
          <a:p>
            <a:pPr lvl="2" marL="560880" indent="-560880" defTabSz="2243159">
              <a:lnSpc>
                <a:spcPct val="90000"/>
              </a:lnSpc>
              <a:spcBef>
                <a:spcPts val="4000"/>
              </a:spcBef>
              <a:buClr>
                <a:srgbClr val="000000"/>
              </a:buClr>
              <a:buSzPct val="123000"/>
              <a:buFont typeface="Symbol"/>
              <a:buChar char="·"/>
              <a:defRPr sz="4400">
                <a:solidFill>
                  <a:srgbClr val="000000"/>
                </a:solidFill>
                <a:latin typeface="+mj-lt"/>
                <a:ea typeface="+mj-ea"/>
                <a:cs typeface="+mj-cs"/>
                <a:sym typeface="Helvetica Neue"/>
              </a:defRPr>
            </a:pPr>
            <a:r>
              <a:t>Anchor = arbitrary function variant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lvl="2" marL="560880" indent="-560880" defTabSz="2243159">
              <a:lnSpc>
                <a:spcPct val="90000"/>
              </a:lnSpc>
              <a:spcBef>
                <a:spcPts val="4000"/>
              </a:spcBef>
              <a:buClr>
                <a:srgbClr val="000000"/>
              </a:buClr>
              <a:buSzPct val="123000"/>
              <a:buFont typeface="Symbol"/>
              <a:buChar char="·"/>
              <a:defRPr sz="4400">
                <a:solidFill>
                  <a:srgbClr val="000000"/>
                </a:solidFill>
                <a:latin typeface="+mj-lt"/>
                <a:ea typeface="+mj-ea"/>
                <a:cs typeface="+mj-cs"/>
                <a:sym typeface="Helvetica Neue"/>
              </a:defRPr>
            </a:pPr>
            <a:r>
              <a:t>N = number of all positive samples across the anchors’ project (minimum 7)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marL="560880" indent="-560880" defTabSz="2243159">
              <a:lnSpc>
                <a:spcPct val="90000"/>
              </a:lnSpc>
              <a:spcBef>
                <a:spcPts val="4000"/>
              </a:spcBef>
              <a:buClr>
                <a:srgbClr val="000000"/>
              </a:buClr>
              <a:buSzPct val="123000"/>
              <a:buFont typeface="Symbol"/>
              <a:buChar char="·"/>
              <a:defRPr sz="4400">
                <a:solidFill>
                  <a:srgbClr val="000000"/>
                </a:solidFill>
                <a:latin typeface="+mj-lt"/>
                <a:ea typeface="+mj-ea"/>
                <a:cs typeface="+mj-cs"/>
                <a:sym typeface="Helvetica Neue"/>
              </a:defRPr>
            </a:pPr>
            <a:r>
              <a:t>K = number of negative samples per test project</a:t>
            </a:r>
          </a:p>
        </p:txBody>
      </p:sp>
      <p:pic>
        <p:nvPicPr>
          <p:cNvPr id="218" name="Bild" descr="Bild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9729358" y="2657160"/>
            <a:ext cx="13191123" cy="840132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PlaceHolder 1"/>
          <p:cNvSpPr txBox="1"/>
          <p:nvPr>
            <p:ph type="title"/>
          </p:nvPr>
        </p:nvSpPr>
        <p:spPr>
          <a:xfrm>
            <a:off x="1206359" y="1079640"/>
            <a:ext cx="21970442" cy="1434240"/>
          </a:xfrm>
          <a:prstGeom prst="rect">
            <a:avLst/>
          </a:prstGeom>
        </p:spPr>
        <p:txBody>
          <a:bodyPr/>
          <a:lstStyle>
            <a:lvl1pPr>
              <a:defRPr spc="-300"/>
            </a:lvl1pPr>
          </a:lstStyle>
          <a:p>
            <a:pPr/>
            <a:r>
              <a:t>Positive Samples Filtering</a:t>
            </a:r>
          </a:p>
        </p:txBody>
      </p:sp>
      <p:sp>
        <p:nvSpPr>
          <p:cNvPr id="221" name="PlaceHolder 2"/>
          <p:cNvSpPr txBox="1"/>
          <p:nvPr>
            <p:ph type="body" sz="quarter" idx="1"/>
          </p:nvPr>
        </p:nvSpPr>
        <p:spPr>
          <a:xfrm>
            <a:off x="1206359" y="2373120"/>
            <a:ext cx="21970442" cy="934200"/>
          </a:xfrm>
          <a:prstGeom prst="rect">
            <a:avLst/>
          </a:prstGeom>
        </p:spPr>
        <p:txBody>
          <a:bodyPr/>
          <a:lstStyle>
            <a:lvl1pPr defTabSz="825480">
              <a:defRPr b="1" sz="5500"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Duplicated Assembly</a:t>
            </a:r>
          </a:p>
        </p:txBody>
      </p:sp>
      <p:pic>
        <p:nvPicPr>
          <p:cNvPr id="222" name="Bild" descr="Bild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2628358" y="4348800"/>
            <a:ext cx="19126803" cy="7246802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225" name="Very Similar Embedding:…"/>
          <p:cNvGrpSpPr/>
          <p:nvPr/>
        </p:nvGrpSpPr>
        <p:grpSpPr>
          <a:xfrm>
            <a:off x="12481199" y="4445638"/>
            <a:ext cx="9213124" cy="7052763"/>
            <a:chOff x="0" y="0"/>
            <a:chExt cx="9213122" cy="7052761"/>
          </a:xfrm>
        </p:grpSpPr>
        <p:sp>
          <p:nvSpPr>
            <p:cNvPr id="223" name="Rechteck"/>
            <p:cNvSpPr/>
            <p:nvPr/>
          </p:nvSpPr>
          <p:spPr>
            <a:xfrm>
              <a:off x="-1" y="-1"/>
              <a:ext cx="9213124" cy="7052763"/>
            </a:xfrm>
            <a:prstGeom prst="rect">
              <a:avLst/>
            </a:prstGeom>
            <a:solidFill>
              <a:srgbClr val="FFFFFF"/>
            </a:solidFill>
            <a:ln w="63500" cap="flat">
              <a:solidFill>
                <a:srgbClr val="FFE265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3800"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sp>
          <p:nvSpPr>
            <p:cNvPr id="224" name="Very Similar Embedding:…"/>
            <p:cNvSpPr txBox="1"/>
            <p:nvPr/>
          </p:nvSpPr>
          <p:spPr>
            <a:xfrm>
              <a:off x="31679" y="2988534"/>
              <a:ext cx="9149404" cy="107641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3800">
                  <a:latin typeface="Arial"/>
                  <a:ea typeface="Arial"/>
                  <a:cs typeface="Arial"/>
                  <a:sym typeface="Arial"/>
                </a:defRPr>
              </a:pPr>
              <a:r>
                <a:t>Very Similar Embedding:</a:t>
              </a:r>
              <a:endParaRPr>
                <a:solidFill>
                  <a:srgbClr val="000000"/>
                </a:solidFill>
              </a:endParaRPr>
            </a:p>
            <a:p>
              <a:pPr algn="ctr">
                <a:defRPr sz="3800">
                  <a:latin typeface="Arial"/>
                  <a:ea typeface="Arial"/>
                  <a:cs typeface="Arial"/>
                  <a:sym typeface="Arial"/>
                </a:defRPr>
              </a:pPr>
              <a:r>
                <a:t>—&gt; spoiled measurements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  <p:timing>
    <p:tnLst>
      <p:par>
        <p:cTn id="1" nodeType="tmRoot" restart="never" dur="indefinite" fill="hold">
          <p:childTnLst>
            <p:seq concurrent="1" prevAc="none" nextAc="seek">
              <p:cTn id="2" nodeType="mainSeq" dur="indefinite" fill="hold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Class="entr" nodeType="clickEffect" presetSubtype="0" presetID="1" grpId="1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2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  <p:bldLst>
      <p:bldP build="whole" bldLvl="1" animBg="1" rev="0" advAuto="0" spid="225" grpId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PlaceHolder 1"/>
          <p:cNvSpPr txBox="1"/>
          <p:nvPr>
            <p:ph type="title"/>
          </p:nvPr>
        </p:nvSpPr>
        <p:spPr>
          <a:xfrm>
            <a:off x="1206359" y="1079640"/>
            <a:ext cx="21970442" cy="1434240"/>
          </a:xfrm>
          <a:prstGeom prst="rect">
            <a:avLst/>
          </a:prstGeom>
        </p:spPr>
        <p:txBody>
          <a:bodyPr/>
          <a:lstStyle>
            <a:lvl1pPr>
              <a:defRPr spc="-300"/>
            </a:lvl1pPr>
          </a:lstStyle>
          <a:p>
            <a:pPr/>
            <a:r>
              <a:t>Positive Samples Filtering</a:t>
            </a:r>
          </a:p>
        </p:txBody>
      </p:sp>
      <p:sp>
        <p:nvSpPr>
          <p:cNvPr id="228" name="PlaceHolder 2"/>
          <p:cNvSpPr txBox="1"/>
          <p:nvPr>
            <p:ph type="body" sz="quarter" idx="1"/>
          </p:nvPr>
        </p:nvSpPr>
        <p:spPr>
          <a:xfrm>
            <a:off x="1206359" y="2373120"/>
            <a:ext cx="21970442" cy="934200"/>
          </a:xfrm>
          <a:prstGeom prst="rect">
            <a:avLst/>
          </a:prstGeom>
        </p:spPr>
        <p:txBody>
          <a:bodyPr/>
          <a:lstStyle>
            <a:lvl1pPr defTabSz="825480">
              <a:defRPr b="1" sz="5500"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same Name, same File</a:t>
            </a:r>
          </a:p>
        </p:txBody>
      </p:sp>
      <p:pic>
        <p:nvPicPr>
          <p:cNvPr id="229" name="Bild" descr="Bild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2600280" y="2921760"/>
            <a:ext cx="19182960" cy="8920441"/>
          </a:xfrm>
          <a:prstGeom prst="rect">
            <a:avLst/>
          </a:prstGeom>
          <a:ln w="12700">
            <a:miter lim="400000"/>
          </a:ln>
        </p:spPr>
      </p:pic>
      <p:sp>
        <p:nvSpPr>
          <p:cNvPr id="230" name="Linie"/>
          <p:cNvSpPr/>
          <p:nvPr/>
        </p:nvSpPr>
        <p:spPr>
          <a:xfrm flipH="1">
            <a:off x="7495919" y="5144039"/>
            <a:ext cx="2309402" cy="3765961"/>
          </a:xfrm>
          <a:prstGeom prst="line">
            <a:avLst/>
          </a:prstGeom>
          <a:ln w="63500">
            <a:solidFill>
              <a:srgbClr val="EE8C00"/>
            </a:solidFill>
            <a:tailEnd type="triangle"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31" name="Linie"/>
          <p:cNvSpPr/>
          <p:nvPr/>
        </p:nvSpPr>
        <p:spPr>
          <a:xfrm>
            <a:off x="9808199" y="5180038"/>
            <a:ext cx="7225560" cy="3705843"/>
          </a:xfrm>
          <a:prstGeom prst="line">
            <a:avLst/>
          </a:prstGeom>
          <a:ln w="63500">
            <a:solidFill>
              <a:srgbClr val="EE8C00"/>
            </a:solidFill>
            <a:tailEnd type="triangle"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32" name="Slight differences in assembly"/>
          <p:cNvSpPr txBox="1"/>
          <p:nvPr/>
        </p:nvSpPr>
        <p:spPr>
          <a:xfrm>
            <a:off x="4907879" y="4398840"/>
            <a:ext cx="5381427" cy="4566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defRPr sz="32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Slight differences in assembly</a:t>
            </a:r>
          </a:p>
        </p:txBody>
      </p:sp>
    </p:spTree>
  </p:cSld>
  <p:clrMapOvr>
    <a:masterClrMapping/>
  </p:clrMapOvr>
  <p:transition xmlns:p14="http://schemas.microsoft.com/office/powerpoint/2010/main" spd="med" advClick="1"/>
  <p:timing>
    <p:tnLst>
      <p:par>
        <p:cTn id="1" nodeType="tmRoot" restart="never" dur="indefinite" fill="hold">
          <p:childTnLst>
            <p:seq concurrent="1" prevAc="none" nextAc="seek">
              <p:cTn id="2" nodeType="mainSeq" dur="indefinite" fill="hold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Class="entr" nodeType="clickEffect" presetSubtype="0" presetID="1" grpId="1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2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Class="entr" nodeType="clickEffect" presetSubtype="0" presetID="1" grpId="2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Class="entr" nodeType="clickEffect" presetSubtype="0" presetID="1" grpId="3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2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  <p:bldLst>
      <p:bldP build="whole" bldLvl="1" animBg="1" rev="0" advAuto="0" spid="231" grpId="3"/>
      <p:bldP build="whole" bldLvl="1" animBg="1" rev="0" advAuto="0" spid="230" grpId="2"/>
      <p:bldP build="whole" bldLvl="1" animBg="1" rev="0" advAuto="0" spid="232" grpId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="0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PlaceHolder 1"/>
          <p:cNvSpPr txBox="1"/>
          <p:nvPr>
            <p:ph type="title"/>
          </p:nvPr>
        </p:nvSpPr>
        <p:spPr>
          <a:xfrm>
            <a:off x="1206359" y="1079639"/>
            <a:ext cx="21970442" cy="1432443"/>
          </a:xfrm>
          <a:prstGeom prst="rect">
            <a:avLst/>
          </a:prstGeom>
        </p:spPr>
        <p:txBody>
          <a:bodyPr/>
          <a:lstStyle>
            <a:lvl1pPr>
              <a:defRPr spc="-300"/>
            </a:lvl1pPr>
          </a:lstStyle>
          <a:p>
            <a:pPr/>
            <a:r>
              <a:t>Inference</a:t>
            </a:r>
          </a:p>
        </p:txBody>
      </p:sp>
      <p:sp>
        <p:nvSpPr>
          <p:cNvPr id="235" name="PlaceHolder 2"/>
          <p:cNvSpPr txBox="1"/>
          <p:nvPr>
            <p:ph type="body" sz="quarter" idx="1"/>
          </p:nvPr>
        </p:nvSpPr>
        <p:spPr>
          <a:xfrm>
            <a:off x="1206359" y="2373120"/>
            <a:ext cx="21970442" cy="934200"/>
          </a:xfrm>
          <a:prstGeom prst="rect">
            <a:avLst/>
          </a:prstGeom>
        </p:spPr>
        <p:txBody>
          <a:bodyPr/>
          <a:lstStyle>
            <a:lvl1pPr defTabSz="1609200">
              <a:lnSpc>
                <a:spcPct val="80000"/>
              </a:lnSpc>
              <a:defRPr b="1" spc="-300" sz="5600"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Function Pools 2</a:t>
            </a:r>
          </a:p>
        </p:txBody>
      </p:sp>
      <p:sp>
        <p:nvSpPr>
          <p:cNvPr id="236" name="PlaceHolder 3"/>
          <p:cNvSpPr txBox="1"/>
          <p:nvPr/>
        </p:nvSpPr>
        <p:spPr>
          <a:xfrm>
            <a:off x="1206359" y="4248360"/>
            <a:ext cx="21970442" cy="82551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760" tIns="50760" rIns="50760" bIns="50760">
            <a:normAutofit fontScale="100000" lnSpcReduction="0"/>
          </a:bodyPr>
          <a:lstStyle/>
          <a:p>
            <a:pPr marL="609478" indent="-609478" defTabSz="2438280">
              <a:lnSpc>
                <a:spcPct val="90000"/>
              </a:lnSpc>
              <a:spcBef>
                <a:spcPts val="4500"/>
              </a:spcBef>
              <a:buClr>
                <a:srgbClr val="000000"/>
              </a:buClr>
              <a:buSzPct val="123000"/>
              <a:buFont typeface="Symbol"/>
              <a:buChar char="·"/>
              <a:defRPr sz="4800">
                <a:solidFill>
                  <a:srgbClr val="000000"/>
                </a:solidFill>
                <a:latin typeface="+mj-lt"/>
                <a:ea typeface="+mj-ea"/>
                <a:cs typeface="+mj-cs"/>
                <a:sym typeface="Helvetica Neue"/>
              </a:defRPr>
            </a:pPr>
            <a:r>
              <a:t>200 Negative Samples: 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lvl="2" marL="1828800" indent="-609480" defTabSz="2438280">
              <a:lnSpc>
                <a:spcPct val="90000"/>
              </a:lnSpc>
              <a:spcBef>
                <a:spcPts val="4500"/>
              </a:spcBef>
              <a:buClr>
                <a:srgbClr val="000000"/>
              </a:buClr>
              <a:buSzPct val="123000"/>
              <a:buFont typeface="Symbol"/>
              <a:buChar char="·"/>
              <a:defRPr sz="4800">
                <a:solidFill>
                  <a:srgbClr val="000000"/>
                </a:solidFill>
                <a:latin typeface="+mj-lt"/>
                <a:ea typeface="+mj-ea"/>
                <a:cs typeface="+mj-cs"/>
                <a:sym typeface="Helvetica Neue"/>
              </a:defRPr>
            </a:pPr>
            <a:r>
              <a:t>Randomly pick 100 samples from each of the two test projects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lvl="2" marL="1828800" indent="-609480" defTabSz="2438280">
              <a:lnSpc>
                <a:spcPct val="90000"/>
              </a:lnSpc>
              <a:spcBef>
                <a:spcPts val="4500"/>
              </a:spcBef>
              <a:buClr>
                <a:srgbClr val="000000"/>
              </a:buClr>
              <a:buSzPct val="123000"/>
              <a:buFont typeface="Symbol"/>
              <a:buChar char="·"/>
              <a:defRPr sz="4800">
                <a:solidFill>
                  <a:srgbClr val="000000"/>
                </a:solidFill>
                <a:latin typeface="+mj-lt"/>
                <a:ea typeface="+mj-ea"/>
                <a:cs typeface="+mj-cs"/>
                <a:sym typeface="Helvetica Neue"/>
              </a:defRPr>
            </a:pPr>
            <a:r>
              <a:t>Ensure each sample has a different name than the anchor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marL="609478" indent="-609478" defTabSz="2438280">
              <a:lnSpc>
                <a:spcPct val="90000"/>
              </a:lnSpc>
              <a:spcBef>
                <a:spcPts val="4500"/>
              </a:spcBef>
              <a:buClr>
                <a:srgbClr val="000000"/>
              </a:buClr>
              <a:buSzPct val="123000"/>
              <a:buFont typeface="Symbol"/>
              <a:buChar char="·"/>
              <a:defRPr sz="4800">
                <a:solidFill>
                  <a:srgbClr val="000000"/>
                </a:solidFill>
                <a:latin typeface="+mj-lt"/>
                <a:ea typeface="+mj-ea"/>
                <a:cs typeface="+mj-cs"/>
                <a:sym typeface="Helvetica Neue"/>
              </a:defRPr>
            </a:pPr>
            <a:r>
              <a:t>Anchor Function: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lvl="3" marL="2438280" indent="-609480" defTabSz="2438280">
              <a:lnSpc>
                <a:spcPct val="90000"/>
              </a:lnSpc>
              <a:spcBef>
                <a:spcPts val="4500"/>
              </a:spcBef>
              <a:buClr>
                <a:srgbClr val="000000"/>
              </a:buClr>
              <a:buSzPct val="123000"/>
              <a:buFont typeface="Symbol"/>
              <a:buChar char="·"/>
              <a:defRPr sz="4800">
                <a:solidFill>
                  <a:srgbClr val="000000"/>
                </a:solidFill>
                <a:latin typeface="+mj-lt"/>
                <a:ea typeface="+mj-ea"/>
                <a:cs typeface="+mj-cs"/>
                <a:sym typeface="Helvetica Neue"/>
              </a:defRPr>
            </a:pPr>
            <a:r>
              <a:t>Pick an arbitrary variant of similar named functions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PlaceHolder 1"/>
          <p:cNvSpPr txBox="1"/>
          <p:nvPr>
            <p:ph type="title"/>
          </p:nvPr>
        </p:nvSpPr>
        <p:spPr>
          <a:xfrm>
            <a:off x="1206359" y="1079639"/>
            <a:ext cx="21970442" cy="1432443"/>
          </a:xfrm>
          <a:prstGeom prst="rect">
            <a:avLst/>
          </a:prstGeom>
        </p:spPr>
        <p:txBody>
          <a:bodyPr/>
          <a:lstStyle>
            <a:lvl1pPr>
              <a:defRPr spc="-300"/>
            </a:lvl1pPr>
          </a:lstStyle>
          <a:p>
            <a:pPr/>
            <a:r>
              <a:t>Training Configuration</a:t>
            </a:r>
          </a:p>
        </p:txBody>
      </p:sp>
      <p:graphicFrame>
        <p:nvGraphicFramePr>
          <p:cNvPr id="239" name="Tabelle"/>
          <p:cNvGraphicFramePr/>
          <p:nvPr/>
        </p:nvGraphicFramePr>
        <p:xfrm>
          <a:off x="2877118" y="3518279"/>
          <a:ext cx="18629283" cy="8777162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0" rtl="0">
                <a:tableStyleId>{4C3C2611-4C71-4FC5-86AE-919BDF0F9419}</a:tableStyleId>
              </a:tblPr>
              <a:tblGrid>
                <a:gridCol w="9314640"/>
                <a:gridCol w="9314640"/>
              </a:tblGrid>
              <a:tr h="975240"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b="1" sz="3200">
                          <a:sym typeface="Helvetica Neue"/>
                        </a:rPr>
                        <a:t>Batch Size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96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975240"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b="1" sz="3200">
                          <a:sym typeface="Helvetica Neue"/>
                        </a:rPr>
                        <a:t>Learning Rate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0,0001 (warmup 10%)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975240"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b="1" sz="3200">
                          <a:sym typeface="Helvetica Neue"/>
                        </a:rPr>
                        <a:t>Epochs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10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975240"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b="1" sz="3200">
                          <a:sym typeface="Helvetica Neue"/>
                        </a:rPr>
                        <a:t>Number of Attention Heads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4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975240"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b="1" sz="3200">
                          <a:sym typeface="Helvetica Neue"/>
                        </a:rPr>
                        <a:t>Number of Hidden Layers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4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975240"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b="1" sz="3200">
                          <a:sym typeface="Helvetica Neue"/>
                        </a:rPr>
                        <a:t>Train Data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clamav, nmap, openssl ( ~ 1GB )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975240"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b="1" sz="3200">
                          <a:sym typeface="Helvetica Neue"/>
                        </a:rPr>
                        <a:t>Validation Data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curl ( ~ 40MB )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975240"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b="1" sz="3200">
                          <a:sym typeface="Helvetica Neue"/>
                        </a:rPr>
                        <a:t>Test Data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zlib, unrar ( ~ 400MB )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975240"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b="1" sz="3200">
                          <a:sym typeface="Helvetica Neue"/>
                        </a:rPr>
                        <a:t>Binary Data Architecture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X64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  <p:transition xmlns:p14="http://schemas.microsoft.com/office/powerpoint/2010/main" spd="med" advClick="1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PlaceHolder 1"/>
          <p:cNvSpPr txBox="1"/>
          <p:nvPr>
            <p:ph type="title"/>
          </p:nvPr>
        </p:nvSpPr>
        <p:spPr>
          <a:xfrm>
            <a:off x="1206359" y="1079639"/>
            <a:ext cx="21970442" cy="1432443"/>
          </a:xfrm>
          <a:prstGeom prst="rect">
            <a:avLst/>
          </a:prstGeom>
        </p:spPr>
        <p:txBody>
          <a:bodyPr/>
          <a:lstStyle>
            <a:lvl1pPr>
              <a:defRPr spc="-300"/>
            </a:lvl1pPr>
          </a:lstStyle>
          <a:p>
            <a:pPr/>
            <a:r>
              <a:t>Results </a:t>
            </a:r>
          </a:p>
        </p:txBody>
      </p:sp>
      <p:graphicFrame>
        <p:nvGraphicFramePr>
          <p:cNvPr id="242" name="Tabelle"/>
          <p:cNvGraphicFramePr/>
          <p:nvPr/>
        </p:nvGraphicFramePr>
        <p:xfrm>
          <a:off x="1736638" y="3136319"/>
          <a:ext cx="20910243" cy="9024122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0" rtl="0">
                <a:tableStyleId>{4C3C2611-4C71-4FC5-86AE-919BDF0F9419}</a:tableStyleId>
              </a:tblPr>
              <a:tblGrid>
                <a:gridCol w="5227560"/>
                <a:gridCol w="5227560"/>
                <a:gridCol w="5227560"/>
                <a:gridCol w="5227560"/>
              </a:tblGrid>
              <a:tr h="1289160"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MLM Split Opcodes/Operands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MRR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nDCG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Prec@10 (top_K)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1289160"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Random (baseline)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0.1305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0.8870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0.8339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1289160"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90/10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0.1316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0.8886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0.8585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1289160"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80/20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0.1316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0.8893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0.8493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1289160"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70/30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0.1285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0.8769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0.8226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1289160"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60/40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3200">
                          <a:solidFill>
                            <a:srgbClr val="000000"/>
                          </a:solidFill>
                          <a:sym typeface="Helvetica Neue"/>
                        </a:defRPr>
                      </a:pP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3200">
                          <a:solidFill>
                            <a:srgbClr val="000000"/>
                          </a:solidFill>
                          <a:sym typeface="Helvetica Neue"/>
                        </a:defRPr>
                      </a:pP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3200">
                          <a:solidFill>
                            <a:srgbClr val="000000"/>
                          </a:solidFill>
                          <a:sym typeface="Helvetica Neue"/>
                        </a:defRPr>
                      </a:pP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1289160"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20/80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0.1328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0.8935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0.8498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  <p:transition xmlns:p14="http://schemas.microsoft.com/office/powerpoint/2010/main" spd="med" advClick="1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PlaceHolder 1"/>
          <p:cNvSpPr txBox="1"/>
          <p:nvPr>
            <p:ph type="title"/>
          </p:nvPr>
        </p:nvSpPr>
        <p:spPr>
          <a:xfrm>
            <a:off x="1206359" y="1079640"/>
            <a:ext cx="21970442" cy="1432441"/>
          </a:xfrm>
          <a:prstGeom prst="rect">
            <a:avLst/>
          </a:prstGeom>
        </p:spPr>
        <p:txBody>
          <a:bodyPr/>
          <a:lstStyle>
            <a:lvl1pPr>
              <a:defRPr spc="-300"/>
            </a:lvl1pPr>
          </a:lstStyle>
          <a:p>
            <a:pPr/>
            <a:r>
              <a:t>Results (p_operand normalized)</a:t>
            </a:r>
          </a:p>
        </p:txBody>
      </p:sp>
      <p:graphicFrame>
        <p:nvGraphicFramePr>
          <p:cNvPr id="245" name="Tabelle"/>
          <p:cNvGraphicFramePr/>
          <p:nvPr/>
        </p:nvGraphicFramePr>
        <p:xfrm>
          <a:off x="1736880" y="4279679"/>
          <a:ext cx="20910240" cy="5156641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0" rtl="0">
                <a:tableStyleId>{4C3C2611-4C71-4FC5-86AE-919BDF0F9419}</a:tableStyleId>
              </a:tblPr>
              <a:tblGrid>
                <a:gridCol w="5227560"/>
                <a:gridCol w="5227560"/>
                <a:gridCol w="5227560"/>
                <a:gridCol w="5227560"/>
              </a:tblGrid>
              <a:tr h="1289160"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MLM Split Opcodes/Operands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MRR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nDCG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Prec@10 (top_K)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1289160"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Random (baseline)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0.1305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0.8339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0.8870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1289160"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80/20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0.1343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0.9012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0.8718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1289160"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20/80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3200">
                          <a:solidFill>
                            <a:srgbClr val="000000"/>
                          </a:solidFill>
                          <a:sym typeface="Helvetica Neue"/>
                        </a:defRPr>
                      </a:pP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3200">
                          <a:solidFill>
                            <a:srgbClr val="000000"/>
                          </a:solidFill>
                          <a:sym typeface="Helvetica Neue"/>
                        </a:defRPr>
                      </a:pP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3200">
                          <a:solidFill>
                            <a:srgbClr val="000000"/>
                          </a:solidFill>
                          <a:sym typeface="Helvetica Neue"/>
                        </a:defRPr>
                      </a:pP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21_BasicWhite">
  <a:themeElements>
    <a:clrScheme name="21_BasicWhite">
      <a:dk1>
        <a:srgbClr val="5E5E5E"/>
      </a:dk1>
      <a:lt1>
        <a:srgbClr val="FFFFFF"/>
      </a:lt1>
      <a:dk2>
        <a:srgbClr val="A7A7A7"/>
      </a:dk2>
      <a:lt2>
        <a:srgbClr val="535353"/>
      </a:lt2>
      <a:accent1>
        <a:srgbClr val="00A2FF"/>
      </a:accent1>
      <a:accent2>
        <a:srgbClr val="16E7CF"/>
      </a:accent2>
      <a:accent3>
        <a:srgbClr val="61D836"/>
      </a:accent3>
      <a:accent4>
        <a:srgbClr val="FFD932"/>
      </a:accent4>
      <a:accent5>
        <a:srgbClr val="FF644E"/>
      </a:accent5>
      <a:accent6>
        <a:srgbClr val="FF42A1"/>
      </a:accent6>
      <a:hlink>
        <a:srgbClr val="0000FF"/>
      </a:hlink>
      <a:folHlink>
        <a:srgbClr val="FF00FF"/>
      </a:folHlink>
    </a:clrScheme>
    <a:fontScheme name="21_BasicWhite">
      <a:majorFont>
        <a:latin typeface="Helvetica Neue"/>
        <a:ea typeface="Helvetica Neue"/>
        <a:cs typeface="Helvetica Neue"/>
      </a:majorFont>
      <a:minorFont>
        <a:latin typeface="Helvetica"/>
        <a:ea typeface="Helvetica"/>
        <a:cs typeface="Helvetica"/>
      </a:minorFont>
    </a:fontScheme>
    <a:fmtScheme name="21_Basic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5E5E5E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5E5E5E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21_BasicWhite">
  <a:themeElements>
    <a:clrScheme name="21_BasicWhit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00A2FF"/>
      </a:accent1>
      <a:accent2>
        <a:srgbClr val="16E7CF"/>
      </a:accent2>
      <a:accent3>
        <a:srgbClr val="61D836"/>
      </a:accent3>
      <a:accent4>
        <a:srgbClr val="FFD932"/>
      </a:accent4>
      <a:accent5>
        <a:srgbClr val="FF644E"/>
      </a:accent5>
      <a:accent6>
        <a:srgbClr val="FF42A1"/>
      </a:accent6>
      <a:hlink>
        <a:srgbClr val="0000FF"/>
      </a:hlink>
      <a:folHlink>
        <a:srgbClr val="FF00FF"/>
      </a:folHlink>
    </a:clrScheme>
    <a:fontScheme name="21_BasicWhite">
      <a:majorFont>
        <a:latin typeface="Helvetica Neue"/>
        <a:ea typeface="Helvetica Neue"/>
        <a:cs typeface="Helvetica Neue"/>
      </a:majorFont>
      <a:minorFont>
        <a:latin typeface="Helvetica"/>
        <a:ea typeface="Helvetica"/>
        <a:cs typeface="Helvetica"/>
      </a:minorFont>
    </a:fontScheme>
    <a:fmtScheme name="21_Basic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5E5E5E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5E5E5E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
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24384000" cy="13716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46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Agenda-Titel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206360" y="2373120"/>
            <a:ext cx="21970800" cy="9345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55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Agenda-Untertitel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206360" y="4248360"/>
            <a:ext cx="21970800" cy="82555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825480">
              <a:lnSpc>
                <a:spcPct val="100000"/>
              </a:lnSpc>
              <a:spcBef>
                <a:spcPts val="1800"/>
              </a:spcBef>
              <a:buNone/>
              <a:tabLst>
                <a:tab algn="l" pos="0"/>
              </a:tabLst>
            </a:pPr>
            <a:r>
              <a:rPr b="0" lang="de-DE" sz="5500" spc="-54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Agendathemen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spcBef>
                <a:spcPts val="1800"/>
              </a:spcBef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spcBef>
                <a:spcPts val="1800"/>
              </a:spcBef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spcBef>
                <a:spcPts val="1800"/>
              </a:spcBef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spcBef>
                <a:spcPts val="1800"/>
              </a:spcBef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Aufstell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body"/>
          </p:nvPr>
        </p:nvSpPr>
        <p:spPr>
          <a:xfrm>
            <a:off x="1206360" y="4920840"/>
            <a:ext cx="21970800" cy="38739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algn="ctr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de-DE" sz="11600" spc="-232" strike="noStrike" u="none">
                <a:solidFill>
                  <a:srgbClr val="000000"/>
                </a:solidFill>
                <a:effectLst/>
                <a:uFillTx/>
                <a:latin typeface="Helvetica Neue Medium"/>
                <a:ea typeface="Helvetica Neue Medium"/>
              </a:rPr>
              <a:t>Aufstellung</a:t>
            </a:r>
            <a:endParaRPr b="0" lang="de-DE" sz="116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algn="ctr" defTabSz="2438280">
              <a:lnSpc>
                <a:spcPct val="80000"/>
              </a:lnSpc>
              <a:buNone/>
              <a:tabLst>
                <a:tab algn="l" pos="0"/>
              </a:tabLst>
            </a:pPr>
            <a:endParaRPr b="0" lang="de-DE" sz="116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algn="ctr" defTabSz="2438280">
              <a:lnSpc>
                <a:spcPct val="80000"/>
              </a:lnSpc>
              <a:buNone/>
              <a:tabLst>
                <a:tab algn="l" pos="0"/>
              </a:tabLst>
            </a:pPr>
            <a:endParaRPr b="0" lang="de-DE" sz="116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algn="ctr" defTabSz="2438280">
              <a:lnSpc>
                <a:spcPct val="80000"/>
              </a:lnSpc>
              <a:buNone/>
              <a:tabLst>
                <a:tab algn="l" pos="0"/>
              </a:tabLst>
            </a:pPr>
            <a:endParaRPr b="0" lang="de-DE" sz="116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algn="ctr" defTabSz="2438280">
              <a:lnSpc>
                <a:spcPct val="80000"/>
              </a:lnSpc>
              <a:buNone/>
              <a:tabLst>
                <a:tab algn="l" pos="0"/>
              </a:tabLst>
            </a:pPr>
            <a:endParaRPr b="0" lang="de-DE" sz="116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2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akt (groß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body"/>
          </p:nvPr>
        </p:nvSpPr>
        <p:spPr>
          <a:xfrm>
            <a:off x="1206360" y="1076040"/>
            <a:ext cx="21970800" cy="7241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 algn="ctr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25000" spc="-249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100 %</a:t>
            </a:r>
            <a:endParaRPr b="0" lang="de-DE" sz="250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algn="ctr" defTabSz="2438280">
              <a:lnSpc>
                <a:spcPct val="80000"/>
              </a:lnSpc>
              <a:buNone/>
              <a:tabLst>
                <a:tab algn="l" pos="0"/>
              </a:tabLst>
            </a:pPr>
            <a:endParaRPr b="0" lang="de-DE" sz="250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algn="ctr" defTabSz="2438280">
              <a:lnSpc>
                <a:spcPct val="80000"/>
              </a:lnSpc>
              <a:buNone/>
              <a:tabLst>
                <a:tab algn="l" pos="0"/>
              </a:tabLst>
            </a:pPr>
            <a:endParaRPr b="0" lang="de-DE" sz="250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algn="ctr" defTabSz="2438280">
              <a:lnSpc>
                <a:spcPct val="80000"/>
              </a:lnSpc>
              <a:buNone/>
              <a:tabLst>
                <a:tab algn="l" pos="0"/>
              </a:tabLst>
            </a:pPr>
            <a:endParaRPr b="0" lang="de-DE" sz="250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algn="ctr" defTabSz="2438280">
              <a:lnSpc>
                <a:spcPct val="80000"/>
              </a:lnSpc>
              <a:buNone/>
              <a:tabLst>
                <a:tab algn="l" pos="0"/>
              </a:tabLst>
            </a:pPr>
            <a:endParaRPr b="0" lang="de-DE" sz="250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206360" y="8262360"/>
            <a:ext cx="21970800" cy="9345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55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Fakten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3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Zita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body"/>
          </p:nvPr>
        </p:nvSpPr>
        <p:spPr>
          <a:xfrm>
            <a:off x="2430000" y="10675440"/>
            <a:ext cx="20199600" cy="63648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36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Quellenangabe</a:t>
            </a:r>
            <a:endParaRPr b="0" lang="de-DE" sz="36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53920" y="4939920"/>
            <a:ext cx="20875680" cy="3835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marL="639000" indent="-469800" defTabSz="243828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de-DE" sz="8500" spc="-170" strike="noStrike" u="none">
                <a:solidFill>
                  <a:srgbClr val="000000"/>
                </a:solidFill>
                <a:effectLst/>
                <a:uFillTx/>
                <a:latin typeface="Helvetica Neue Medium"/>
                <a:ea typeface="Helvetica Neue Medium"/>
              </a:rPr>
              <a:t>„Bemerkenswert“</a:t>
            </a:r>
            <a:endParaRPr b="0" lang="de-DE" sz="8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39000" indent="-12600" defTabSz="2438280">
              <a:lnSpc>
                <a:spcPct val="90000"/>
              </a:lnSpc>
              <a:buNone/>
              <a:tabLst>
                <a:tab algn="l" pos="0"/>
              </a:tabLst>
            </a:pPr>
            <a:endParaRPr b="0" lang="de-DE" sz="8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39000" indent="444600" defTabSz="2438280">
              <a:lnSpc>
                <a:spcPct val="90000"/>
              </a:lnSpc>
              <a:buNone/>
              <a:tabLst>
                <a:tab algn="l" pos="0"/>
              </a:tabLst>
            </a:pPr>
            <a:endParaRPr b="0" lang="de-DE" sz="8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39000" indent="901800" defTabSz="2438280">
              <a:lnSpc>
                <a:spcPct val="90000"/>
              </a:lnSpc>
              <a:buNone/>
              <a:tabLst>
                <a:tab algn="l" pos="0"/>
              </a:tabLst>
            </a:pPr>
            <a:endParaRPr b="0" lang="de-DE" sz="8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39000" indent="1359000" defTabSz="2438280">
              <a:lnSpc>
                <a:spcPct val="90000"/>
              </a:lnSpc>
              <a:buNone/>
              <a:tabLst>
                <a:tab algn="l" pos="0"/>
              </a:tabLst>
            </a:pPr>
            <a:endParaRPr b="0" lang="de-DE" sz="8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4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to - 3 Stüc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body"/>
          </p:nvPr>
        </p:nvSpPr>
        <p:spPr>
          <a:xfrm>
            <a:off x="15760800" y="1015920"/>
            <a:ext cx="7438680" cy="594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Click to edit the outline text format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Second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Third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Fourth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Fifth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Sixth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Seventh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13500000" y="3978360"/>
            <a:ext cx="10438920" cy="1215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Click to edit the outline text format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Second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Third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Fourth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Fifth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Sixth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Seventh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-139680" y="495360"/>
            <a:ext cx="16611120" cy="1245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Click to edit the outline text format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Second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Third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Fourth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Fifth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Sixth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Seventh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5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body"/>
          </p:nvPr>
        </p:nvSpPr>
        <p:spPr>
          <a:xfrm>
            <a:off x="-1333440" y="-5524560"/>
            <a:ext cx="27050760" cy="2164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Click to edit the outline text format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Second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Third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Fourth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Fifth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Sixth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Seventh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6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ldNum" idx="7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body"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36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Autor und Datum</a:t>
            </a:r>
            <a:endParaRPr b="0" lang="de-DE" sz="36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11600" spc="-232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Titel der Präsentation</a:t>
            </a:r>
            <a:endParaRPr b="0" lang="de-DE" sz="116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1201320" y="7223040"/>
            <a:ext cx="21970800" cy="19047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55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Präsentationsuntertitel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8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el &amp; F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body"/>
          </p:nvPr>
        </p:nvSpPr>
        <p:spPr>
          <a:xfrm>
            <a:off x="-1155600" y="-1295280"/>
            <a:ext cx="26745840" cy="1601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Click to edit the outline text format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Second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Third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Fourth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Fifth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Sixth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Seventh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title"/>
          </p:nvPr>
        </p:nvSpPr>
        <p:spPr>
          <a:xfrm>
            <a:off x="1206360" y="7124760"/>
            <a:ext cx="21970800" cy="46479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11600" spc="-232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Titel der Präsentation</a:t>
            </a:r>
            <a:endParaRPr b="0" lang="de-DE" sz="116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1207800" y="1106280"/>
            <a:ext cx="21968280" cy="63648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36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Autor und Datum</a:t>
            </a:r>
            <a:endParaRPr b="0" lang="de-DE" sz="36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1206360" y="11610000"/>
            <a:ext cx="21970800" cy="11167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55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Präsentationsuntertitel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el &amp; Foto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body"/>
          </p:nvPr>
        </p:nvSpPr>
        <p:spPr>
          <a:xfrm>
            <a:off x="10972800" y="-203040"/>
            <a:ext cx="12144600" cy="1413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Click to edit the outline text format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Second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Third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Fourth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Fifth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Sixth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Seventh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1206360" y="1270080"/>
            <a:ext cx="9778680" cy="58820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Folientitel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1206360" y="7060680"/>
            <a:ext cx="9778680" cy="53852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55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Folien-Untertitel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12001320" y="1308528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el &amp; Pun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2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Folientitel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206360" y="2373120"/>
            <a:ext cx="21970800" cy="9345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55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Folien-Untertitel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206360" y="4248360"/>
            <a:ext cx="21970800" cy="82555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Text für Folienpunkt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sldNum" idx="11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un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body"/>
          </p:nvPr>
        </p:nvSpPr>
        <p:spPr>
          <a:xfrm>
            <a:off x="1206360" y="4248360"/>
            <a:ext cx="21970800" cy="8255520"/>
          </a:xfrm>
          <a:prstGeom prst="rect">
            <a:avLst/>
          </a:prstGeom>
          <a:noFill/>
          <a:ln w="12600">
            <a:noFill/>
          </a:ln>
        </p:spPr>
        <p:txBody>
          <a:bodyPr numCol="2" spcCol="1098720" lIns="50760" rIns="50760" tIns="50760" bIns="50760" anchor="t">
            <a:noAutofit/>
          </a:bodyPr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Text für Folienpunkt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ldNum" idx="12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el, Punkte &amp; F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body"/>
          </p:nvPr>
        </p:nvSpPr>
        <p:spPr>
          <a:xfrm>
            <a:off x="1206360" y="2373120"/>
            <a:ext cx="9778680" cy="9345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55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Folien-Untertitel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1206360" y="4248360"/>
            <a:ext cx="9778680" cy="82562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Text für Folienpunkt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indent="0" defTabSz="2438280">
              <a:lnSpc>
                <a:spcPct val="90000"/>
              </a:lnSpc>
              <a:spcBef>
                <a:spcPts val="4501"/>
              </a:spcBef>
              <a:buNone/>
            </a:pP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12192120" y="-407160"/>
            <a:ext cx="10916640" cy="1455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Click to edit the outline text format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Second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Third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Fourth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Fifth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Sixth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Helvetica Neue"/>
              </a:rPr>
              <a:t>Seventh Outline Level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9778680" cy="14346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Folientitel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13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Abschnit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206360" y="4533840"/>
            <a:ext cx="21970800" cy="46479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de-DE" sz="11600" spc="-232" strike="noStrike" u="none">
                <a:solidFill>
                  <a:srgbClr val="000000"/>
                </a:solidFill>
                <a:effectLst/>
                <a:uFillTx/>
                <a:latin typeface="Helvetica Neue Medium"/>
                <a:ea typeface="Helvetica Neue Medium"/>
              </a:rPr>
              <a:t>Titel des Abschnitts</a:t>
            </a:r>
            <a:endParaRPr b="0" lang="de-DE" sz="116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14"/>
          </p:nvPr>
        </p:nvSpPr>
        <p:spPr>
          <a:xfrm>
            <a:off x="12001320" y="1308528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46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Folientitel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1206360" y="2373120"/>
            <a:ext cx="21970800" cy="9345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55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Folien-Untertitel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15"/>
          </p:nvPr>
        </p:nvSpPr>
        <p:spPr>
          <a:xfrm>
            <a:off x="12001320" y="13080960"/>
            <a:ext cx="368280" cy="374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>
              <a:buNone/>
            </a:pPr>
            <a:endParaRPr b="0" lang="de-DE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/>
          </p:nvPr>
        </p:nvSpPr>
        <p:spPr>
          <a:xfrm>
            <a:off x="1201320" y="11859840"/>
            <a:ext cx="21970800" cy="63648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36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Roman Rankl, Julian Geißinger</a:t>
            </a:r>
            <a:endParaRPr b="0" lang="de-DE" sz="36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title"/>
          </p:nvPr>
        </p:nvSpPr>
        <p:spPr>
          <a:xfrm>
            <a:off x="1206360" y="2575080"/>
            <a:ext cx="21970800" cy="46479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11600" spc="-232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Binary Analysis using BERT</a:t>
            </a:r>
            <a:endParaRPr b="0" lang="de-DE" sz="116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ubTitle"/>
          </p:nvPr>
        </p:nvSpPr>
        <p:spPr>
          <a:xfrm>
            <a:off x="1201320" y="7223040"/>
            <a:ext cx="21970800" cy="19047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55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Explainability of the Input Space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2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Motivation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1206360" y="2992680"/>
            <a:ext cx="21970800" cy="82555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Measure the importance of certain model inputs for learning about binary function similarity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CLAP highlights the importance of instructions containing specific opcodes (like „call“ ) within a function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Our approach tries to extend the understanding about the relevance of certain inputs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Instead of measuring the importance between different instructions, we compare the parts of an instruction ( opcode vs. operands )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2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Training Pipeline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pic>
        <p:nvPicPr>
          <p:cNvPr id="56" name="Bild" descr="Bild"/>
          <p:cNvPicPr/>
          <p:nvPr/>
        </p:nvPicPr>
        <p:blipFill>
          <a:blip r:embed="rId1"/>
          <a:stretch/>
        </p:blipFill>
        <p:spPr>
          <a:xfrm>
            <a:off x="4816080" y="2320560"/>
            <a:ext cx="14751360" cy="10056960"/>
          </a:xfrm>
          <a:prstGeom prst="rect">
            <a:avLst/>
          </a:prstGeom>
          <a:noFill/>
          <a:ln w="127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2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Opcode vs. Operand Statistic Masking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1206360" y="2373120"/>
            <a:ext cx="21970800" cy="9345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1" lang="de-DE" sz="5500" strike="noStrike" u="none">
              <a:solidFill>
                <a:srgbClr val="000000"/>
              </a:solidFill>
              <a:effectLst/>
              <a:uFillTx/>
              <a:latin typeface="Helvetica Neue"/>
              <a:ea typeface="Helvetica Neue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1206360" y="4248360"/>
            <a:ext cx="21970800" cy="82555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shift the models focus on either opcodes or operands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to train our BERT model we base on traditional Masked Language Modeling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we measure the importance of each category by setting a statistic focus on opcodes and operands 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The category we want to focus on is masked with a 80% probability while the other one receives a 20% masking probability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2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Inference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1206360" y="2373120"/>
            <a:ext cx="21970800" cy="9345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55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Function Pools</a:t>
            </a:r>
            <a:endParaRPr b="0" lang="de-DE" sz="55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1206360" y="3656160"/>
            <a:ext cx="21970800" cy="82555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marL="560880" indent="-560880" defTabSz="2243160">
              <a:lnSpc>
                <a:spcPct val="90000"/>
              </a:lnSpc>
              <a:spcBef>
                <a:spcPts val="4099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42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Each function pool follows the same structure:</a:t>
            </a:r>
            <a:endParaRPr b="0" lang="de-DE" sz="442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560880" indent="-560880" defTabSz="2243160">
              <a:lnSpc>
                <a:spcPct val="90000"/>
              </a:lnSpc>
              <a:spcBef>
                <a:spcPts val="4099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42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1 Anchor Function, N-Positive Samples, 200 Negative Samples, where N &gt; 7 to only include pools with sufficient function variants</a:t>
            </a:r>
            <a:endParaRPr b="0" lang="de-DE" sz="442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560880" indent="-560880" defTabSz="2243160">
              <a:lnSpc>
                <a:spcPct val="90000"/>
              </a:lnSpc>
              <a:spcBef>
                <a:spcPts val="4099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42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N-Positive Samples:</a:t>
            </a:r>
            <a:endParaRPr b="0" lang="de-DE" sz="442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2243160" indent="-560880" defTabSz="2243160">
              <a:lnSpc>
                <a:spcPct val="90000"/>
              </a:lnSpc>
              <a:spcBef>
                <a:spcPts val="4099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42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N = number of all positive samples across each test project</a:t>
            </a:r>
            <a:endParaRPr b="0" lang="de-DE" sz="442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2243160" indent="-560880" defTabSz="2243160">
              <a:lnSpc>
                <a:spcPct val="90000"/>
              </a:lnSpc>
              <a:spcBef>
                <a:spcPts val="4099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42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Samples that have the same f_name and same file origin are filtered out (duplicates)</a:t>
            </a:r>
            <a:endParaRPr b="0" lang="de-DE" sz="442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2243160" indent="-560880" defTabSz="2243160">
              <a:lnSpc>
                <a:spcPct val="90000"/>
              </a:lnSpc>
              <a:spcBef>
                <a:spcPts val="4099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42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filter out function variants which contain the exact same assembly instructions, but differ in file origin (prevent spoiling the measurements)</a:t>
            </a:r>
            <a:endParaRPr b="0" lang="de-DE" sz="442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2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Inference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1206360" y="2373120"/>
            <a:ext cx="21970800" cy="9345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 defTabSz="160920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5610" spc="-113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Function Pools 2</a:t>
            </a:r>
            <a:endParaRPr b="0" lang="de-DE" sz="561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206360" y="4248360"/>
            <a:ext cx="21970800" cy="82555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200 Negative Samples: 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Randomly pick 100 samples from each of the two test projects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Ensure each sample has a different name than the anchor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Anchor Function: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lvl="3" marL="24382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pick an arbitrary variant of similar named functions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2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Inference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1206360" y="2373120"/>
            <a:ext cx="21970800" cy="934560"/>
          </a:xfrm>
          <a:prstGeom prst="rect">
            <a:avLst/>
          </a:prstGeom>
          <a:noFill/>
          <a:ln w="12600">
            <a:noFill/>
          </a:ln>
        </p:spPr>
        <p:txBody>
          <a:bodyPr lIns="45720" rIns="4572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1" lang="de-DE" sz="5500" strike="noStrike" u="none">
              <a:solidFill>
                <a:srgbClr val="000000"/>
              </a:solidFill>
              <a:effectLst/>
              <a:uFillTx/>
              <a:latin typeface="Helvetica Neue"/>
              <a:ea typeface="Helvetica Neue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1206360" y="4248360"/>
            <a:ext cx="21970800" cy="82555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Precompute the output embeddings of the anchor functions of all pools and store them for lookup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Batch process candidates of each pool and compute cosine similarity between anchor &amp; candidates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  <a:p>
            <a:pPr marL="609480" indent="-609480" defTabSz="2438280">
              <a:lnSpc>
                <a:spcPct val="90000"/>
              </a:lnSpc>
              <a:spcBef>
                <a:spcPts val="4501"/>
              </a:spcBef>
              <a:buClr>
                <a:srgbClr val="000000"/>
              </a:buClr>
              <a:buSzPct val="123000"/>
              <a:buFont typeface="Symbol" charset="2"/>
              <a:buChar char=""/>
            </a:pPr>
            <a:r>
              <a:rPr b="0" lang="de-DE" sz="480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Take measurements based on the cosine similarities (MRR, Top_K, nDCG)</a:t>
            </a:r>
            <a:endParaRPr b="0" lang="de-DE" sz="4800" strike="noStrike" u="none">
              <a:solidFill>
                <a:srgbClr val="000000"/>
              </a:solidFill>
              <a:effectLst/>
              <a:uFillTx/>
              <a:latin typeface="Helvetica Neue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2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Training Hyperparameters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graphicFrame>
        <p:nvGraphicFramePr>
          <p:cNvPr id="70" name="Tabelle"/>
          <p:cNvGraphicFramePr/>
          <p:nvPr/>
        </p:nvGraphicFramePr>
        <p:xfrm>
          <a:off x="2877120" y="3518280"/>
          <a:ext cx="18629280" cy="8152560"/>
        </p:xfrm>
        <a:graphic>
          <a:graphicData uri="http://schemas.openxmlformats.org/drawingml/2006/table">
            <a:tbl>
              <a:tblPr/>
              <a:tblGrid>
                <a:gridCol w="9314640"/>
                <a:gridCol w="9314640"/>
              </a:tblGrid>
              <a:tr h="101880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Batch Size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8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1880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Learning Rate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0.0001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1880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Epochs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2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1880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Number of Attention Heads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8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1880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Number of Hidden Layers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4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1880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Train Data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clamav, nmap, openssl ( ~ 1GB )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1880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Validation Data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curl ( ~ 40MB )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1880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Test Data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zlib, unrar ( ~ 400MB )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1206360" y="1079640"/>
            <a:ext cx="21970800" cy="1432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defTabSz="2438280">
              <a:lnSpc>
                <a:spcPct val="80000"/>
              </a:lnSpc>
              <a:buNone/>
              <a:tabLst>
                <a:tab algn="l" pos="0"/>
              </a:tabLst>
            </a:pPr>
            <a:r>
              <a:rPr b="1" lang="de-DE" sz="8500" spc="-170" strike="noStrike" u="none"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</a:rPr>
              <a:t>Results</a:t>
            </a:r>
            <a:endParaRPr b="0" lang="de-DE" sz="8500" strike="noStrike" u="none">
              <a:solidFill>
                <a:srgbClr val="5e5e5e"/>
              </a:solidFill>
              <a:effectLst/>
              <a:uFillTx/>
              <a:latin typeface="Helvetica Neue"/>
            </a:endParaRPr>
          </a:p>
        </p:txBody>
      </p:sp>
      <p:graphicFrame>
        <p:nvGraphicFramePr>
          <p:cNvPr id="72" name="Tabelle"/>
          <p:cNvGraphicFramePr/>
          <p:nvPr/>
        </p:nvGraphicFramePr>
        <p:xfrm>
          <a:off x="1670760" y="3283200"/>
          <a:ext cx="21042360" cy="8242920"/>
        </p:xfrm>
        <a:graphic>
          <a:graphicData uri="http://schemas.openxmlformats.org/drawingml/2006/table">
            <a:tbl>
              <a:tblPr/>
              <a:tblGrid>
                <a:gridCol w="4208400"/>
                <a:gridCol w="4208400"/>
                <a:gridCol w="4208400"/>
                <a:gridCol w="4208400"/>
                <a:gridCol w="4208400"/>
              </a:tblGrid>
              <a:tr h="2060640">
                <a:tc>
                  <a:txBody>
                    <a:bodyPr lIns="50760" rIns="50760" tIns="50760" bIns="50760" anchor="ctr">
                      <a:noAutofit/>
                    </a:bodyPr>
                    <a:p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? Top Eval Loss ?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MRR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nDCG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Top_K* 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6064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Traditional MLM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</a:rPr>
                        <a:t>0.108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</a:rPr>
                        <a:t>0.855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</a:rPr>
                        <a:t>0.870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6064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MLM -&gt; Opcodes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</a:rPr>
                        <a:t>0.108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</a:rPr>
                        <a:t>0.840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</a:rPr>
                        <a:t>0.867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60640"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-DE" sz="3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Helvetica Neue"/>
                          <a:ea typeface="Helvetica Neue"/>
                        </a:rPr>
                        <a:t>MLM -&gt; Operands</a:t>
                      </a:r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50760" rIns="50760" tIns="50760" bIns="50760" anchor="ctr">
                      <a:noAutofit/>
                    </a:bodyPr>
                    <a:p>
                      <a:pPr algn="ctr"/>
                      <a:endParaRPr b="0" lang="de-DE" sz="3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Helvetica Neue"/>
                        <a:ea typeface="Helvetica Neue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 pitchFamily="0" charset="1"/>
        <a:ea typeface="Helvetica Neue" pitchFamily="0" charset="1"/>
        <a:cs typeface="Helvetica Neue" pitchFamily="0" charset="1"/>
      </a:majorFont>
      <a:minorFont>
        <a:latin typeface="Helvetica Neue" pitchFamily="0" charset="1"/>
        <a:ea typeface="Helvetica Neue" pitchFamily="0" charset="1"/>
        <a:cs typeface="Helvetica Neue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LibreOffice/25.8.3.2$Linux_X86_64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de-DE</dc:language>
  <cp:lastModifiedBy/>
  <dcterms:modified xsi:type="dcterms:W3CDTF">2026-01-30T03:24:50Z</dcterms:modified>
  <cp:revision>1</cp:revision>
  <dc:subject/>
  <dc:title/>
</cp:coreProperties>
</file>
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10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_rels/presentation.xml.rels" ContentType="application/vnd.openxmlformats-package.relationships+xml"/>
  <Override PartName="/ppt/comments/comment3.xml" ContentType="application/vnd.openxmlformats-officedocument.presentationml.comments+xml"/>
  <Override PartName="/ppt/presentation.xml" ContentType="application/vnd.openxmlformats-officedocument.presentationml.presentation.main+xml"/>
  <Override PartName="/ppt/commentAuthors.xml" ContentType="application/vnd.openxmlformats-officedocument.presentationml.commentAuthor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24384000" cy="13716000"/>
  <p:notesSz cx="7559675" cy="10691813"/>
</p:presentation>
</file>

<file path=ppt/commentAuthors.xml><?xml version="1.0" encoding="utf-8"?>
<p:cmAuthorLst xmlns:p="http://schemas.openxmlformats.org/presentationml/2006/main">
  <p:cmAuthor id="0" name="Julian Geißinger" initials="JG" lastIdx="1" clrIdx="0"/>
</p:cmAuthorLst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<Relationship Id="rId18" Type="http://schemas.openxmlformats.org/officeDocument/2006/relationships/commentAuthors" Target="commentAuthors.xml"/>
</Relationships>
</file>

<file path=ppt/comments/comment3.xml><?xml version="1.0" encoding="utf-8"?>
<p:cmLst xmlns:p="http://schemas.openxmlformats.org/presentationml/2006/main">
  <p:cm authorId="0" dt="2026-02-09T22:48:11.927000000" idx="1">
    <p:pos x="7558" y="1080"/>
    <p:text>We use the tokenization of clap because it preserves opcodes as one token, which is needed for our opcode categorization during own Masking Approach</p:text>
  </p:cm>
</p:cmLst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el &amp; F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body"/>
          </p:nvPr>
        </p:nvSpPr>
        <p:spPr>
          <a:xfrm>
            <a:off x="-1155600" y="-1295280"/>
            <a:ext cx="26745480" cy="16018200"/>
          </a:xfrm>
          <a:prstGeom prst="rect">
            <a:avLst/>
          </a:prstGeom>
          <a:noFill/>
          <a:ln w="12600">
            <a:noFill/>
          </a:ln>
        </p:spPr>
        <p:txBody>
          <a:bodyPr numCol="1" spcCol="38160" lIns="45720" rIns="4572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1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2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3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4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5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1206360" y="7124760"/>
            <a:ext cx="21970440" cy="46476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rm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de-DE" sz="11600" spc="-232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Titeltex</a:t>
            </a:r>
            <a:r>
              <a:rPr b="1" lang="de-DE" sz="11600" spc="-232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</a:t>
            </a:r>
            <a:endParaRPr b="0" lang="de-DE" sz="11600" strike="noStrike" u="none">
              <a:solidFill>
                <a:srgbClr val="5e5e5e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1206360" y="11610000"/>
            <a:ext cx="21970440" cy="1116360"/>
          </a:xfrm>
          <a:prstGeom prst="rect">
            <a:avLst/>
          </a:prstGeom>
          <a:noFill/>
          <a:ln w="12600">
            <a:noFill/>
          </a:ln>
        </p:spPr>
        <p:txBody>
          <a:bodyPr numCol="1" spcCol="38160" lIns="50760" rIns="50760" tIns="50760" bIns="5076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>
          <a:xfrm>
            <a:off x="12001320" y="13074480"/>
            <a:ext cx="368280" cy="3805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el &amp; Foto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body"/>
          </p:nvPr>
        </p:nvSpPr>
        <p:spPr>
          <a:xfrm>
            <a:off x="10972800" y="-203040"/>
            <a:ext cx="12144240" cy="14134320"/>
          </a:xfrm>
          <a:prstGeom prst="rect">
            <a:avLst/>
          </a:prstGeom>
          <a:noFill/>
          <a:ln w="12600">
            <a:noFill/>
          </a:ln>
        </p:spPr>
        <p:txBody>
          <a:bodyPr numCol="1" spcCol="38160" lIns="45720" rIns="4572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1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2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3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4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5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1206360" y="1270080"/>
            <a:ext cx="9778320" cy="588168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rm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de-DE" sz="8500" spc="-17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Titeltext</a:t>
            </a:r>
            <a:endParaRPr b="0" lang="de-DE" sz="8500" strike="noStrike" u="none">
              <a:solidFill>
                <a:srgbClr val="5e5e5e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1206360" y="7060680"/>
            <a:ext cx="9778320" cy="5384880"/>
          </a:xfrm>
          <a:prstGeom prst="rect">
            <a:avLst/>
          </a:prstGeom>
          <a:noFill/>
          <a:ln w="12600">
            <a:noFill/>
          </a:ln>
        </p:spPr>
        <p:txBody>
          <a:bodyPr numCol="1" spcCol="38160" lIns="50760" rIns="50760" tIns="50760" bIns="5076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sldNum" idx="2"/>
          </p:nvPr>
        </p:nvSpPr>
        <p:spPr>
          <a:xfrm>
            <a:off x="12001320" y="13078800"/>
            <a:ext cx="368280" cy="3805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el &amp; Punk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206360" y="1079640"/>
            <a:ext cx="21970440" cy="14324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de-DE" sz="8500" spc="-17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Titeltext</a:t>
            </a:r>
            <a:endParaRPr b="0" lang="de-DE" sz="8500" strike="noStrike" u="none">
              <a:solidFill>
                <a:srgbClr val="5e5e5e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1206360" y="2373120"/>
            <a:ext cx="21970440" cy="934200"/>
          </a:xfrm>
          <a:prstGeom prst="rect">
            <a:avLst/>
          </a:prstGeom>
          <a:noFill/>
          <a:ln w="12600">
            <a:noFill/>
          </a:ln>
        </p:spPr>
        <p:txBody>
          <a:bodyPr numCol="1" spcCol="38160" lIns="45720" rIns="45720" tIns="45720" bIns="45720" anchor="t">
            <a:noAutofit/>
          </a:bodyPr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55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1</a:t>
            </a:r>
            <a:endParaRPr b="0" lang="de-DE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55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2</a:t>
            </a:r>
            <a:endParaRPr b="0" lang="de-DE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55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3</a:t>
            </a:r>
            <a:endParaRPr b="0" lang="de-DE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55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4</a:t>
            </a:r>
            <a:endParaRPr b="0" lang="de-DE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55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5</a:t>
            </a:r>
            <a:endParaRPr b="0" lang="de-DE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1206360" y="4248360"/>
            <a:ext cx="21970440" cy="8255160"/>
          </a:xfrm>
          <a:prstGeom prst="rect">
            <a:avLst/>
          </a:prstGeom>
          <a:noFill/>
          <a:ln w="12600">
            <a:noFill/>
          </a:ln>
        </p:spPr>
        <p:txBody>
          <a:bodyPr numCol="1" spcCol="38160" lIns="50760" rIns="50760" tIns="50760" bIns="5076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sldNum" idx="3"/>
          </p:nvPr>
        </p:nvSpPr>
        <p:spPr>
          <a:xfrm>
            <a:off x="12001320" y="13074480"/>
            <a:ext cx="368280" cy="3805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unk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body"/>
          </p:nvPr>
        </p:nvSpPr>
        <p:spPr>
          <a:xfrm>
            <a:off x="1206360" y="4248360"/>
            <a:ext cx="21970440" cy="8255160"/>
          </a:xfrm>
          <a:prstGeom prst="rect">
            <a:avLst/>
          </a:prstGeom>
          <a:noFill/>
          <a:ln w="12600">
            <a:noFill/>
          </a:ln>
        </p:spPr>
        <p:txBody>
          <a:bodyPr numCol="2" spcCol="1098720" lIns="50760" rIns="50760" tIns="50760" bIns="5076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Textebene 1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Textebene 2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Textebene 3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Textebene 4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Textebene 5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ldNum" idx="4"/>
          </p:nvPr>
        </p:nvSpPr>
        <p:spPr>
          <a:xfrm>
            <a:off x="12001320" y="13074480"/>
            <a:ext cx="368280" cy="3805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el, Punkte &amp; F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body"/>
          </p:nvPr>
        </p:nvSpPr>
        <p:spPr>
          <a:xfrm>
            <a:off x="1206360" y="2373120"/>
            <a:ext cx="9778320" cy="934200"/>
          </a:xfrm>
          <a:prstGeom prst="rect">
            <a:avLst/>
          </a:prstGeom>
          <a:noFill/>
          <a:ln w="12600">
            <a:noFill/>
          </a:ln>
        </p:spPr>
        <p:txBody>
          <a:bodyPr numCol="1" spcCol="38160" lIns="45720" rIns="45720" tIns="45720" bIns="45720" anchor="t">
            <a:noAutofit/>
          </a:bodyPr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55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1</a:t>
            </a:r>
            <a:endParaRPr b="0" lang="de-DE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55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2</a:t>
            </a:r>
            <a:endParaRPr b="0" lang="de-DE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55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3</a:t>
            </a:r>
            <a:endParaRPr b="0" lang="de-DE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55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4</a:t>
            </a:r>
            <a:endParaRPr b="0" lang="de-DE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55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5</a:t>
            </a:r>
            <a:endParaRPr b="0" lang="de-DE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12192120" y="-407160"/>
            <a:ext cx="10916280" cy="14555160"/>
          </a:xfrm>
          <a:prstGeom prst="rect">
            <a:avLst/>
          </a:prstGeom>
          <a:noFill/>
          <a:ln w="12600">
            <a:noFill/>
          </a:ln>
        </p:spPr>
        <p:txBody>
          <a:bodyPr numCol="1" spcCol="38160" lIns="45720" rIns="4572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title"/>
          </p:nvPr>
        </p:nvSpPr>
        <p:spPr>
          <a:xfrm>
            <a:off x="1206360" y="1079640"/>
            <a:ext cx="9778320" cy="14342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de-DE" sz="8500" spc="-17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Titeltext</a:t>
            </a:r>
            <a:endParaRPr b="0" lang="de-DE" sz="8500" strike="noStrike" u="none">
              <a:solidFill>
                <a:srgbClr val="5e5e5e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5"/>
          </p:nvPr>
        </p:nvSpPr>
        <p:spPr>
          <a:xfrm>
            <a:off x="12001320" y="13074480"/>
            <a:ext cx="368280" cy="3805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Abschnit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206360" y="4533840"/>
            <a:ext cx="21970440" cy="46476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ctr">
            <a:norm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de-DE" sz="11600" spc="-232" strike="noStrike" u="none">
                <a:solidFill>
                  <a:srgbClr val="000000"/>
                </a:solidFill>
                <a:effectLst/>
                <a:uFillTx/>
                <a:latin typeface="Helvetica Neue Medium"/>
                <a:ea typeface="Helvetica Neue Medium"/>
              </a:rPr>
              <a:t>Titeltext</a:t>
            </a:r>
            <a:endParaRPr b="0" lang="de-DE" sz="11600" strike="noStrike" u="none">
              <a:solidFill>
                <a:srgbClr val="5e5e5e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6"/>
          </p:nvPr>
        </p:nvSpPr>
        <p:spPr>
          <a:xfrm>
            <a:off x="12001320" y="13078800"/>
            <a:ext cx="368280" cy="3805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Nur 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de-DE" sz="8500" spc="-17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Titeltext</a:t>
            </a:r>
            <a:endParaRPr b="0" lang="de-DE" sz="8500" strike="noStrike" u="none">
              <a:solidFill>
                <a:srgbClr val="5e5e5e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1206360" y="2373120"/>
            <a:ext cx="21970440" cy="934200"/>
          </a:xfrm>
          <a:prstGeom prst="rect">
            <a:avLst/>
          </a:prstGeom>
          <a:noFill/>
          <a:ln w="12600">
            <a:noFill/>
          </a:ln>
        </p:spPr>
        <p:txBody>
          <a:bodyPr numCol="1" spcCol="38160" lIns="45720" rIns="45720" tIns="45720" bIns="45720" anchor="t">
            <a:noAutofit/>
          </a:bodyPr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55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1</a:t>
            </a:r>
            <a:endParaRPr b="0" lang="de-DE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55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2</a:t>
            </a:r>
            <a:endParaRPr b="0" lang="de-DE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55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3</a:t>
            </a:r>
            <a:endParaRPr b="0" lang="de-DE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55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4</a:t>
            </a:r>
            <a:endParaRPr b="0" lang="de-DE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55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5</a:t>
            </a:r>
            <a:endParaRPr b="0" lang="de-DE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sldNum" idx="7"/>
          </p:nvPr>
        </p:nvSpPr>
        <p:spPr>
          <a:xfrm>
            <a:off x="12001320" y="13074480"/>
            <a:ext cx="368280" cy="3805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A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rm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de-DE" sz="8500" spc="-17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Titeltext</a:t>
            </a:r>
            <a:endParaRPr b="0" lang="de-DE" sz="8500" strike="noStrike" u="none">
              <a:solidFill>
                <a:srgbClr val="5e5e5e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1206360" y="2373120"/>
            <a:ext cx="21970440" cy="934200"/>
          </a:xfrm>
          <a:prstGeom prst="rect">
            <a:avLst/>
          </a:prstGeom>
          <a:noFill/>
          <a:ln w="12600">
            <a:noFill/>
          </a:ln>
        </p:spPr>
        <p:txBody>
          <a:bodyPr numCol="1" spcCol="38160" lIns="45720" rIns="45720" tIns="45720" bIns="45720" anchor="t">
            <a:noAutofit/>
          </a:bodyPr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55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1</a:t>
            </a:r>
            <a:endParaRPr b="0" lang="de-DE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55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2</a:t>
            </a:r>
            <a:endParaRPr b="0" lang="de-DE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55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3</a:t>
            </a:r>
            <a:endParaRPr b="0" lang="de-DE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55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4</a:t>
            </a:r>
            <a:endParaRPr b="0" lang="de-DE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55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5</a:t>
            </a:r>
            <a:endParaRPr b="0" lang="de-DE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1206360" y="4248360"/>
            <a:ext cx="21970440" cy="8255160"/>
          </a:xfrm>
          <a:prstGeom prst="rect">
            <a:avLst/>
          </a:prstGeom>
          <a:noFill/>
          <a:ln w="12600">
            <a:noFill/>
          </a:ln>
        </p:spPr>
        <p:txBody>
          <a:bodyPr numCol="1" spcCol="38160" lIns="50760" rIns="50760" tIns="50760" bIns="5076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sldNum" idx="8"/>
          </p:nvPr>
        </p:nvSpPr>
        <p:spPr>
          <a:xfrm>
            <a:off x="12001320" y="13074480"/>
            <a:ext cx="368280" cy="3805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Aufstellu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body"/>
          </p:nvPr>
        </p:nvSpPr>
        <p:spPr>
          <a:xfrm>
            <a:off x="1206360" y="4920840"/>
            <a:ext cx="21970440" cy="3873600"/>
          </a:xfrm>
          <a:prstGeom prst="rect">
            <a:avLst/>
          </a:prstGeom>
          <a:noFill/>
          <a:ln w="12600">
            <a:noFill/>
          </a:ln>
        </p:spPr>
        <p:txBody>
          <a:bodyPr numCol="1" spcCol="38160" lIns="50760" rIns="50760" tIns="50760" bIns="5076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Textebene 1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Textebene 2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Textebene 3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Textebene 4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Textebene 5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ldNum" idx="9"/>
          </p:nvPr>
        </p:nvSpPr>
        <p:spPr>
          <a:xfrm>
            <a:off x="12001320" y="13074480"/>
            <a:ext cx="368280" cy="3805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akt (groß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body"/>
          </p:nvPr>
        </p:nvSpPr>
        <p:spPr>
          <a:xfrm>
            <a:off x="1206360" y="1076040"/>
            <a:ext cx="21970440" cy="7241040"/>
          </a:xfrm>
          <a:prstGeom prst="rect">
            <a:avLst/>
          </a:prstGeom>
          <a:noFill/>
          <a:ln w="12600">
            <a:noFill/>
          </a:ln>
        </p:spPr>
        <p:txBody>
          <a:bodyPr numCol="1" spcCol="38160" lIns="50760" rIns="50760" tIns="50760" bIns="5076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Textebene 1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Textebene 2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Textebene 3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Textebene 4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Textebene 5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206360" y="8262360"/>
            <a:ext cx="21970440" cy="934200"/>
          </a:xfrm>
          <a:prstGeom prst="rect">
            <a:avLst/>
          </a:prstGeom>
          <a:noFill/>
          <a:ln w="12600">
            <a:noFill/>
          </a:ln>
        </p:spPr>
        <p:txBody>
          <a:bodyPr numCol="1" spcCol="38160" lIns="45720" rIns="4572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10"/>
          </p:nvPr>
        </p:nvSpPr>
        <p:spPr>
          <a:xfrm>
            <a:off x="12001320" y="13074480"/>
            <a:ext cx="368280" cy="3805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Zita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body"/>
          </p:nvPr>
        </p:nvSpPr>
        <p:spPr>
          <a:xfrm>
            <a:off x="2430000" y="10675440"/>
            <a:ext cx="20199240" cy="636120"/>
          </a:xfrm>
          <a:prstGeom prst="rect">
            <a:avLst/>
          </a:prstGeom>
          <a:noFill/>
          <a:ln w="12600">
            <a:noFill/>
          </a:ln>
        </p:spPr>
        <p:txBody>
          <a:bodyPr numCol="1" spcCol="38160" lIns="45720" rIns="45720" tIns="45720" bIns="45720" anchor="t">
            <a:noAutofit/>
          </a:bodyPr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36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1</a:t>
            </a:r>
            <a:endParaRPr b="0" lang="de-DE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36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2</a:t>
            </a:r>
            <a:endParaRPr b="0" lang="de-DE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36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3</a:t>
            </a:r>
            <a:endParaRPr b="0" lang="de-DE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36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4</a:t>
            </a:r>
            <a:endParaRPr b="0" lang="de-DE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36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5</a:t>
            </a:r>
            <a:endParaRPr b="0" lang="de-DE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1753920" y="4939920"/>
            <a:ext cx="20875320" cy="3835440"/>
          </a:xfrm>
          <a:prstGeom prst="rect">
            <a:avLst/>
          </a:prstGeom>
          <a:noFill/>
          <a:ln w="12600">
            <a:noFill/>
          </a:ln>
        </p:spPr>
        <p:txBody>
          <a:bodyPr numCol="1" spcCol="38160" lIns="50760" rIns="50760" tIns="50760" bIns="5076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11"/>
          </p:nvPr>
        </p:nvSpPr>
        <p:spPr>
          <a:xfrm>
            <a:off x="12001320" y="13074480"/>
            <a:ext cx="368280" cy="3805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to - 3 Stüc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body"/>
          </p:nvPr>
        </p:nvSpPr>
        <p:spPr>
          <a:xfrm>
            <a:off x="15760800" y="1015920"/>
            <a:ext cx="7438320" cy="5949000"/>
          </a:xfrm>
          <a:prstGeom prst="rect">
            <a:avLst/>
          </a:prstGeom>
          <a:noFill/>
          <a:ln w="12600">
            <a:noFill/>
          </a:ln>
        </p:spPr>
        <p:txBody>
          <a:bodyPr numCol="1" spcCol="38160" lIns="45720" rIns="4572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1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2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3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4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5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-139680" y="495360"/>
            <a:ext cx="16610760" cy="12458160"/>
          </a:xfrm>
          <a:prstGeom prst="rect">
            <a:avLst/>
          </a:prstGeom>
          <a:noFill/>
          <a:ln w="12600">
            <a:noFill/>
          </a:ln>
        </p:spPr>
        <p:txBody>
          <a:bodyPr numCol="1" spcCol="38160" lIns="45720" rIns="4572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sldNum" idx="12"/>
          </p:nvPr>
        </p:nvSpPr>
        <p:spPr>
          <a:xfrm>
            <a:off x="12001320" y="13074480"/>
            <a:ext cx="368280" cy="3805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body"/>
          </p:nvPr>
        </p:nvSpPr>
        <p:spPr>
          <a:xfrm>
            <a:off x="-1333440" y="-5524560"/>
            <a:ext cx="27050400" cy="21639960"/>
          </a:xfrm>
          <a:prstGeom prst="rect">
            <a:avLst/>
          </a:prstGeom>
          <a:noFill/>
          <a:ln w="12600">
            <a:noFill/>
          </a:ln>
        </p:spPr>
        <p:txBody>
          <a:bodyPr numCol="1" spcCol="38160" lIns="45720" rIns="4572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1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2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3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4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5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13"/>
          </p:nvPr>
        </p:nvSpPr>
        <p:spPr>
          <a:xfrm>
            <a:off x="12001320" y="13074480"/>
            <a:ext cx="368280" cy="3805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Le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sldNum" idx="14"/>
          </p:nvPr>
        </p:nvSpPr>
        <p:spPr>
          <a:xfrm>
            <a:off x="12001320" y="13074480"/>
            <a:ext cx="368280" cy="3805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body"/>
          </p:nvPr>
        </p:nvSpPr>
        <p:spPr>
          <a:xfrm>
            <a:off x="1201320" y="11859840"/>
            <a:ext cx="21970440" cy="636120"/>
          </a:xfrm>
          <a:prstGeom prst="rect">
            <a:avLst/>
          </a:prstGeom>
          <a:noFill/>
          <a:ln w="12600">
            <a:noFill/>
          </a:ln>
        </p:spPr>
        <p:txBody>
          <a:bodyPr numCol="1" spcCol="38160" lIns="45720" rIns="45720" tIns="45720" bIns="45720" anchor="t">
            <a:noAutofit/>
          </a:bodyPr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36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1</a:t>
            </a:r>
            <a:endParaRPr b="0" lang="de-DE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36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2</a:t>
            </a:r>
            <a:endParaRPr b="0" lang="de-DE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36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3</a:t>
            </a:r>
            <a:endParaRPr b="0" lang="de-DE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36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4</a:t>
            </a:r>
            <a:endParaRPr b="0" lang="de-DE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36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Textebene 5</a:t>
            </a:r>
            <a:endParaRPr b="0" lang="de-DE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440" cy="46476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rm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de-DE" sz="11600" spc="-232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Titeltex</a:t>
            </a:r>
            <a:r>
              <a:rPr b="1" lang="de-DE" sz="11600" spc="-232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</a:t>
            </a:r>
            <a:endParaRPr b="0" lang="de-DE" sz="11600" strike="noStrike" u="none">
              <a:solidFill>
                <a:srgbClr val="5e5e5e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1201320" y="7223040"/>
            <a:ext cx="21970440" cy="1904400"/>
          </a:xfrm>
          <a:prstGeom prst="rect">
            <a:avLst/>
          </a:prstGeom>
          <a:noFill/>
          <a:ln w="12600">
            <a:noFill/>
          </a:ln>
        </p:spPr>
        <p:txBody>
          <a:bodyPr numCol="1" spcCol="38160" lIns="50760" rIns="50760" tIns="50760" bIns="5076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sldNum" idx="15"/>
          </p:nvPr>
        </p:nvSpPr>
        <p:spPr>
          <a:xfrm>
            <a:off x="12001320" y="13074480"/>
            <a:ext cx="368280" cy="38052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comments" Target="../comments/commen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8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8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/>
          </p:nvPr>
        </p:nvSpPr>
        <p:spPr>
          <a:xfrm>
            <a:off x="1201320" y="11859840"/>
            <a:ext cx="21970440" cy="636120"/>
          </a:xfrm>
          <a:prstGeom prst="rect">
            <a:avLst/>
          </a:prstGeom>
          <a:noFill/>
          <a:ln w="12600">
            <a:noFill/>
          </a:ln>
        </p:spPr>
        <p:txBody>
          <a:bodyPr numCol="1" spcCol="38160" lIns="45720" rIns="45720" tIns="45720" bIns="45720" anchor="t">
            <a:noAutofit/>
          </a:bodyPr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36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Roman Rankl, Julian Geißinger</a:t>
            </a:r>
            <a:endParaRPr b="0" lang="de-DE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title"/>
          </p:nvPr>
        </p:nvSpPr>
        <p:spPr>
          <a:xfrm>
            <a:off x="1206360" y="2575080"/>
            <a:ext cx="21970440" cy="464760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b">
            <a:no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de-DE" sz="11600" spc="-3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Binary </a:t>
            </a:r>
            <a:r>
              <a:rPr b="1" lang="de-DE" sz="11600" spc="-3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Analysi</a:t>
            </a:r>
            <a:r>
              <a:rPr b="1" lang="de-DE" sz="11600" spc="-3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s using </a:t>
            </a:r>
            <a:r>
              <a:rPr b="1" lang="de-DE" sz="11600" spc="-3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BERT</a:t>
            </a:r>
            <a:endParaRPr b="0" lang="de-DE" sz="11600" strike="noStrike" u="none">
              <a:solidFill>
                <a:srgbClr val="5e5e5e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/>
          <p:nvPr/>
        </p:nvSpPr>
        <p:spPr>
          <a:xfrm>
            <a:off x="1201320" y="7223040"/>
            <a:ext cx="21970440" cy="1904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t">
            <a:normAutofit/>
          </a:bodyPr>
          <a:p>
            <a:pPr defTabSz="825480">
              <a:lnSpc>
                <a:spcPct val="100000"/>
              </a:lnSpc>
              <a:tabLst>
                <a:tab algn="l" pos="0"/>
              </a:tabLst>
            </a:pPr>
            <a:r>
              <a:rPr b="1" lang="de-DE" sz="55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Explainability of the Input Space</a:t>
            </a:r>
            <a:endParaRPr b="0" lang="de-DE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206360" y="1079640"/>
            <a:ext cx="21970440" cy="14324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de-DE" sz="8500" spc="-201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Motivation</a:t>
            </a:r>
            <a:endParaRPr b="0" lang="de-DE" sz="8500" strike="noStrike" u="none">
              <a:solidFill>
                <a:srgbClr val="5e5e5e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1206360" y="2992680"/>
            <a:ext cx="21970440" cy="8255160"/>
          </a:xfrm>
          <a:prstGeom prst="rect">
            <a:avLst/>
          </a:prstGeom>
          <a:noFill/>
          <a:ln w="12600">
            <a:noFill/>
          </a:ln>
        </p:spPr>
        <p:txBody>
          <a:bodyPr numCol="1" spcCol="38160" lIns="50760" rIns="50760" tIns="50760" bIns="50760" anchor="t">
            <a:noAutofit/>
          </a:bodyPr>
          <a:p>
            <a:pPr marL="609480" indent="-609480" defTabSz="2438280">
              <a:lnSpc>
                <a:spcPct val="90000"/>
              </a:lnSpc>
              <a:spcBef>
                <a:spcPts val="4501"/>
              </a:spcBef>
              <a:buClr>
                <a:srgbClr val="000000"/>
              </a:buClr>
              <a:buSzPct val="123000"/>
              <a:buFont typeface="Symbol"/>
              <a:buChar char="·"/>
            </a:pPr>
            <a:r>
              <a:rPr b="0" lang="de-DE" sz="48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Measure the importance of certain model inputs for learning about binary function similarity</a:t>
            </a:r>
            <a:endParaRPr b="0" lang="de-DE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09480" indent="-609480" defTabSz="2438280">
              <a:lnSpc>
                <a:spcPct val="90000"/>
              </a:lnSpc>
              <a:spcBef>
                <a:spcPts val="4501"/>
              </a:spcBef>
              <a:buClr>
                <a:srgbClr val="000000"/>
              </a:buClr>
              <a:buSzPct val="123000"/>
              <a:buFont typeface="Symbol"/>
              <a:buChar char="·"/>
            </a:pPr>
            <a:r>
              <a:rPr b="0" lang="de-DE" sz="48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Recent Research</a:t>
            </a:r>
            <a:r>
              <a:rPr b="0" lang="de-DE" sz="4800" strike="noStrike" u="none" baseline="-5000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[1]</a:t>
            </a:r>
            <a:r>
              <a:rPr b="0" lang="de-DE" sz="48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 highlights the importance of instructions containing specific opcodes (like „call“ ) within a function</a:t>
            </a:r>
            <a:endParaRPr b="0" lang="de-DE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09480" indent="-609480" defTabSz="2438280">
              <a:lnSpc>
                <a:spcPct val="90000"/>
              </a:lnSpc>
              <a:spcBef>
                <a:spcPts val="4501"/>
              </a:spcBef>
              <a:buClr>
                <a:srgbClr val="000000"/>
              </a:buClr>
              <a:buSzPct val="123000"/>
              <a:buFont typeface="Symbol"/>
              <a:buChar char="·"/>
            </a:pPr>
            <a:r>
              <a:rPr b="0" lang="de-DE" sz="48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Our approach tries to extend the understanding about the relevance of certain inputs</a:t>
            </a:r>
            <a:endParaRPr b="0" lang="de-DE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09480" indent="-609480" defTabSz="2438280">
              <a:lnSpc>
                <a:spcPct val="90000"/>
              </a:lnSpc>
              <a:spcBef>
                <a:spcPts val="4501"/>
              </a:spcBef>
              <a:buClr>
                <a:srgbClr val="000000"/>
              </a:buClr>
              <a:buSzPct val="123000"/>
              <a:buFont typeface="Symbol"/>
              <a:buChar char="·"/>
            </a:pPr>
            <a:r>
              <a:rPr b="0" lang="de-DE" sz="48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Instead of measuring the importance between different instructions, we compare the parts of an instruction ( opcode vs. operands )</a:t>
            </a:r>
            <a:endParaRPr b="0" lang="de-DE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[1]:Dannehl, M., Valenzuela, S. &amp; Kinder, J. Which Instructions Matter the Most: A Saliency Analysis of Binary Function Embedding Models (2025)"/>
          <p:cNvSpPr/>
          <p:nvPr/>
        </p:nvSpPr>
        <p:spPr>
          <a:xfrm>
            <a:off x="1092600" y="12310920"/>
            <a:ext cx="22102920" cy="4060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de-DE" sz="2700" strike="noStrike" u="none">
                <a:solidFill>
                  <a:srgbClr val="5e5e5e"/>
                </a:solidFill>
                <a:effectLst/>
                <a:uFillTx/>
                <a:latin typeface="Arial"/>
                <a:ea typeface="Arial"/>
              </a:rPr>
              <a:t>[1]:Dannehl, M., Valenzuela, S. &amp; Kinder, J. Which Instructions Matter the Most: A Saliency Analysis of Binary Function Embedding Models (2025)</a:t>
            </a:r>
            <a:r>
              <a:rPr b="0" lang="de-DE" sz="1800" strike="noStrike" u="none">
                <a:solidFill>
                  <a:srgbClr val="5e5e5e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206360" y="1079640"/>
            <a:ext cx="21970440" cy="14324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de-DE" sz="8500" spc="-201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Training </a:t>
            </a:r>
            <a:r>
              <a:rPr b="1" lang="de-DE" sz="8500" spc="-201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Pipeline</a:t>
            </a:r>
            <a:endParaRPr b="0" lang="de-DE" sz="8500" strike="noStrike" u="none">
              <a:solidFill>
                <a:srgbClr val="5e5e5e"/>
              </a:solidFill>
              <a:effectLst/>
              <a:uFillTx/>
              <a:latin typeface="Arial"/>
            </a:endParaRPr>
          </a:p>
        </p:txBody>
      </p:sp>
      <p:pic>
        <p:nvPicPr>
          <p:cNvPr id="54" name="Bild" descr="Bild"/>
          <p:cNvPicPr/>
          <p:nvPr/>
        </p:nvPicPr>
        <p:blipFill>
          <a:blip r:embed="rId1"/>
          <a:stretch/>
        </p:blipFill>
        <p:spPr>
          <a:xfrm>
            <a:off x="2420640" y="1846800"/>
            <a:ext cx="19542240" cy="10022400"/>
          </a:xfrm>
          <a:prstGeom prst="rect">
            <a:avLst/>
          </a:prstGeom>
          <a:noFill/>
          <a:ln w="12700">
            <a:noFill/>
          </a:ln>
        </p:spPr>
      </p:pic>
      <p:grpSp>
        <p:nvGrpSpPr>
          <p:cNvPr id="55" name="Opcode Masking"/>
          <p:cNvGrpSpPr/>
          <p:nvPr/>
        </p:nvGrpSpPr>
        <p:grpSpPr>
          <a:xfrm>
            <a:off x="16416360" y="9380880"/>
            <a:ext cx="3293640" cy="2320200"/>
            <a:chOff x="16416360" y="9380880"/>
            <a:chExt cx="3293640" cy="2320200"/>
          </a:xfrm>
        </p:grpSpPr>
        <p:sp>
          <p:nvSpPr>
            <p:cNvPr id="56" name="Rechteck"/>
            <p:cNvSpPr/>
            <p:nvPr/>
          </p:nvSpPr>
          <p:spPr>
            <a:xfrm>
              <a:off x="16416360" y="9380880"/>
              <a:ext cx="3293640" cy="2320200"/>
            </a:xfrm>
            <a:prstGeom prst="rect">
              <a:avLst/>
            </a:prstGeom>
            <a:solidFill>
              <a:srgbClr val="ffe265"/>
            </a:solidFill>
            <a:ln w="127000">
              <a:solidFill>
                <a:srgbClr val="a7a7a7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1" lang="de-DE" sz="36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endParaRPr>
            </a:p>
          </p:txBody>
        </p:sp>
        <p:sp>
          <p:nvSpPr>
            <p:cNvPr id="57" name="Opcode Masking"/>
            <p:cNvSpPr/>
            <p:nvPr/>
          </p:nvSpPr>
          <p:spPr>
            <a:xfrm>
              <a:off x="16479720" y="9988920"/>
              <a:ext cx="3166560" cy="110412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0" rIns="0" tIns="0" bIns="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1" lang="de-DE" sz="3600" strike="noStrike" u="none"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</a:rPr>
                <a:t> Opcode Masking</a:t>
              </a:r>
              <a:endParaRPr b="0" lang="de-DE" sz="3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8" name="Operand Masking"/>
          <p:cNvGrpSpPr/>
          <p:nvPr/>
        </p:nvGrpSpPr>
        <p:grpSpPr>
          <a:xfrm>
            <a:off x="16416360" y="9380880"/>
            <a:ext cx="3293640" cy="2320200"/>
            <a:chOff x="16416360" y="9380880"/>
            <a:chExt cx="3293640" cy="2320200"/>
          </a:xfrm>
        </p:grpSpPr>
        <p:sp>
          <p:nvSpPr>
            <p:cNvPr id="59" name="Rechteck"/>
            <p:cNvSpPr/>
            <p:nvPr/>
          </p:nvSpPr>
          <p:spPr>
            <a:xfrm>
              <a:off x="16416360" y="9380880"/>
              <a:ext cx="3293640" cy="2320200"/>
            </a:xfrm>
            <a:prstGeom prst="rect">
              <a:avLst/>
            </a:prstGeom>
            <a:solidFill>
              <a:schemeClr val="accent5">
                <a:lumOff val="8676"/>
              </a:schemeClr>
            </a:solidFill>
            <a:ln w="127000">
              <a:solidFill>
                <a:srgbClr val="a7a7a7"/>
              </a:solidFill>
              <a:prstDash val="sysDot"/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1" lang="de-DE" sz="36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endParaRPr>
            </a:p>
          </p:txBody>
        </p:sp>
        <p:sp>
          <p:nvSpPr>
            <p:cNvPr id="60" name="Operand Masking"/>
            <p:cNvSpPr/>
            <p:nvPr/>
          </p:nvSpPr>
          <p:spPr>
            <a:xfrm>
              <a:off x="16479720" y="9988920"/>
              <a:ext cx="3166560" cy="110412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0" rIns="0" tIns="0" bIns="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1" lang="de-DE" sz="3600" strike="noStrike" u="none"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</a:rPr>
                <a:t> Operand Masking</a:t>
              </a:r>
              <a:endParaRPr b="0" lang="de-DE" sz="3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1" name="[1] Hao Wang, Zeyu Gao, Chao Zhang, Zihan Sha, Mingyang Sun, Yuchen Zhou, Wenyu Zhu, Wenju Sun, Han Qiu, &amp; Xi Xiao. (2024).…"/>
          <p:cNvSpPr/>
          <p:nvPr/>
        </p:nvSpPr>
        <p:spPr>
          <a:xfrm>
            <a:off x="10209600" y="12541320"/>
            <a:ext cx="13563000" cy="5583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de-DE" sz="1800" strike="noStrike" u="none">
                <a:solidFill>
                  <a:srgbClr val="5e5e5e"/>
                </a:solidFill>
                <a:effectLst/>
                <a:uFillTx/>
                <a:latin typeface="Arial"/>
                <a:ea typeface="Arial"/>
              </a:rPr>
              <a:t>[1] Hao Wang, Zeyu Gao, Chao Zhang, Zihan Sha, Mingyang Sun, Yuchen Zhou, Wenyu Zhu, Wenju Sun, Han Qiu, &amp; Xi Xiao. (2024).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de-DE" sz="1800" strike="noStrike" u="none">
                <a:solidFill>
                  <a:srgbClr val="5e5e5e"/>
                </a:solidFill>
                <a:effectLst/>
                <a:uFillTx/>
                <a:latin typeface="Arial"/>
                <a:ea typeface="Arial"/>
              </a:rPr>
              <a:t>CLAP: Learning Transferable Binary Code Representations with Natural Language Supervision.</a:t>
            </a: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[1]"/>
          <p:cNvSpPr/>
          <p:nvPr/>
        </p:nvSpPr>
        <p:spPr>
          <a:xfrm>
            <a:off x="12755880" y="10794960"/>
            <a:ext cx="351360" cy="3679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de-DE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[1]</a:t>
            </a:r>
            <a:endParaRPr b="0" lang="de-DE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206360" y="1079640"/>
            <a:ext cx="21970440" cy="14324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de-DE" sz="8500" spc="-201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Opcode </a:t>
            </a:r>
            <a:r>
              <a:rPr b="1" lang="de-DE" sz="8500" spc="-201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vs. </a:t>
            </a:r>
            <a:r>
              <a:rPr b="1" lang="de-DE" sz="8500" spc="-201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Operand </a:t>
            </a:r>
            <a:r>
              <a:rPr b="1" lang="de-DE" sz="8500" spc="-201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Statistic </a:t>
            </a:r>
            <a:r>
              <a:rPr b="1" lang="de-DE" sz="8500" spc="-201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Masking</a:t>
            </a:r>
            <a:endParaRPr b="0" lang="de-DE" sz="8500" strike="noStrike" u="none">
              <a:solidFill>
                <a:srgbClr val="5e5e5e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1206360" y="2373120"/>
            <a:ext cx="21970440" cy="934200"/>
          </a:xfrm>
          <a:prstGeom prst="rect">
            <a:avLst/>
          </a:prstGeom>
          <a:noFill/>
          <a:ln w="12600">
            <a:noFill/>
          </a:ln>
        </p:spPr>
        <p:txBody>
          <a:bodyPr numCol="1" spcCol="38160" lIns="45720" rIns="4572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1" lang="de-DE" sz="5500" strike="noStrike" u="none">
              <a:solidFill>
                <a:srgbClr val="000000"/>
              </a:solidFill>
              <a:effectLst/>
              <a:uFillTx/>
              <a:latin typeface="Helvetica Neue"/>
              <a:ea typeface="Helvetica Neue"/>
            </a:endParaRPr>
          </a:p>
        </p:txBody>
      </p:sp>
      <p:sp>
        <p:nvSpPr>
          <p:cNvPr id="65" name="PlaceHolder 3"/>
          <p:cNvSpPr/>
          <p:nvPr/>
        </p:nvSpPr>
        <p:spPr>
          <a:xfrm>
            <a:off x="1206360" y="4248360"/>
            <a:ext cx="21970440" cy="82551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t">
            <a:normAutofit/>
          </a:bodyPr>
          <a:p>
            <a:pPr marL="609480" indent="-609480" defTabSz="2438280">
              <a:lnSpc>
                <a:spcPct val="90000"/>
              </a:lnSpc>
              <a:spcBef>
                <a:spcPts val="4501"/>
              </a:spcBef>
              <a:buClr>
                <a:srgbClr val="000000"/>
              </a:buClr>
              <a:buSzPct val="123000"/>
              <a:buFont typeface="Symbol"/>
              <a:buChar char="·"/>
            </a:pPr>
            <a:r>
              <a:rPr b="0" lang="de-DE" sz="48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Shift the models focus on either opcodes or operands</a:t>
            </a:r>
            <a:endParaRPr b="0" lang="de-DE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09480" indent="-609480" defTabSz="2438280">
              <a:lnSpc>
                <a:spcPct val="90000"/>
              </a:lnSpc>
              <a:spcBef>
                <a:spcPts val="4501"/>
              </a:spcBef>
              <a:buClr>
                <a:srgbClr val="000000"/>
              </a:buClr>
              <a:buSzPct val="123000"/>
              <a:buFont typeface="Symbol"/>
              <a:buChar char="·"/>
            </a:pPr>
            <a:r>
              <a:rPr b="0" lang="de-DE" sz="48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To train our BERT model we base on traditional Masked Language Modeling</a:t>
            </a:r>
            <a:endParaRPr b="0" lang="de-DE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09480" indent="-609480" defTabSz="2438280">
              <a:lnSpc>
                <a:spcPct val="90000"/>
              </a:lnSpc>
              <a:spcBef>
                <a:spcPts val="4501"/>
              </a:spcBef>
              <a:buClr>
                <a:srgbClr val="000000"/>
              </a:buClr>
              <a:buSzPct val="123000"/>
              <a:buFont typeface="Symbol"/>
              <a:buChar char="·"/>
            </a:pPr>
            <a:r>
              <a:rPr b="0" lang="de-DE" sz="48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We measure the importance of each category by setting a statistic focus on opcodes and operands </a:t>
            </a:r>
            <a:endParaRPr b="0" lang="de-DE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206360" y="1079640"/>
            <a:ext cx="21970440" cy="14324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de-DE" sz="8500" spc="-201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Opcode </a:t>
            </a:r>
            <a:r>
              <a:rPr b="1" lang="de-DE" sz="8500" spc="-201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vs. </a:t>
            </a:r>
            <a:r>
              <a:rPr b="1" lang="de-DE" sz="8500" spc="-201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Operand </a:t>
            </a:r>
            <a:r>
              <a:rPr b="1" lang="de-DE" sz="8500" spc="-201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Statistic </a:t>
            </a:r>
            <a:r>
              <a:rPr b="1" lang="de-DE" sz="8500" spc="-201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Masking</a:t>
            </a:r>
            <a:endParaRPr b="0" lang="de-DE" sz="8500" strike="noStrike" u="none">
              <a:solidFill>
                <a:srgbClr val="5e5e5e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1206360" y="2373120"/>
            <a:ext cx="21970440" cy="934200"/>
          </a:xfrm>
          <a:prstGeom prst="rect">
            <a:avLst/>
          </a:prstGeom>
          <a:noFill/>
          <a:ln w="12600">
            <a:noFill/>
          </a:ln>
        </p:spPr>
        <p:txBody>
          <a:bodyPr numCol="1" spcCol="38160" lIns="45720" rIns="45720" tIns="45720" bIns="45720" anchor="t">
            <a:noAutofit/>
          </a:bodyPr>
          <a:p>
            <a:pPr indent="0" defTabSz="825480">
              <a:lnSpc>
                <a:spcPct val="9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de-DE" sz="55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Standard MLM</a:t>
            </a:r>
            <a:endParaRPr b="0" lang="de-DE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Bild" descr="Bild"/>
          <p:cNvPicPr/>
          <p:nvPr/>
        </p:nvPicPr>
        <p:blipFill>
          <a:blip r:embed="rId1"/>
          <a:stretch/>
        </p:blipFill>
        <p:spPr>
          <a:xfrm>
            <a:off x="4627800" y="3921480"/>
            <a:ext cx="15128280" cy="672804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69" name="Rechteck"/>
          <p:cNvSpPr/>
          <p:nvPr/>
        </p:nvSpPr>
        <p:spPr>
          <a:xfrm>
            <a:off x="11036520" y="9598320"/>
            <a:ext cx="2183040" cy="1171440"/>
          </a:xfrm>
          <a:prstGeom prst="rect">
            <a:avLst/>
          </a:prstGeom>
          <a:noFill/>
          <a:ln w="88900">
            <a:solidFill>
              <a:srgbClr val="0000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de-DE" sz="18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0" name="&lt;mask&gt;"/>
          <p:cNvSpPr/>
          <p:nvPr/>
        </p:nvSpPr>
        <p:spPr>
          <a:xfrm>
            <a:off x="11142360" y="9683640"/>
            <a:ext cx="1971000" cy="10008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de-DE" sz="3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&lt;mask&gt;</a:t>
            </a:r>
            <a:endParaRPr b="0" lang="de-DE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lea"/>
          <p:cNvSpPr/>
          <p:nvPr/>
        </p:nvSpPr>
        <p:spPr>
          <a:xfrm>
            <a:off x="11142360" y="9683640"/>
            <a:ext cx="1971000" cy="10008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de-DE" sz="3600" strike="noStrike" u="none">
                <a:solidFill>
                  <a:srgbClr val="000000"/>
                </a:solidFill>
                <a:effectLst/>
                <a:uFillTx/>
                <a:latin typeface="Menlo Regular"/>
                <a:ea typeface="Menlo Regular"/>
              </a:rPr>
              <a:t>lea</a:t>
            </a:r>
            <a:endParaRPr b="0" lang="de-DE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" dur="indefinite" restart="never" nodeType="tmRoot">
          <p:childTnLst>
            <p:seq>
              <p:cTn id="1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206360" y="1079640"/>
            <a:ext cx="21970440" cy="14324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de-DE" sz="8500" spc="-201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Opcode </a:t>
            </a:r>
            <a:r>
              <a:rPr b="1" lang="de-DE" sz="8500" spc="-201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vs. </a:t>
            </a:r>
            <a:r>
              <a:rPr b="1" lang="de-DE" sz="8500" spc="-201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Operand </a:t>
            </a:r>
            <a:r>
              <a:rPr b="1" lang="de-DE" sz="8500" spc="-201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Statistic </a:t>
            </a:r>
            <a:r>
              <a:rPr b="1" lang="de-DE" sz="8500" spc="-201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Masking</a:t>
            </a:r>
            <a:endParaRPr b="0" lang="de-DE" sz="8500" strike="noStrike" u="none">
              <a:solidFill>
                <a:srgbClr val="5e5e5e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1206360" y="2373120"/>
            <a:ext cx="21970440" cy="934200"/>
          </a:xfrm>
          <a:prstGeom prst="rect">
            <a:avLst/>
          </a:prstGeom>
          <a:noFill/>
          <a:ln w="12600">
            <a:noFill/>
          </a:ln>
        </p:spPr>
        <p:txBody>
          <a:bodyPr numCol="1" spcCol="38160" lIns="45720" rIns="45720" tIns="45720" bIns="45720" anchor="t">
            <a:noAutofit/>
          </a:bodyPr>
          <a:p>
            <a:pPr indent="0" defTabSz="825480">
              <a:lnSpc>
                <a:spcPct val="9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de-DE" sz="55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Statistic Opcode / Operand Split MLM</a:t>
            </a:r>
            <a:endParaRPr b="0" lang="de-DE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" name="Bild" descr="Bild"/>
          <p:cNvPicPr/>
          <p:nvPr/>
        </p:nvPicPr>
        <p:blipFill>
          <a:blip r:embed="rId1"/>
          <a:stretch/>
        </p:blipFill>
        <p:spPr>
          <a:xfrm>
            <a:off x="4627800" y="3921480"/>
            <a:ext cx="15128280" cy="672804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75" name="&lt;mask&gt;"/>
          <p:cNvSpPr/>
          <p:nvPr/>
        </p:nvSpPr>
        <p:spPr>
          <a:xfrm>
            <a:off x="6752880" y="9701280"/>
            <a:ext cx="1971000" cy="10008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de-DE" sz="3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&lt;mask&gt;</a:t>
            </a:r>
            <a:endParaRPr b="0" lang="de-DE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lea"/>
          <p:cNvSpPr/>
          <p:nvPr/>
        </p:nvSpPr>
        <p:spPr>
          <a:xfrm>
            <a:off x="6752880" y="9701280"/>
            <a:ext cx="1971000" cy="10008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de-DE" sz="3600" strike="noStrike" u="none">
                <a:solidFill>
                  <a:srgbClr val="000000"/>
                </a:solidFill>
                <a:effectLst/>
                <a:uFillTx/>
                <a:latin typeface="Menlo Regular"/>
                <a:ea typeface="Menlo Regular"/>
              </a:rPr>
              <a:t>lea</a:t>
            </a:r>
            <a:endParaRPr b="0" lang="de-DE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Choose the tokens not randomly but with p:"/>
          <p:cNvSpPr/>
          <p:nvPr/>
        </p:nvSpPr>
        <p:spPr>
          <a:xfrm>
            <a:off x="603000" y="11258640"/>
            <a:ext cx="5661000" cy="126972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de-DE" sz="3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Choose the tokens not uniform, but with split_propability*MLM</a:t>
            </a:r>
            <a:endParaRPr b="0" lang="de-DE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 = 0.8"/>
          <p:cNvSpPr/>
          <p:nvPr/>
        </p:nvSpPr>
        <p:spPr>
          <a:xfrm>
            <a:off x="6696000" y="11258640"/>
            <a:ext cx="2664000" cy="1269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2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de-DE" sz="3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 = 0.8*0.15</a:t>
            </a:r>
            <a:endParaRPr b="0" lang="de-DE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 = 0.2"/>
          <p:cNvSpPr/>
          <p:nvPr/>
        </p:nvSpPr>
        <p:spPr>
          <a:xfrm>
            <a:off x="12024000" y="11258640"/>
            <a:ext cx="2520000" cy="1269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2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de-DE" sz="36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 = 0.2*0.15</a:t>
            </a:r>
            <a:endParaRPr b="0" lang="de-DE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Linie"/>
          <p:cNvSpPr/>
          <p:nvPr/>
        </p:nvSpPr>
        <p:spPr>
          <a:xfrm flipV="1">
            <a:off x="7698960" y="10650960"/>
            <a:ext cx="0" cy="593640"/>
          </a:xfrm>
          <a:prstGeom prst="line">
            <a:avLst/>
          </a:prstGeom>
          <a:ln w="63500">
            <a:solidFill>
              <a:srgbClr val="00a2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endParaRPr b="0" lang="de-DE" sz="18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1" name="Linie"/>
          <p:cNvSpPr/>
          <p:nvPr/>
        </p:nvSpPr>
        <p:spPr>
          <a:xfrm flipH="1" flipV="1">
            <a:off x="9889200" y="10630080"/>
            <a:ext cx="2134800" cy="1105920"/>
          </a:xfrm>
          <a:prstGeom prst="line">
            <a:avLst/>
          </a:prstGeom>
          <a:ln w="25400">
            <a:solidFill>
              <a:srgbClr val="00a2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endParaRPr b="0" lang="de-DE" sz="18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2" name="Linie"/>
          <p:cNvSpPr/>
          <p:nvPr/>
        </p:nvSpPr>
        <p:spPr>
          <a:xfrm flipV="1">
            <a:off x="14544000" y="10618560"/>
            <a:ext cx="1919520" cy="1261440"/>
          </a:xfrm>
          <a:prstGeom prst="line">
            <a:avLst/>
          </a:prstGeom>
          <a:ln w="25400">
            <a:solidFill>
              <a:srgbClr val="00a2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endParaRPr b="0" lang="de-DE" sz="18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3" name="Linie"/>
          <p:cNvSpPr/>
          <p:nvPr/>
        </p:nvSpPr>
        <p:spPr>
          <a:xfrm flipV="1">
            <a:off x="13663800" y="10633320"/>
            <a:ext cx="619920" cy="619560"/>
          </a:xfrm>
          <a:prstGeom prst="line">
            <a:avLst/>
          </a:prstGeom>
          <a:ln w="25400">
            <a:solidFill>
              <a:srgbClr val="00a2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endParaRPr b="0" lang="de-DE" sz="18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4" name="Linie"/>
          <p:cNvSpPr/>
          <p:nvPr/>
        </p:nvSpPr>
        <p:spPr>
          <a:xfrm flipH="1" flipV="1">
            <a:off x="12160800" y="10629360"/>
            <a:ext cx="627840" cy="627840"/>
          </a:xfrm>
          <a:prstGeom prst="line">
            <a:avLst/>
          </a:prstGeom>
          <a:ln w="25400">
            <a:solidFill>
              <a:srgbClr val="00a2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endParaRPr b="0" lang="de-DE" sz="18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5" name="Rechteck"/>
          <p:cNvSpPr/>
          <p:nvPr/>
        </p:nvSpPr>
        <p:spPr>
          <a:xfrm>
            <a:off x="6646680" y="9615960"/>
            <a:ext cx="2183040" cy="1171440"/>
          </a:xfrm>
          <a:prstGeom prst="rect">
            <a:avLst/>
          </a:prstGeom>
          <a:noFill/>
          <a:ln w="88900">
            <a:solidFill>
              <a:srgbClr val="0000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de-DE" sz="18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" dur="indefinite" restart="never" nodeType="tmRoot">
          <p:childTnLst>
            <p:seq>
              <p:cTn id="26" dur="indefinite" nodeType="mainSeq">
                <p:childTnLst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1206360" y="1079640"/>
            <a:ext cx="21970440" cy="14324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de-DE" sz="8500" spc="-201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Inference </a:t>
            </a:r>
            <a:endParaRPr b="0" lang="de-DE" sz="8500" strike="noStrike" u="none">
              <a:solidFill>
                <a:srgbClr val="5e5e5e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1206360" y="2373120"/>
            <a:ext cx="21970440" cy="934200"/>
          </a:xfrm>
          <a:prstGeom prst="rect">
            <a:avLst/>
          </a:prstGeom>
          <a:noFill/>
          <a:ln w="12600">
            <a:noFill/>
          </a:ln>
        </p:spPr>
        <p:txBody>
          <a:bodyPr numCol="1" spcCol="38160" lIns="45720" rIns="45720" tIns="45720" bIns="45720" anchor="t">
            <a:noAutofit/>
          </a:bodyPr>
          <a:p>
            <a:pPr indent="0" defTabSz="825480">
              <a:lnSpc>
                <a:spcPct val="90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de-DE" sz="55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Cosine Similarity</a:t>
            </a:r>
            <a:endParaRPr b="0" lang="de-DE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/>
          <p:nvPr/>
        </p:nvSpPr>
        <p:spPr>
          <a:xfrm>
            <a:off x="1206360" y="4248360"/>
            <a:ext cx="21970440" cy="82551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t">
            <a:normAutofit/>
          </a:bodyPr>
          <a:p>
            <a:pPr marL="609480" indent="-609480" defTabSz="2438280">
              <a:lnSpc>
                <a:spcPct val="90000"/>
              </a:lnSpc>
              <a:spcBef>
                <a:spcPts val="4501"/>
              </a:spcBef>
              <a:buClr>
                <a:srgbClr val="000000"/>
              </a:buClr>
              <a:buSzPct val="123000"/>
              <a:buFont typeface="Symbol"/>
              <a:buChar char="·"/>
            </a:pPr>
            <a:r>
              <a:rPr b="0" lang="de-DE" sz="48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Precompute the output embeddings of the anchor functions of all pools and store them for lookup</a:t>
            </a:r>
            <a:endParaRPr b="0" lang="de-DE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09480" indent="-609480" defTabSz="2438280">
              <a:lnSpc>
                <a:spcPct val="90000"/>
              </a:lnSpc>
              <a:spcBef>
                <a:spcPts val="4501"/>
              </a:spcBef>
              <a:buClr>
                <a:srgbClr val="000000"/>
              </a:buClr>
              <a:buSzPct val="123000"/>
              <a:buFont typeface="Symbol"/>
              <a:buChar char="·"/>
            </a:pPr>
            <a:r>
              <a:rPr b="0" lang="de-DE" sz="48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Batch process candidates of each pool and compute cosine similarity between anchor &amp; candidates</a:t>
            </a:r>
            <a:endParaRPr b="0" lang="de-DE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09480" indent="-609480" defTabSz="2438280">
              <a:lnSpc>
                <a:spcPct val="90000"/>
              </a:lnSpc>
              <a:spcBef>
                <a:spcPts val="4501"/>
              </a:spcBef>
              <a:buClr>
                <a:srgbClr val="000000"/>
              </a:buClr>
              <a:buSzPct val="123000"/>
              <a:buFont typeface="Symbol"/>
              <a:buChar char="·"/>
            </a:pPr>
            <a:r>
              <a:rPr b="0" lang="de-DE" sz="48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Take measurements based on the cosine similarities (MRR, Top_K, nDCG)</a:t>
            </a:r>
            <a:endParaRPr b="0" lang="de-DE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206360" y="1079640"/>
            <a:ext cx="21970440" cy="14324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de-DE" sz="8500" spc="-201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Inference</a:t>
            </a:r>
            <a:endParaRPr b="0" lang="de-DE" sz="8500" strike="noStrike" u="none">
              <a:solidFill>
                <a:srgbClr val="5e5e5e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1206360" y="2373120"/>
            <a:ext cx="21970440" cy="934200"/>
          </a:xfrm>
          <a:prstGeom prst="rect">
            <a:avLst/>
          </a:prstGeom>
          <a:noFill/>
          <a:ln w="12600">
            <a:noFill/>
          </a:ln>
        </p:spPr>
        <p:txBody>
          <a:bodyPr numCol="1" spcCol="38160" lIns="45720" rIns="45720" tIns="45720" bIns="45720" anchor="t">
            <a:noAutofit/>
          </a:bodyPr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55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Function Pools</a:t>
            </a:r>
            <a:endParaRPr b="0" lang="de-DE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/>
          <p:nvPr/>
        </p:nvSpPr>
        <p:spPr>
          <a:xfrm>
            <a:off x="1206360" y="3656160"/>
            <a:ext cx="21970440" cy="82551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t">
            <a:normAutofit/>
          </a:bodyPr>
          <a:p>
            <a:pPr marL="560880" indent="-560880" defTabSz="2243160">
              <a:lnSpc>
                <a:spcPct val="90000"/>
              </a:lnSpc>
              <a:spcBef>
                <a:spcPts val="4000"/>
              </a:spcBef>
              <a:buClr>
                <a:srgbClr val="000000"/>
              </a:buClr>
              <a:buSzPct val="123000"/>
              <a:buFont typeface="Symbol"/>
              <a:buChar char="·"/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Each function pool follows the same structure: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60880" indent="-560880" defTabSz="2243160">
              <a:lnSpc>
                <a:spcPct val="90000"/>
              </a:lnSpc>
              <a:spcBef>
                <a:spcPts val="4000"/>
              </a:spcBef>
              <a:buClr>
                <a:srgbClr val="000000"/>
              </a:buClr>
              <a:buSzPct val="123000"/>
              <a:buFont typeface="Symbol"/>
              <a:buChar char="·"/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1 Anchor Function, N-Positive Samples, 200 Negative Samples, where N &gt; 7 to only include pools with sufficient function variants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60880" indent="-560880" defTabSz="2243160">
              <a:lnSpc>
                <a:spcPct val="90000"/>
              </a:lnSpc>
              <a:spcBef>
                <a:spcPts val="4000"/>
              </a:spcBef>
              <a:buClr>
                <a:srgbClr val="000000"/>
              </a:buClr>
              <a:buSzPct val="123000"/>
              <a:buFont typeface="Symbol"/>
              <a:buChar char="·"/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N-Positive Samples: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2243160" indent="-560880" defTabSz="2243160">
              <a:lnSpc>
                <a:spcPct val="90000"/>
              </a:lnSpc>
              <a:spcBef>
                <a:spcPts val="4000"/>
              </a:spcBef>
              <a:buClr>
                <a:srgbClr val="000000"/>
              </a:buClr>
              <a:buSzPct val="123000"/>
              <a:buFont typeface="Symbol"/>
              <a:buChar char="·"/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N = number of all positive samples across each test project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2243160" indent="-560880" defTabSz="2243160">
              <a:lnSpc>
                <a:spcPct val="90000"/>
              </a:lnSpc>
              <a:spcBef>
                <a:spcPts val="4000"/>
              </a:spcBef>
              <a:buClr>
                <a:srgbClr val="000000"/>
              </a:buClr>
              <a:buSzPct val="123000"/>
              <a:buFont typeface="Symbol"/>
              <a:buChar char="·"/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Samples that have the same f_name and same file origin are filtered out (duplicates)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2243160" indent="-560880" defTabSz="2243160">
              <a:lnSpc>
                <a:spcPct val="90000"/>
              </a:lnSpc>
              <a:spcBef>
                <a:spcPts val="4000"/>
              </a:spcBef>
              <a:buClr>
                <a:srgbClr val="000000"/>
              </a:buClr>
              <a:buSzPct val="123000"/>
              <a:buFont typeface="Symbol"/>
              <a:buChar char="·"/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Filter out function variants which contain the exact same assembly instructions, but differ in file origin (prevent spoiling the measurements)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206360" y="1079640"/>
            <a:ext cx="21970440" cy="14324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de-DE" sz="8500" spc="-201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Inference</a:t>
            </a:r>
            <a:endParaRPr b="0" lang="de-DE" sz="8500" strike="noStrike" u="none">
              <a:solidFill>
                <a:srgbClr val="5e5e5e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1206360" y="2373120"/>
            <a:ext cx="21970440" cy="934200"/>
          </a:xfrm>
          <a:prstGeom prst="rect">
            <a:avLst/>
          </a:prstGeom>
          <a:noFill/>
          <a:ln w="12600">
            <a:noFill/>
          </a:ln>
        </p:spPr>
        <p:txBody>
          <a:bodyPr numCol="1" spcCol="38160" lIns="45720" rIns="45720" tIns="45720" bIns="45720" anchor="t">
            <a:noAutofit/>
          </a:bodyPr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55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Function Pool Setup</a:t>
            </a:r>
            <a:endParaRPr b="0" lang="de-DE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/>
          <p:nvPr/>
        </p:nvSpPr>
        <p:spPr>
          <a:xfrm>
            <a:off x="1206360" y="4035240"/>
            <a:ext cx="8156520" cy="82551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t">
            <a:normAutofit/>
          </a:bodyPr>
          <a:p>
            <a:pPr lvl="2" marL="560880" indent="-560880" defTabSz="2243160">
              <a:lnSpc>
                <a:spcPct val="90000"/>
              </a:lnSpc>
              <a:spcBef>
                <a:spcPts val="4000"/>
              </a:spcBef>
              <a:buClr>
                <a:srgbClr val="000000"/>
              </a:buClr>
              <a:buSzPct val="123000"/>
              <a:buFont typeface="Symbol"/>
              <a:buChar char="·"/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Anchor = arbitrary function variant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560880" indent="-560880" defTabSz="2243160">
              <a:lnSpc>
                <a:spcPct val="90000"/>
              </a:lnSpc>
              <a:spcBef>
                <a:spcPts val="4000"/>
              </a:spcBef>
              <a:buClr>
                <a:srgbClr val="000000"/>
              </a:buClr>
              <a:buSzPct val="123000"/>
              <a:buFont typeface="Symbol"/>
              <a:buChar char="·"/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N = number of all positive samples across the anchors’ project (mininum 7)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60880" indent="-560880" defTabSz="2243160">
              <a:lnSpc>
                <a:spcPct val="90000"/>
              </a:lnSpc>
              <a:spcBef>
                <a:spcPts val="4000"/>
              </a:spcBef>
              <a:buClr>
                <a:srgbClr val="000000"/>
              </a:buClr>
              <a:buSzPct val="123000"/>
              <a:buFont typeface="Symbol"/>
              <a:buChar char="·"/>
            </a:pPr>
            <a:r>
              <a:rPr b="0" lang="de-DE" sz="44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K = number of negative samples per test project</a:t>
            </a:r>
            <a:endParaRPr b="0" lang="de-D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Bild" descr="Bild"/>
          <p:cNvPicPr/>
          <p:nvPr/>
        </p:nvPicPr>
        <p:blipFill>
          <a:blip r:embed="rId1"/>
          <a:stretch/>
        </p:blipFill>
        <p:spPr>
          <a:xfrm>
            <a:off x="9729360" y="2657160"/>
            <a:ext cx="13191120" cy="8401320"/>
          </a:xfrm>
          <a:prstGeom prst="rect">
            <a:avLst/>
          </a:prstGeom>
          <a:noFill/>
          <a:ln w="127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de-DE" sz="8500" spc="-201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Positive </a:t>
            </a:r>
            <a:r>
              <a:rPr b="1" lang="de-DE" sz="8500" spc="-201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Samples </a:t>
            </a:r>
            <a:r>
              <a:rPr b="1" lang="de-DE" sz="8500" spc="-201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Filtering</a:t>
            </a:r>
            <a:endParaRPr b="0" lang="de-DE" sz="8500" strike="noStrike" u="none">
              <a:solidFill>
                <a:srgbClr val="5e5e5e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ubTitle"/>
          </p:nvPr>
        </p:nvSpPr>
        <p:spPr>
          <a:xfrm>
            <a:off x="1206360" y="2373120"/>
            <a:ext cx="21970440" cy="934200"/>
          </a:xfrm>
          <a:prstGeom prst="rect">
            <a:avLst/>
          </a:prstGeom>
          <a:noFill/>
          <a:ln w="12600">
            <a:noFill/>
          </a:ln>
        </p:spPr>
        <p:txBody>
          <a:bodyPr numCol="1" spcCol="38160" lIns="45720" rIns="45720" tIns="45720" bIns="45720" anchor="t">
            <a:noAutofit/>
          </a:bodyPr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55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Duplicated </a:t>
            </a:r>
            <a:r>
              <a:rPr b="1" lang="de-DE" sz="55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Assembly</a:t>
            </a:r>
            <a:endParaRPr b="0" lang="de-DE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1206360" y="4248360"/>
            <a:ext cx="21970440" cy="8255160"/>
          </a:xfrm>
          <a:prstGeom prst="rect">
            <a:avLst/>
          </a:prstGeom>
          <a:noFill/>
          <a:ln w="12600">
            <a:noFill/>
          </a:ln>
        </p:spPr>
        <p:txBody>
          <a:bodyPr numCol="1" spcCol="38160" lIns="50760" rIns="50760" tIns="50760" bIns="5076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de-DE" sz="18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99" name="Bild" descr="Bild"/>
          <p:cNvPicPr/>
          <p:nvPr/>
        </p:nvPicPr>
        <p:blipFill>
          <a:blip r:embed="rId1"/>
          <a:stretch/>
        </p:blipFill>
        <p:spPr>
          <a:xfrm>
            <a:off x="2628360" y="4348800"/>
            <a:ext cx="19126800" cy="7246800"/>
          </a:xfrm>
          <a:prstGeom prst="rect">
            <a:avLst/>
          </a:prstGeom>
          <a:noFill/>
          <a:ln w="12700">
            <a:noFill/>
          </a:ln>
        </p:spPr>
      </p:pic>
      <p:grpSp>
        <p:nvGrpSpPr>
          <p:cNvPr id="100" name="Very Similar Embedding:…"/>
          <p:cNvGrpSpPr/>
          <p:nvPr/>
        </p:nvGrpSpPr>
        <p:grpSpPr>
          <a:xfrm>
            <a:off x="12481200" y="4445640"/>
            <a:ext cx="9213120" cy="7052760"/>
            <a:chOff x="12481200" y="4445640"/>
            <a:chExt cx="9213120" cy="7052760"/>
          </a:xfrm>
        </p:grpSpPr>
        <p:sp>
          <p:nvSpPr>
            <p:cNvPr id="101" name="Rechteck"/>
            <p:cNvSpPr/>
            <p:nvPr/>
          </p:nvSpPr>
          <p:spPr>
            <a:xfrm>
              <a:off x="12481200" y="4445640"/>
              <a:ext cx="9213120" cy="7052760"/>
            </a:xfrm>
            <a:prstGeom prst="rect">
              <a:avLst/>
            </a:prstGeom>
            <a:solidFill>
              <a:srgbClr val="ffffff"/>
            </a:solidFill>
            <a:ln w="63500">
              <a:solidFill>
                <a:srgbClr val="ffe26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0" rIns="0" tIns="0" bIns="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de-DE" sz="3800" strike="noStrike" u="none">
                <a:solidFill>
                  <a:srgbClr val="5e5e5e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02" name="Very Similar Embedding:…"/>
            <p:cNvSpPr/>
            <p:nvPr/>
          </p:nvSpPr>
          <p:spPr>
            <a:xfrm>
              <a:off x="12512880" y="7388280"/>
              <a:ext cx="9149400" cy="116820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0" rIns="0" tIns="0" bIns="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de-DE" sz="3800" strike="noStrike" u="none">
                  <a:solidFill>
                    <a:srgbClr val="5e5e5e"/>
                  </a:solidFill>
                  <a:effectLst/>
                  <a:uFillTx/>
                  <a:latin typeface="Arial"/>
                  <a:ea typeface="Arial"/>
                </a:rPr>
                <a:t>Very Similar Embedding:</a:t>
              </a:r>
              <a:endParaRPr b="0" lang="de-DE" sz="3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de-DE" sz="3800" strike="noStrike" u="none">
                  <a:solidFill>
                    <a:srgbClr val="5e5e5e"/>
                  </a:solidFill>
                  <a:effectLst/>
                  <a:uFillTx/>
                  <a:latin typeface="Arial"/>
                  <a:ea typeface="Arial"/>
                </a:rPr>
                <a:t>—&gt; spoiled measurements</a:t>
              </a:r>
              <a:endParaRPr b="0" lang="de-DE" sz="3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9" dur="indefinite" restart="never" nodeType="tmRoot">
          <p:childTnLst>
            <p:seq>
              <p:cTn id="40" dur="indefinite" nodeType="mainSeq">
                <p:childTnLst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de-DE" sz="8500" spc="-201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Positive </a:t>
            </a:r>
            <a:r>
              <a:rPr b="1" lang="de-DE" sz="8500" spc="-201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Samples </a:t>
            </a:r>
            <a:r>
              <a:rPr b="1" lang="de-DE" sz="8500" spc="-201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Filtering</a:t>
            </a:r>
            <a:endParaRPr b="0" lang="de-DE" sz="8500" strike="noStrike" u="none">
              <a:solidFill>
                <a:srgbClr val="5e5e5e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206360" y="2373120"/>
            <a:ext cx="21970440" cy="934200"/>
          </a:xfrm>
          <a:prstGeom prst="rect">
            <a:avLst/>
          </a:prstGeom>
          <a:noFill/>
          <a:ln w="12600">
            <a:noFill/>
          </a:ln>
        </p:spPr>
        <p:txBody>
          <a:bodyPr numCol="1" spcCol="38160" lIns="45720" rIns="45720" tIns="45720" bIns="45720" anchor="t">
            <a:noAutofit/>
          </a:bodyPr>
          <a:p>
            <a:pPr indent="0" defTabSz="82548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55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same Name, </a:t>
            </a:r>
            <a:r>
              <a:rPr b="1" lang="de-DE" sz="55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same File</a:t>
            </a:r>
            <a:endParaRPr b="0" lang="de-DE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Bild" descr="Bild"/>
          <p:cNvPicPr/>
          <p:nvPr/>
        </p:nvPicPr>
        <p:blipFill>
          <a:blip r:embed="rId1"/>
          <a:stretch/>
        </p:blipFill>
        <p:spPr>
          <a:xfrm>
            <a:off x="2600280" y="2921760"/>
            <a:ext cx="19182960" cy="892044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06" name="Linie"/>
          <p:cNvSpPr/>
          <p:nvPr/>
        </p:nvSpPr>
        <p:spPr>
          <a:xfrm flipH="1">
            <a:off x="7495920" y="5144040"/>
            <a:ext cx="2309400" cy="3765960"/>
          </a:xfrm>
          <a:prstGeom prst="line">
            <a:avLst/>
          </a:prstGeom>
          <a:ln w="63500">
            <a:solidFill>
              <a:srgbClr val="ee8c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de-DE" sz="18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7" name="Linie"/>
          <p:cNvSpPr/>
          <p:nvPr/>
        </p:nvSpPr>
        <p:spPr>
          <a:xfrm>
            <a:off x="9808200" y="5180040"/>
            <a:ext cx="7225560" cy="3705840"/>
          </a:xfrm>
          <a:prstGeom prst="line">
            <a:avLst/>
          </a:prstGeom>
          <a:ln w="63500">
            <a:solidFill>
              <a:srgbClr val="ee8c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de-DE" sz="1800" strike="noStrike" u="none">
              <a:solidFill>
                <a:srgbClr val="5e5e5e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8" name="Slight differences in assembly"/>
          <p:cNvSpPr/>
          <p:nvPr/>
        </p:nvSpPr>
        <p:spPr>
          <a:xfrm>
            <a:off x="4907880" y="4398840"/>
            <a:ext cx="5381280" cy="4824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de-DE" sz="3200" strike="noStrike" u="none">
                <a:solidFill>
                  <a:srgbClr val="5e5e5e"/>
                </a:solidFill>
                <a:effectLst/>
                <a:uFillTx/>
                <a:latin typeface="Arial"/>
                <a:ea typeface="Arial"/>
              </a:rPr>
              <a:t>Slight differences in assembly</a:t>
            </a:r>
            <a:endParaRPr b="0" lang="de-DE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5" dur="indefinite" restart="never" nodeType="tmRoot">
          <p:childTnLst>
            <p:seq>
              <p:cTn id="46" dur="indefinite" nodeType="mainSeq">
                <p:childTnLst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ntr" presetID="1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206360" y="1079640"/>
            <a:ext cx="21970440" cy="14324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de-DE" sz="8500" spc="-201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Inference</a:t>
            </a:r>
            <a:endParaRPr b="0" lang="de-DE" sz="8500" strike="noStrike" u="none">
              <a:solidFill>
                <a:srgbClr val="5e5e5e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1206360" y="2373120"/>
            <a:ext cx="21970440" cy="934200"/>
          </a:xfrm>
          <a:prstGeom prst="rect">
            <a:avLst/>
          </a:prstGeom>
          <a:noFill/>
          <a:ln w="12600">
            <a:noFill/>
          </a:ln>
        </p:spPr>
        <p:txBody>
          <a:bodyPr numCol="1" spcCol="38160" lIns="45720" rIns="45720" tIns="45720" bIns="45720" anchor="t">
            <a:noAutofit/>
          </a:bodyPr>
          <a:p>
            <a:pPr indent="0" defTabSz="16092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de-DE" sz="5600" spc="-201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Function Pools 2</a:t>
            </a:r>
            <a:endParaRPr b="0" lang="de-DE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3"/>
          <p:cNvSpPr/>
          <p:nvPr/>
        </p:nvSpPr>
        <p:spPr>
          <a:xfrm>
            <a:off x="1206360" y="4248360"/>
            <a:ext cx="21970440" cy="82551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t">
            <a:normAutofit/>
          </a:bodyPr>
          <a:p>
            <a:pPr marL="609480" indent="-609480" defTabSz="2438280">
              <a:lnSpc>
                <a:spcPct val="90000"/>
              </a:lnSpc>
              <a:spcBef>
                <a:spcPts val="4501"/>
              </a:spcBef>
              <a:buClr>
                <a:srgbClr val="000000"/>
              </a:buClr>
              <a:buSzPct val="123000"/>
              <a:buFont typeface="Symbol"/>
              <a:buChar char="·"/>
            </a:pPr>
            <a:r>
              <a:rPr b="0" lang="de-DE" sz="48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200 Negative Samples: </a:t>
            </a:r>
            <a:endParaRPr b="0" lang="de-DE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828800" indent="-609480" defTabSz="2438280">
              <a:lnSpc>
                <a:spcPct val="90000"/>
              </a:lnSpc>
              <a:spcBef>
                <a:spcPts val="4501"/>
              </a:spcBef>
              <a:buClr>
                <a:srgbClr val="000000"/>
              </a:buClr>
              <a:buSzPct val="123000"/>
              <a:buFont typeface="Symbol"/>
              <a:buChar char="·"/>
            </a:pPr>
            <a:r>
              <a:rPr b="0" lang="de-DE" sz="48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Randomly pick 100 samples from each of the two test projects</a:t>
            </a:r>
            <a:endParaRPr b="0" lang="de-DE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828800" indent="-609480" defTabSz="2438280">
              <a:lnSpc>
                <a:spcPct val="90000"/>
              </a:lnSpc>
              <a:spcBef>
                <a:spcPts val="4501"/>
              </a:spcBef>
              <a:buClr>
                <a:srgbClr val="000000"/>
              </a:buClr>
              <a:buSzPct val="123000"/>
              <a:buFont typeface="Symbol"/>
              <a:buChar char="·"/>
            </a:pPr>
            <a:r>
              <a:rPr b="0" lang="de-DE" sz="48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Ensure each sample has a different name than the anchor</a:t>
            </a:r>
            <a:endParaRPr b="0" lang="de-DE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09480" indent="-609480" defTabSz="2438280">
              <a:lnSpc>
                <a:spcPct val="90000"/>
              </a:lnSpc>
              <a:spcBef>
                <a:spcPts val="4501"/>
              </a:spcBef>
              <a:buClr>
                <a:srgbClr val="000000"/>
              </a:buClr>
              <a:buSzPct val="123000"/>
              <a:buFont typeface="Symbol"/>
              <a:buChar char="·"/>
            </a:pPr>
            <a:r>
              <a:rPr b="0" lang="de-DE" sz="48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Anchor Function:</a:t>
            </a:r>
            <a:endParaRPr b="0" lang="de-DE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2438280" indent="-609480" defTabSz="2438280">
              <a:lnSpc>
                <a:spcPct val="90000"/>
              </a:lnSpc>
              <a:spcBef>
                <a:spcPts val="4501"/>
              </a:spcBef>
              <a:buClr>
                <a:srgbClr val="000000"/>
              </a:buClr>
              <a:buSzPct val="123000"/>
              <a:buFont typeface="Symbol"/>
              <a:buChar char="·"/>
            </a:pPr>
            <a:r>
              <a:rPr b="0" lang="de-DE" sz="4800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Pick an arbitrary variant of similar named functions</a:t>
            </a:r>
            <a:endParaRPr b="0" lang="de-DE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206360" y="1079640"/>
            <a:ext cx="21970440" cy="14324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de-DE" sz="8500" spc="-201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Training Configuration</a:t>
            </a:r>
            <a:endParaRPr b="0" lang="de-DE" sz="8500" strike="noStrike" u="none">
              <a:solidFill>
                <a:srgbClr val="5e5e5e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3" name="Tabelle"/>
          <p:cNvGraphicFramePr/>
          <p:nvPr/>
        </p:nvGraphicFramePr>
        <p:xfrm>
          <a:off x="2877120" y="3518280"/>
          <a:ext cx="18628920" cy="8777880"/>
        </p:xfrm>
        <a:graphic>
          <a:graphicData uri="http://schemas.openxmlformats.org/drawingml/2006/table">
            <a:tbl>
              <a:tblPr/>
              <a:tblGrid>
                <a:gridCol w="9314640"/>
                <a:gridCol w="9314640"/>
              </a:tblGrid>
              <a:tr h="975240"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de-DE" sz="3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Batch Size</a:t>
                      </a:r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3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96</a:t>
                      </a:r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75240"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de-DE" sz="3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Learning Rate</a:t>
                      </a:r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3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0,0001</a:t>
                      </a:r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75240"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de-DE" sz="3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Epochs</a:t>
                      </a:r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3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10</a:t>
                      </a:r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75240"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de-DE" sz="3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Number of Attention Heads</a:t>
                      </a:r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3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4</a:t>
                      </a:r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75240"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de-DE" sz="3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Number of Hidden Layers</a:t>
                      </a:r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3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4</a:t>
                      </a:r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75240"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de-DE" sz="3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Train Data</a:t>
                      </a:r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3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clamav, nmap, openssl ( ~ 1GB )</a:t>
                      </a:r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75240"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de-DE" sz="3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Validation Data</a:t>
                      </a:r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3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curl ( ~ 40MB )</a:t>
                      </a:r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75240"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de-DE" sz="3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Test Data</a:t>
                      </a:r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3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zlib, unrar ( ~ 400MB )</a:t>
                      </a:r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75240"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de-DE" sz="3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Binary Data Architecture</a:t>
                      </a:r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3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X64</a:t>
                      </a:r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206360" y="1079640"/>
            <a:ext cx="21970440" cy="1432440"/>
          </a:xfrm>
          <a:prstGeom prst="rect">
            <a:avLst/>
          </a:prstGeom>
          <a:noFill/>
          <a:ln w="12600">
            <a:noFill/>
          </a:ln>
        </p:spPr>
        <p:txBody>
          <a:bodyPr lIns="50760" rIns="50760" tIns="50760" bIns="50760" anchor="t">
            <a:noAutofit/>
          </a:bodyPr>
          <a:p>
            <a:pPr indent="0" defTabSz="243828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de-DE" sz="8500" spc="-201" strike="noStrike" u="none"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</a:rPr>
              <a:t>Results</a:t>
            </a:r>
            <a:endParaRPr b="0" lang="de-DE" sz="8500" strike="noStrike" u="none">
              <a:solidFill>
                <a:srgbClr val="5e5e5e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5" name="Tabelle"/>
          <p:cNvGraphicFramePr/>
          <p:nvPr/>
        </p:nvGraphicFramePr>
        <p:xfrm>
          <a:off x="1736640" y="3136320"/>
          <a:ext cx="20910600" cy="9025920"/>
        </p:xfrm>
        <a:graphic>
          <a:graphicData uri="http://schemas.openxmlformats.org/drawingml/2006/table">
            <a:tbl>
              <a:tblPr/>
              <a:tblGrid>
                <a:gridCol w="5227560"/>
                <a:gridCol w="5227560"/>
                <a:gridCol w="5227560"/>
                <a:gridCol w="5227560"/>
              </a:tblGrid>
              <a:tr h="1289160"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3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MLM Split Opcodes/Operands</a:t>
                      </a:r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3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MRR</a:t>
                      </a:r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3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nDCG</a:t>
                      </a:r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3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Prec@10 (top_K)</a:t>
                      </a:r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289160"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3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Random (baseline)</a:t>
                      </a:r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3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0.1305</a:t>
                      </a:r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3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0.8339</a:t>
                      </a:r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3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0.8870</a:t>
                      </a:r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289160"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3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90/10</a:t>
                      </a:r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3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0.1316</a:t>
                      </a:r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3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0.8585</a:t>
                      </a:r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3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0.8886</a:t>
                      </a:r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289160"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3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80/20</a:t>
                      </a:r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3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0.1316</a:t>
                      </a:r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3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0.8493</a:t>
                      </a:r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3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0.8893</a:t>
                      </a:r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289160"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3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70/30</a:t>
                      </a:r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3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0.1285</a:t>
                      </a:r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3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0.8226</a:t>
                      </a:r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3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0.8769</a:t>
                      </a:r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289160"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3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60/40</a:t>
                      </a:r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Helvetica Neue"/>
                        <a:ea typeface="Helvetica Neue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Helvetica Neue"/>
                        <a:ea typeface="Helvetica Neue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>
                      <a:noAutofit/>
                    </a:bodyPr>
                    <a:p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Helvetica Neue"/>
                        <a:ea typeface="Helvetica Neue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289160">
                <a:tc>
                  <a:txBody>
                    <a:bodyPr lIns="50760" rIns="50760" tIns="50760" bIns="507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de-DE" sz="3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Helvetica Neue"/>
                          <a:ea typeface="Helvetica Neue"/>
                        </a:rPr>
                        <a:t>20/80</a:t>
                      </a:r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 anchorCtr="1">
                      <a:noAutofit/>
                    </a:bodyPr>
                    <a:p>
                      <a:pPr algn="ctr"/>
                      <a:r>
                        <a:rPr b="0" lang="de-DE" sz="3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Helvetica Neue"/>
                        </a:rPr>
                        <a:t>0.1328</a:t>
                      </a:r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Helvetica Neue"/>
                        <a:ea typeface="Helvetica Neue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 anchorCtr="1">
                      <a:noAutofit/>
                    </a:bodyPr>
                    <a:p>
                      <a:pPr algn="ctr"/>
                      <a:r>
                        <a:rPr b="0" lang="de-DE" sz="3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Helvetica Neue"/>
                        </a:rPr>
                        <a:t>0.8499</a:t>
                      </a:r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Helvetica Neue"/>
                        <a:ea typeface="Helvetica Neue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0760" rIns="50760" tIns="50760" bIns="50760" anchor="ctr" anchorCtr="1">
                      <a:noAutofit/>
                    </a:bodyPr>
                    <a:p>
                      <a:pPr algn="ctr"/>
                      <a:r>
                        <a:rPr b="0" lang="de-DE" sz="3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Helvetica Neue"/>
                        </a:rPr>
                        <a:t>0.8936</a:t>
                      </a:r>
                      <a:endParaRPr b="0" lang="de-DE" sz="3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Helvetica Neue"/>
                        <a:ea typeface="Helvetica Neue"/>
                      </a:endParaRPr>
                    </a:p>
                  </a:txBody>
                  <a:tcPr anchor="ctr" marL="50760" marR="50760" marT="50760" marB="5076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" pitchFamily="0" charset="1"/>
        <a:ea typeface="Helvetica" pitchFamily="0" charset="1"/>
        <a:cs typeface="Helvetica" pitchFamily="0" charset="1"/>
      </a:majorFont>
      <a:minorFont>
        <a:latin typeface="Helvetica Neue" pitchFamily="0" charset="1"/>
        <a:ea typeface="Helvetica Neue" pitchFamily="0" charset="1"/>
        <a:cs typeface="Helvetica Neue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LibreOffice/25.8.3.2$Linux_X86_64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de-DE</dc:language>
  <cp:lastModifiedBy/>
  <dcterms:modified xsi:type="dcterms:W3CDTF">2026-02-10T19:47:11Z</dcterms:modified>
  <cp:revision>2</cp:revision>
  <dc:subject/>
  <dc:title/>
</cp:coreProperties>
</file>
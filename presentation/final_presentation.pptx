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omments/comment1.xml" ContentType="application/vnd.openxmlformats-officedocument.presentationml.comments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5E5E5E"/>
        </a:solidFill>
        <a:effectLst/>
        <a:uFillTx/>
        <a:latin typeface="+mj-lt"/>
        <a:ea typeface="+mj-ea"/>
        <a:cs typeface="+mj-cs"/>
        <a:sym typeface="Helvetica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Author id="0" name="Julian Geißinger" initials="JG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FFF"/>
          </a:solidFill>
        </a:fill>
      </a:tcStyle>
    </a:wholeTbl>
    <a:band2H>
      <a:tcTxStyle b="def" i="def"/>
      <a:tcStyle>
        <a:tcBdr/>
        <a:fill>
          <a:solidFill>
            <a:srgbClr val="E6F0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F0CC"/>
          </a:solidFill>
        </a:fill>
      </a:tcStyle>
    </a:wholeTbl>
    <a:band2H>
      <a:tcTxStyle b="def" i="def"/>
      <a:tcStyle>
        <a:tcBdr/>
        <a:fill>
          <a:solidFill>
            <a:srgbClr val="EAF8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FCDDF"/>
          </a:solidFill>
        </a:fill>
      </a:tcStyle>
    </a:wholeTbl>
    <a:band2H>
      <a:tcTxStyle b="def" i="def"/>
      <a:tcStyle>
        <a:tcBdr/>
        <a:fill>
          <a:solidFill>
            <a:srgbClr val="FFE8F0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9E9E9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5E5E5E"/>
        </a:fontRef>
        <a:srgbClr val="5E5E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5E5E5E"/>
              </a:solidFill>
              <a:prstDash val="solid"/>
              <a:round/>
            </a:ln>
          </a:top>
          <a:bottom>
            <a:ln w="25400" cap="flat">
              <a:solidFill>
                <a:srgbClr val="5E5E5E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5E5E5E"/>
        </a:fontRef>
        <a:srgbClr val="5E5E5E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D1D1"/>
          </a:solidFill>
        </a:fill>
      </a:tcStyle>
    </a:wholeTbl>
    <a:band2H>
      <a:tcTxStyle b="def" i="def"/>
      <a:tcStyle>
        <a:tcBdr/>
        <a:fill>
          <a:solidFill>
            <a:srgbClr val="E9E9E9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5E5E5E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comments" Target="comments/comment1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m authorId="0" dt="2026-02-09T22:48:11.927" idx="1">
    <p:pos x="7615" y="1003"/>
    <p:text>We use the tokenization of clap because it preserves opcodes as one token, which is needed for our opcode categorization during own Masking Approach </p:text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Shape 145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146" name="Shape 146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Helvetica Neue"/>
      </a:defRPr>
    </a:lvl1pPr>
    <a:lvl2pPr indent="228600" latinLnBrk="0">
      <a:defRPr sz="1200">
        <a:latin typeface="+mn-lt"/>
        <a:ea typeface="+mn-ea"/>
        <a:cs typeface="+mn-cs"/>
        <a:sym typeface="Helvetica Neue"/>
      </a:defRPr>
    </a:lvl2pPr>
    <a:lvl3pPr indent="457200" latinLnBrk="0">
      <a:defRPr sz="1200">
        <a:latin typeface="+mn-lt"/>
        <a:ea typeface="+mn-ea"/>
        <a:cs typeface="+mn-cs"/>
        <a:sym typeface="Helvetica Neue"/>
      </a:defRPr>
    </a:lvl3pPr>
    <a:lvl4pPr indent="685800" latinLnBrk="0">
      <a:defRPr sz="1200">
        <a:latin typeface="+mn-lt"/>
        <a:ea typeface="+mn-ea"/>
        <a:cs typeface="+mn-cs"/>
        <a:sym typeface="Helvetica Neue"/>
      </a:defRPr>
    </a:lvl4pPr>
    <a:lvl5pPr indent="914400" latinLnBrk="0">
      <a:defRPr sz="1200">
        <a:latin typeface="+mn-lt"/>
        <a:ea typeface="+mn-ea"/>
        <a:cs typeface="+mn-cs"/>
        <a:sym typeface="Helvetica Neue"/>
      </a:defRPr>
    </a:lvl5pPr>
    <a:lvl6pPr indent="1143000" latinLnBrk="0">
      <a:defRPr sz="1200">
        <a:latin typeface="+mn-lt"/>
        <a:ea typeface="+mn-ea"/>
        <a:cs typeface="+mn-cs"/>
        <a:sym typeface="Helvetica Neue"/>
      </a:defRPr>
    </a:lvl6pPr>
    <a:lvl7pPr indent="1371600" latinLnBrk="0">
      <a:defRPr sz="1200">
        <a:latin typeface="+mn-lt"/>
        <a:ea typeface="+mn-ea"/>
        <a:cs typeface="+mn-cs"/>
        <a:sym typeface="Helvetica Neue"/>
      </a:defRPr>
    </a:lvl7pPr>
    <a:lvl8pPr indent="1600200" latinLnBrk="0">
      <a:defRPr sz="1200">
        <a:latin typeface="+mn-lt"/>
        <a:ea typeface="+mn-ea"/>
        <a:cs typeface="+mn-cs"/>
        <a:sym typeface="Helvetica Neue"/>
      </a:defRPr>
    </a:lvl8pPr>
    <a:lvl9pPr indent="1828800" latinLnBrk="0">
      <a:defRPr sz="1200">
        <a:latin typeface="+mn-lt"/>
        <a:ea typeface="+mn-ea"/>
        <a:cs typeface="+mn-cs"/>
        <a:sym typeface="Helvetica Neue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ufstell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ebene 1…"/>
          <p:cNvSpPr txBox="1"/>
          <p:nvPr>
            <p:ph type="body" sz="half" idx="1"/>
          </p:nvPr>
        </p:nvSpPr>
        <p:spPr>
          <a:xfrm>
            <a:off x="1206359" y="4920839"/>
            <a:ext cx="21970802" cy="3873961"/>
          </a:xfrm>
          <a:prstGeom prst="rect">
            <a:avLst/>
          </a:prstGeom>
        </p:spPr>
        <p:txBody>
          <a:bodyPr numCol="1" spcCol="38100" anchor="ctr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akt (groß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ebene 1…"/>
          <p:cNvSpPr txBox="1"/>
          <p:nvPr>
            <p:ph type="body" idx="1"/>
          </p:nvPr>
        </p:nvSpPr>
        <p:spPr>
          <a:xfrm>
            <a:off x="1206359" y="1076040"/>
            <a:ext cx="21970802" cy="7241400"/>
          </a:xfrm>
          <a:prstGeom prst="rect">
            <a:avLst/>
          </a:prstGeom>
        </p:spPr>
        <p:txBody>
          <a:bodyPr numCol="1" spcCol="38100" anchor="b"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0" name="PlaceHolder 2"/>
          <p:cNvSpPr/>
          <p:nvPr>
            <p:ph type="body" sz="quarter" idx="21"/>
          </p:nvPr>
        </p:nvSpPr>
        <p:spPr>
          <a:xfrm>
            <a:off x="1206359" y="826236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extebene 1…"/>
          <p:cNvSpPr txBox="1"/>
          <p:nvPr>
            <p:ph type="body" sz="quarter" idx="1"/>
          </p:nvPr>
        </p:nvSpPr>
        <p:spPr>
          <a:xfrm>
            <a:off x="2429997" y="10675439"/>
            <a:ext cx="20199605" cy="63648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9" name="PlaceHolder 2"/>
          <p:cNvSpPr/>
          <p:nvPr>
            <p:ph type="body" sz="half" idx="21"/>
          </p:nvPr>
        </p:nvSpPr>
        <p:spPr>
          <a:xfrm>
            <a:off x="1753921" y="4939920"/>
            <a:ext cx="20875678" cy="383580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 - 3 Stü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ebene 1…"/>
          <p:cNvSpPr txBox="1"/>
          <p:nvPr>
            <p:ph type="body" sz="quarter" idx="1"/>
          </p:nvPr>
        </p:nvSpPr>
        <p:spPr>
          <a:xfrm>
            <a:off x="15760800" y="1015918"/>
            <a:ext cx="7438685" cy="5949366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8" name="PlaceHolder 3"/>
          <p:cNvSpPr/>
          <p:nvPr>
            <p:ph type="body" idx="21"/>
          </p:nvPr>
        </p:nvSpPr>
        <p:spPr>
          <a:xfrm>
            <a:off x="-139681" y="495356"/>
            <a:ext cx="16611121" cy="12458528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4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Textebene 1…"/>
          <p:cNvSpPr txBox="1"/>
          <p:nvPr>
            <p:ph type="body" idx="1"/>
          </p:nvPr>
        </p:nvSpPr>
        <p:spPr>
          <a:xfrm>
            <a:off x="-1333441" y="-5524561"/>
            <a:ext cx="27050765" cy="21640323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57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ebene 1…"/>
          <p:cNvSpPr txBox="1"/>
          <p:nvPr>
            <p:ph type="body" sz="quarter" idx="1"/>
          </p:nvPr>
        </p:nvSpPr>
        <p:spPr>
          <a:xfrm>
            <a:off x="1201319" y="11859838"/>
            <a:ext cx="21970802" cy="63648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36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2" name="Titeltext"/>
          <p:cNvSpPr txBox="1"/>
          <p:nvPr>
            <p:ph type="title"/>
          </p:nvPr>
        </p:nvSpPr>
        <p:spPr>
          <a:xfrm>
            <a:off x="1206359" y="2575080"/>
            <a:ext cx="21970802" cy="4647961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73" name="PlaceHolder 3"/>
          <p:cNvSpPr/>
          <p:nvPr>
            <p:ph type="body" sz="quarter" idx="21"/>
          </p:nvPr>
        </p:nvSpPr>
        <p:spPr>
          <a:xfrm>
            <a:off x="1201319" y="7223038"/>
            <a:ext cx="21970802" cy="190476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7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Textebene 1…"/>
          <p:cNvSpPr txBox="1"/>
          <p:nvPr>
            <p:ph type="body" idx="1"/>
          </p:nvPr>
        </p:nvSpPr>
        <p:spPr>
          <a:xfrm>
            <a:off x="-1155601" y="-1295282"/>
            <a:ext cx="26745844" cy="16018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2" name="Titeltext"/>
          <p:cNvSpPr txBox="1"/>
          <p:nvPr>
            <p:ph type="title"/>
          </p:nvPr>
        </p:nvSpPr>
        <p:spPr>
          <a:xfrm>
            <a:off x="1206359" y="7124758"/>
            <a:ext cx="21970802" cy="4647964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232" sz="116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83" name="PlaceHolder 4"/>
          <p:cNvSpPr/>
          <p:nvPr>
            <p:ph type="body" sz="quarter" idx="21"/>
          </p:nvPr>
        </p:nvSpPr>
        <p:spPr>
          <a:xfrm>
            <a:off x="1206359" y="11609999"/>
            <a:ext cx="21970802" cy="111672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84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F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Textebene 1…"/>
          <p:cNvSpPr txBox="1"/>
          <p:nvPr>
            <p:ph type="body" idx="1"/>
          </p:nvPr>
        </p:nvSpPr>
        <p:spPr>
          <a:xfrm>
            <a:off x="10972800" y="-203041"/>
            <a:ext cx="12144600" cy="14134682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marL="431999" indent="-323998"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buSzPct val="45000"/>
              <a:buChar char="●"/>
              <a:defRPr sz="2400">
                <a:latin typeface="+mn-lt"/>
                <a:ea typeface="+mn-ea"/>
                <a:cs typeface="+mn-cs"/>
                <a:sym typeface="Helvetica Neue"/>
              </a:defRPr>
            </a:lvl1pPr>
            <a:lvl2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2pPr>
            <a:lvl3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3pPr>
            <a:lvl4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4pPr>
            <a:lvl5pPr>
              <a:lnSpc>
                <a:spcPct val="90000"/>
              </a:lnSpc>
              <a:spcBef>
                <a:spcPts val="1400"/>
              </a:spcBef>
              <a:buClr>
                <a:srgbClr val="000000"/>
              </a:buClr>
              <a:defRPr sz="24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92" name="Titeltext"/>
          <p:cNvSpPr txBox="1"/>
          <p:nvPr>
            <p:ph type="title"/>
          </p:nvPr>
        </p:nvSpPr>
        <p:spPr>
          <a:xfrm>
            <a:off x="1206359" y="1270080"/>
            <a:ext cx="9778681" cy="5882043"/>
          </a:xfrm>
          <a:prstGeom prst="rect">
            <a:avLst/>
          </a:prstGeom>
        </p:spPr>
        <p:txBody>
          <a:bodyPr lIns="50760" tIns="50760" rIns="50760" bIns="50760" anchor="b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93" name="PlaceHolder 3"/>
          <p:cNvSpPr/>
          <p:nvPr>
            <p:ph type="body" sz="quarter" idx="21"/>
          </p:nvPr>
        </p:nvSpPr>
        <p:spPr>
          <a:xfrm>
            <a:off x="1206360" y="7060679"/>
            <a:ext cx="9778680" cy="5385244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94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 &amp; 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eltext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02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03" name="PlaceHolder 3"/>
          <p:cNvSpPr/>
          <p:nvPr>
            <p:ph type="body" idx="21"/>
          </p:nvPr>
        </p:nvSpPr>
        <p:spPr>
          <a:xfrm>
            <a:off x="1206359" y="4248360"/>
            <a:ext cx="21970802" cy="8255522"/>
          </a:xfrm>
          <a:prstGeom prst="rect">
            <a:avLst/>
          </a:prstGeom>
        </p:spPr>
        <p:txBody>
          <a:bodyPr numCol="1" spcCol="38100"/>
          <a:lstStyle/>
          <a:p>
            <a:pPr/>
          </a:p>
        </p:txBody>
      </p:sp>
      <p:sp>
        <p:nvSpPr>
          <p:cNvPr id="10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unk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ebene 1…"/>
          <p:cNvSpPr txBox="1"/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1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el, Punkte &amp; 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Textebene 1…"/>
          <p:cNvSpPr txBox="1"/>
          <p:nvPr>
            <p:ph type="body" sz="quarter" idx="1"/>
          </p:nvPr>
        </p:nvSpPr>
        <p:spPr>
          <a:xfrm>
            <a:off x="1206359" y="2373120"/>
            <a:ext cx="9778681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20" name="PlaceHolder 3"/>
          <p:cNvSpPr/>
          <p:nvPr>
            <p:ph type="body" idx="21"/>
          </p:nvPr>
        </p:nvSpPr>
        <p:spPr>
          <a:xfrm>
            <a:off x="12192120" y="-407161"/>
            <a:ext cx="10916641" cy="14555521"/>
          </a:xfrm>
          <a:prstGeom prst="rect">
            <a:avLst/>
          </a:prstGeom>
        </p:spPr>
        <p:txBody>
          <a:bodyPr lIns="45718" tIns="45718" rIns="45718" bIns="45718" numCol="1" spcCol="38100"/>
          <a:lstStyle/>
          <a:p>
            <a:pPr/>
          </a:p>
        </p:txBody>
      </p:sp>
      <p:sp>
        <p:nvSpPr>
          <p:cNvPr id="121" name="Titeltext"/>
          <p:cNvSpPr txBox="1"/>
          <p:nvPr>
            <p:ph type="title"/>
          </p:nvPr>
        </p:nvSpPr>
        <p:spPr>
          <a:xfrm>
            <a:off x="1206359" y="1079640"/>
            <a:ext cx="9778681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Abschnit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iteltext"/>
          <p:cNvSpPr txBox="1"/>
          <p:nvPr>
            <p:ph type="title"/>
          </p:nvPr>
        </p:nvSpPr>
        <p:spPr>
          <a:xfrm>
            <a:off x="1206359" y="4533839"/>
            <a:ext cx="21970802" cy="4647965"/>
          </a:xfrm>
          <a:prstGeom prst="rect">
            <a:avLst/>
          </a:prstGeom>
        </p:spPr>
        <p:txBody>
          <a:bodyPr lIns="50760" tIns="50760" rIns="50760" bIns="50760">
            <a:normAutofit fontScale="100000" lnSpcReduction="0"/>
          </a:bodyPr>
          <a:lstStyle>
            <a:lvl1pPr defTabSz="2438280">
              <a:lnSpc>
                <a:spcPct val="80000"/>
              </a:lnSpc>
              <a:defRPr spc="-232" sz="1160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0" name="Foliennummer"/>
          <p:cNvSpPr txBox="1"/>
          <p:nvPr>
            <p:ph type="sldNum" sz="quarter" idx="2"/>
          </p:nvPr>
        </p:nvSpPr>
        <p:spPr>
          <a:xfrm>
            <a:off x="12001320" y="13078760"/>
            <a:ext cx="368494" cy="380921"/>
          </a:xfrm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Titeltext"/>
          <p:cNvSpPr txBox="1"/>
          <p:nvPr>
            <p:ph type="title"/>
          </p:nvPr>
        </p:nvSpPr>
        <p:spPr>
          <a:xfrm>
            <a:off x="1206359" y="1079640"/>
            <a:ext cx="21970802" cy="1434602"/>
          </a:xfrm>
          <a:prstGeom prst="rect">
            <a:avLst/>
          </a:prstGeom>
        </p:spPr>
        <p:txBody>
          <a:bodyPr lIns="50760" tIns="50760" rIns="50760" bIns="50760" anchor="t">
            <a:normAutofit fontScale="100000" lnSpcReduction="0"/>
          </a:bodyPr>
          <a:lstStyle>
            <a:lvl1pPr defTabSz="2438280">
              <a:lnSpc>
                <a:spcPct val="80000"/>
              </a:lnSpc>
              <a:defRPr b="1" spc="-170" sz="8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Titeltext</a:t>
            </a:r>
          </a:p>
        </p:txBody>
      </p:sp>
      <p:sp>
        <p:nvSpPr>
          <p:cNvPr id="138" name="Textebene 1…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 lIns="45718" tIns="45718" rIns="45718" bIns="45718" numCol="1" spcCol="38100"/>
          <a:lstStyle>
            <a:lvl1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1pPr>
            <a:lvl2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2pPr>
            <a:lvl3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3pPr>
            <a:lvl4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4pPr>
            <a:lvl5pPr defTabSz="825480">
              <a:defRPr b="1" sz="5500">
                <a:latin typeface="+mn-lt"/>
                <a:ea typeface="+mn-ea"/>
                <a:cs typeface="+mn-cs"/>
                <a:sym typeface="Helvetica Neue"/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9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ebene 1…"/>
          <p:cNvSpPr txBox="1"/>
          <p:nvPr>
            <p:ph type="body" idx="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 numCol="2" spcCol="1098720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" name="Titeltext"/>
          <p:cNvSpPr txBox="1"/>
          <p:nvPr>
            <p:ph type="title"/>
          </p:nvPr>
        </p:nvSpPr>
        <p:spPr>
          <a:xfrm>
            <a:off x="3653366" y="2168314"/>
            <a:ext cx="19507201" cy="208004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8" tIns="45718" rIns="45718" bIns="45718" anchor="ctr"/>
          <a:lstStyle/>
          <a:p>
            <a:pPr/>
            <a:r>
              <a:t>Titeltext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12001320" y="13074441"/>
            <a:ext cx="368494" cy="380921"/>
          </a:xfrm>
          <a:prstGeom prst="rect">
            <a:avLst/>
          </a:prstGeom>
          <a:ln w="12700">
            <a:miter lim="400000"/>
          </a:ln>
        </p:spPr>
        <p:txBody>
          <a:bodyPr wrap="none" lIns="50760" tIns="50760" rIns="50760" bIns="50760" anchor="b">
            <a:spAutoFit/>
          </a:bodyPr>
          <a:lstStyle>
            <a:lvl1pPr>
              <a:defRPr>
                <a:solidFill>
                  <a:srgbClr val="000000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rgbClr val="000000"/>
          </a:solidFill>
          <a:uFillTx/>
          <a:latin typeface="+mj-lt"/>
          <a:ea typeface="+mj-ea"/>
          <a:cs typeface="+mj-cs"/>
          <a:sym typeface="Helvetica"/>
        </a:defRPr>
      </a:lvl9pPr>
    </p:bodyStyle>
    <p:other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800" u="none">
          <a:solidFill>
            <a:schemeClr val="tx1"/>
          </a:solidFill>
          <a:uFillTx/>
          <a:latin typeface="+mn-lt"/>
          <a:ea typeface="+mn-ea"/>
          <a:cs typeface="+mn-cs"/>
          <a:sym typeface="Helvetica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</Relationships>
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comments" Target="../comments/comment1.xml"/><Relationship Id="rId3" Type="http://schemas.openxmlformats.org/officeDocument/2006/relationships/image" Target="../media/image1.png"/></Relationships>
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2.png"/></Relationships>
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/Relationships>
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 txBox="1"/>
          <p:nvPr>
            <p:ph type="body" sz="quarter" idx="1"/>
          </p:nvPr>
        </p:nvSpPr>
        <p:spPr>
          <a:xfrm>
            <a:off x="1201319" y="11859838"/>
            <a:ext cx="21970802" cy="636484"/>
          </a:xfrm>
          <a:prstGeom prst="rect">
            <a:avLst/>
          </a:prstGeom>
        </p:spPr>
        <p:txBody>
          <a:bodyPr/>
          <a:lstStyle/>
          <a:p>
            <a:pPr/>
            <a:r>
              <a:t>Roman Rankl, Julian Geißinger</a:t>
            </a:r>
          </a:p>
        </p:txBody>
      </p:sp>
      <p:sp>
        <p:nvSpPr>
          <p:cNvPr id="149" name="PlaceHolder 2"/>
          <p:cNvSpPr txBox="1"/>
          <p:nvPr>
            <p:ph type="title"/>
          </p:nvPr>
        </p:nvSpPr>
        <p:spPr>
          <a:xfrm>
            <a:off x="1206359" y="2575079"/>
            <a:ext cx="21970802" cy="4647965"/>
          </a:xfrm>
          <a:prstGeom prst="rect">
            <a:avLst/>
          </a:prstGeom>
        </p:spPr>
        <p:txBody>
          <a:bodyPr/>
          <a:lstStyle>
            <a:lvl1pPr>
              <a:defRPr spc="-300"/>
            </a:lvl1pPr>
          </a:lstStyle>
          <a:p>
            <a:pPr/>
            <a:r>
              <a:t>Binary Analysis using BERT</a:t>
            </a:r>
          </a:p>
        </p:txBody>
      </p:sp>
      <p:sp>
        <p:nvSpPr>
          <p:cNvPr id="150" name="PlaceHolder 3"/>
          <p:cNvSpPr txBox="1"/>
          <p:nvPr/>
        </p:nvSpPr>
        <p:spPr>
          <a:xfrm>
            <a:off x="1201319" y="7223038"/>
            <a:ext cx="21970802" cy="19047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>
            <a:lvl1pPr defTabSz="825480">
              <a:defRPr b="1" sz="55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/>
            <a:r>
              <a:t>Explainability of the Input Space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Motivation</a:t>
            </a:r>
          </a:p>
        </p:txBody>
      </p:sp>
      <p:sp>
        <p:nvSpPr>
          <p:cNvPr id="153" name="PlaceHolder 2"/>
          <p:cNvSpPr txBox="1"/>
          <p:nvPr>
            <p:ph type="body" idx="1"/>
          </p:nvPr>
        </p:nvSpPr>
        <p:spPr>
          <a:xfrm>
            <a:off x="1206359" y="2992677"/>
            <a:ext cx="21970802" cy="8255522"/>
          </a:xfrm>
          <a:prstGeom prst="rect">
            <a:avLst/>
          </a:prstGeom>
        </p:spPr>
        <p:txBody>
          <a:bodyPr lIns="50760" tIns="50760" rIns="50760" bIns="50760"/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Measure the importance of certain model inputs for learning about binary function similarity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Recent Research</a:t>
            </a:r>
            <a:r>
              <a:rPr baseline="-5998"/>
              <a:t>[1]</a:t>
            </a:r>
            <a:r>
              <a:t> highlights the importance of instructions containing specific opcodes (like „call“ ) within a function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Our approach tries to extend the understanding about the relevance of certain inputs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b="0" sz="4800"/>
            </a:pPr>
            <a:r>
              <a:t>Instead of measuring the importance between different instructions, we compare the parts of an instruction ( opcode vs. operands )</a:t>
            </a:r>
          </a:p>
        </p:txBody>
      </p:sp>
      <p:sp>
        <p:nvSpPr>
          <p:cNvPr id="154" name="[1]:Dannehl, M., Valenzuela, S. &amp; Kinder, J. Which Instructions Matter the Most: A Saliency Analysis of Binary Function Embedding Models (2025)"/>
          <p:cNvSpPr txBox="1"/>
          <p:nvPr/>
        </p:nvSpPr>
        <p:spPr>
          <a:xfrm>
            <a:off x="1092690" y="12310743"/>
            <a:ext cx="22103352" cy="4064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>
              <a:defRPr sz="2700"/>
            </a:pPr>
            <a:r>
              <a:t>[1]:Dannehl, M., Valenzuela, S. &amp; Kinder, J. Which Instructions Matter the Most: A Saliency Analysis of Binary Function Embedding Models (2025)</a:t>
            </a:r>
            <a:r>
              <a:rPr sz="1800"/>
              <a:t> 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Pipeline</a:t>
            </a:r>
          </a:p>
        </p:txBody>
      </p:sp>
      <p:pic>
        <p:nvPicPr>
          <p:cNvPr id="157" name="Bild" descr="Bild"/>
          <p:cNvPicPr>
            <a:picLocks noChangeAspect="1"/>
          </p:cNvPicPr>
          <p:nvPr/>
        </p:nvPicPr>
        <p:blipFill>
          <a:blip r:embed="rId3">
            <a:extLst/>
          </a:blip>
          <a:stretch>
            <a:fillRect/>
          </a:stretch>
        </p:blipFill>
        <p:spPr>
          <a:xfrm>
            <a:off x="2420661" y="1846708"/>
            <a:ext cx="19542677" cy="10022584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160" name="Opcode Masking"/>
          <p:cNvGrpSpPr/>
          <p:nvPr/>
        </p:nvGrpSpPr>
        <p:grpSpPr>
          <a:xfrm>
            <a:off x="16416250" y="9380817"/>
            <a:ext cx="3293933" cy="2320475"/>
            <a:chOff x="0" y="0"/>
            <a:chExt cx="3293931" cy="2320474"/>
          </a:xfrm>
        </p:grpSpPr>
        <p:sp>
          <p:nvSpPr>
            <p:cNvPr id="158" name="Rechteck"/>
            <p:cNvSpPr/>
            <p:nvPr/>
          </p:nvSpPr>
          <p:spPr>
            <a:xfrm>
              <a:off x="0" y="-1"/>
              <a:ext cx="3293932" cy="2320476"/>
            </a:xfrm>
            <a:prstGeom prst="rect">
              <a:avLst/>
            </a:prstGeom>
            <a:solidFill>
              <a:srgbClr val="FFE265"/>
            </a:solidFill>
            <a:ln w="127000" cap="flat">
              <a:solidFill>
                <a:srgbClr val="A7A7A7"/>
              </a:solidFill>
              <a:prstDash val="sysDot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59" name="Opcode Masking"/>
            <p:cNvSpPr txBox="1"/>
            <p:nvPr/>
          </p:nvSpPr>
          <p:spPr>
            <a:xfrm>
              <a:off x="63500" y="608067"/>
              <a:ext cx="3166932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>
              <a:lvl1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lvl1pPr>
            </a:lstStyle>
            <a:p>
              <a:pPr/>
              <a:r>
                <a:t> Opcode Masking</a:t>
              </a:r>
            </a:p>
          </p:txBody>
        </p:sp>
      </p:grpSp>
      <p:grpSp>
        <p:nvGrpSpPr>
          <p:cNvPr id="163" name="Operand Masking"/>
          <p:cNvGrpSpPr/>
          <p:nvPr/>
        </p:nvGrpSpPr>
        <p:grpSpPr>
          <a:xfrm>
            <a:off x="16416250" y="9380817"/>
            <a:ext cx="3293933" cy="2320475"/>
            <a:chOff x="0" y="0"/>
            <a:chExt cx="3293931" cy="2320474"/>
          </a:xfrm>
        </p:grpSpPr>
        <p:sp>
          <p:nvSpPr>
            <p:cNvPr id="161" name="Rechteck"/>
            <p:cNvSpPr/>
            <p:nvPr/>
          </p:nvSpPr>
          <p:spPr>
            <a:xfrm>
              <a:off x="0" y="-1"/>
              <a:ext cx="3293932" cy="2320476"/>
            </a:xfrm>
            <a:prstGeom prst="rect">
              <a:avLst/>
            </a:prstGeom>
            <a:solidFill>
              <a:schemeClr val="accent5">
                <a:lumOff val="8676"/>
              </a:schemeClr>
            </a:solidFill>
            <a:ln w="127000" cap="flat">
              <a:solidFill>
                <a:srgbClr val="A7A7A7"/>
              </a:solidFill>
              <a:prstDash val="sysDot"/>
              <a:miter lim="400000"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</a:p>
          </p:txBody>
        </p:sp>
        <p:sp>
          <p:nvSpPr>
            <p:cNvPr id="162" name="Operand Masking"/>
            <p:cNvSpPr txBox="1"/>
            <p:nvPr/>
          </p:nvSpPr>
          <p:spPr>
            <a:xfrm>
              <a:off x="63500" y="608067"/>
              <a:ext cx="3166932" cy="1104339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lvl="2" algn="ctr">
                <a:defRPr b="1" sz="3600">
                  <a:solidFill>
                    <a:srgbClr val="000000"/>
                  </a:solidFill>
                  <a:latin typeface="+mn-lt"/>
                  <a:ea typeface="+mn-ea"/>
                  <a:cs typeface="+mn-cs"/>
                  <a:sym typeface="Helvetica Neue"/>
                </a:defRPr>
              </a:pPr>
              <a:r>
                <a:t> Operand Masking</a:t>
              </a:r>
            </a:p>
          </p:txBody>
        </p:sp>
      </p:grpSp>
      <p:sp>
        <p:nvSpPr>
          <p:cNvPr id="164" name="[1] Hao Wang, Zeyu Gao, Chao Zhang, Zihan Sha, Mingyang Sun, Yuchen Zhou, Wenyu Zhu, Wenju Sun, Han Qiu, &amp; Xi Xiao. (2024).…"/>
          <p:cNvSpPr txBox="1"/>
          <p:nvPr/>
        </p:nvSpPr>
        <p:spPr>
          <a:xfrm>
            <a:off x="10209756" y="12541428"/>
            <a:ext cx="13563502" cy="5588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/>
            <a:r>
              <a:t>[1] Hao Wang, Zeyu Gao, Chao Zhang, Zihan Sha, Mingyang Sun, Yuchen Zhou, Wenyu Zhu, Wenju Sun, Han Qiu, &amp; Xi Xiao. (2024).</a:t>
            </a:r>
          </a:p>
          <a:p>
            <a:pPr/>
            <a:r>
              <a:t>CLAP: Learning Transferable Binary Code Representations with Natural Language Supervision.</a:t>
            </a:r>
          </a:p>
        </p:txBody>
      </p:sp>
      <p:sp>
        <p:nvSpPr>
          <p:cNvPr id="165" name="[1]"/>
          <p:cNvSpPr txBox="1"/>
          <p:nvPr/>
        </p:nvSpPr>
        <p:spPr>
          <a:xfrm>
            <a:off x="12755876" y="10795051"/>
            <a:ext cx="351583" cy="3683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2400">
                <a:solidFill>
                  <a:srgbClr val="000000"/>
                </a:solidFill>
              </a:defRPr>
            </a:lvl1pPr>
          </a:lstStyle>
          <a:p>
            <a:pPr/>
            <a:r>
              <a:t>[1]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60" grpId="1"/>
      <p:bldP build="whole" bldLvl="1" animBg="1" rev="0" advAuto="0" spid="163" grpId="2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6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>
              <a:lnSpc>
                <a:spcPct val="90000"/>
              </a:lnSpc>
              <a:spcBef>
                <a:spcPts val="1400"/>
              </a:spcBef>
            </a:pPr>
          </a:p>
        </p:txBody>
      </p:sp>
      <p:sp>
        <p:nvSpPr>
          <p:cNvPr id="169" name="PlaceHolder 3"/>
          <p:cNvSpPr txBox="1"/>
          <p:nvPr/>
        </p:nvSpPr>
        <p:spPr>
          <a:xfrm>
            <a:off x="1206359" y="42483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shift the models focus on either opcodes or operands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to train our BERT model we base on traditional Masked Language Modeling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we measure the importance of each category by setting a statistic focus on opcodes and operands 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The category we want to focus on is masked with a 80% probability while the other one receives a 20% masking probability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Standard MLM</a:t>
            </a:r>
          </a:p>
        </p:txBody>
      </p:sp>
      <p:pic>
        <p:nvPicPr>
          <p:cNvPr id="173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688" y="3921310"/>
            <a:ext cx="15128624" cy="6728555"/>
          </a:xfrm>
          <a:prstGeom prst="rect">
            <a:avLst/>
          </a:prstGeom>
          <a:ln w="12700">
            <a:miter lim="400000"/>
          </a:ln>
        </p:spPr>
      </p:pic>
      <p:sp>
        <p:nvSpPr>
          <p:cNvPr id="174" name="Rechteck"/>
          <p:cNvSpPr/>
          <p:nvPr/>
        </p:nvSpPr>
        <p:spPr>
          <a:xfrm>
            <a:off x="11036478" y="9598317"/>
            <a:ext cx="2183229" cy="117163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 lim="400000"/>
          </a:ln>
        </p:spPr>
        <p:txBody>
          <a:bodyPr lIns="0" tIns="0" rIns="0" bIns="0"/>
          <a:lstStyle/>
          <a:p>
            <a:pPr/>
          </a:p>
        </p:txBody>
      </p:sp>
      <p:sp>
        <p:nvSpPr>
          <p:cNvPr id="175" name="&lt;mask&gt;"/>
          <p:cNvSpPr/>
          <p:nvPr/>
        </p:nvSpPr>
        <p:spPr>
          <a:xfrm>
            <a:off x="11142464" y="9683515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&lt;mask&gt;</a:t>
            </a:r>
          </a:p>
        </p:txBody>
      </p:sp>
      <p:sp>
        <p:nvSpPr>
          <p:cNvPr id="176" name="lea"/>
          <p:cNvSpPr/>
          <p:nvPr/>
        </p:nvSpPr>
        <p:spPr>
          <a:xfrm>
            <a:off x="11142464" y="9683515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lea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76" grpId="3"/>
      <p:bldP build="whole" bldLvl="1" animBg="1" rev="0" advAuto="0" spid="175" grpId="2"/>
      <p:bldP build="whole" bldLvl="1" animBg="1" rev="0" advAuto="0" spid="174" grpId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Opcode vs. Operand Statistic Masking</a:t>
            </a:r>
          </a:p>
        </p:txBody>
      </p:sp>
      <p:sp>
        <p:nvSpPr>
          <p:cNvPr id="179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Statistic Opcode / Operand Split MLM</a:t>
            </a:r>
          </a:p>
        </p:txBody>
      </p:sp>
      <p:pic>
        <p:nvPicPr>
          <p:cNvPr id="180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627688" y="3921310"/>
            <a:ext cx="15128624" cy="6728555"/>
          </a:xfrm>
          <a:prstGeom prst="rect">
            <a:avLst/>
          </a:prstGeom>
          <a:ln w="12700">
            <a:miter lim="400000"/>
          </a:ln>
        </p:spPr>
      </p:pic>
      <p:sp>
        <p:nvSpPr>
          <p:cNvPr id="181" name="&lt;mask&gt;"/>
          <p:cNvSpPr/>
          <p:nvPr/>
        </p:nvSpPr>
        <p:spPr>
          <a:xfrm>
            <a:off x="6752803" y="9701211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</a:defRPr>
            </a:lvl1pPr>
          </a:lstStyle>
          <a:p>
            <a:pPr/>
            <a:r>
              <a:t>&lt;mask&gt;</a:t>
            </a:r>
          </a:p>
        </p:txBody>
      </p:sp>
      <p:sp>
        <p:nvSpPr>
          <p:cNvPr id="182" name="lea"/>
          <p:cNvSpPr/>
          <p:nvPr/>
        </p:nvSpPr>
        <p:spPr>
          <a:xfrm>
            <a:off x="6752803" y="9701211"/>
            <a:ext cx="1971257" cy="100123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sz="3600">
                <a:solidFill>
                  <a:srgbClr val="000000"/>
                </a:solidFill>
                <a:latin typeface="Menlo Regular"/>
                <a:ea typeface="Menlo Regular"/>
                <a:cs typeface="Menlo Regular"/>
                <a:sym typeface="Menlo Regular"/>
              </a:defRPr>
            </a:lvl1pPr>
          </a:lstStyle>
          <a:p>
            <a:pPr/>
            <a:r>
              <a:t>lea</a:t>
            </a:r>
          </a:p>
        </p:txBody>
      </p:sp>
      <p:sp>
        <p:nvSpPr>
          <p:cNvPr id="183" name="Choose the tokens not randomly but with p:"/>
          <p:cNvSpPr/>
          <p:nvPr/>
        </p:nvSpPr>
        <p:spPr>
          <a:xfrm>
            <a:off x="602959" y="11258495"/>
            <a:ext cx="5326748" cy="127000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</a:defRPr>
            </a:lvl1pPr>
          </a:lstStyle>
          <a:p>
            <a:pPr/>
            <a:r>
              <a:t>Choose the tokens not randomly but with p:</a:t>
            </a:r>
          </a:p>
        </p:txBody>
      </p:sp>
      <p:sp>
        <p:nvSpPr>
          <p:cNvPr id="184" name="p = 0.8"/>
          <p:cNvSpPr/>
          <p:nvPr/>
        </p:nvSpPr>
        <p:spPr>
          <a:xfrm>
            <a:off x="6817503" y="11258495"/>
            <a:ext cx="1841857" cy="12700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</a:defRPr>
            </a:lvl1pPr>
          </a:lstStyle>
          <a:p>
            <a:pPr/>
            <a:r>
              <a:t>p = 0.8</a:t>
            </a:r>
          </a:p>
        </p:txBody>
      </p:sp>
      <p:sp>
        <p:nvSpPr>
          <p:cNvPr id="185" name="p = 0.2"/>
          <p:cNvSpPr/>
          <p:nvPr/>
        </p:nvSpPr>
        <p:spPr>
          <a:xfrm>
            <a:off x="12271104" y="11258495"/>
            <a:ext cx="1841857" cy="1270001"/>
          </a:xfrm>
          <a:prstGeom prst="rect">
            <a:avLst/>
          </a:prstGeom>
          <a:solidFill>
            <a:srgbClr val="FFFFFF"/>
          </a:solidFill>
          <a:ln w="25400">
            <a:solidFill>
              <a:schemeClr val="accent1"/>
            </a:solidFill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>
              <a:defRPr b="1" sz="3600">
                <a:solidFill>
                  <a:srgbClr val="000000"/>
                </a:solidFill>
              </a:defRPr>
            </a:lvl1pPr>
          </a:lstStyle>
          <a:p>
            <a:pPr/>
            <a:r>
              <a:t>p = 0.2</a:t>
            </a:r>
          </a:p>
        </p:txBody>
      </p:sp>
      <p:sp>
        <p:nvSpPr>
          <p:cNvPr id="186" name="Linie"/>
          <p:cNvSpPr/>
          <p:nvPr/>
        </p:nvSpPr>
        <p:spPr>
          <a:xfrm flipV="1">
            <a:off x="7699195" y="10651034"/>
            <a:ext cx="1" cy="593593"/>
          </a:xfrm>
          <a:prstGeom prst="line">
            <a:avLst/>
          </a:prstGeom>
          <a:ln w="635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7" name="Linie"/>
          <p:cNvSpPr/>
          <p:nvPr/>
        </p:nvSpPr>
        <p:spPr>
          <a:xfrm flipH="1" flipV="1">
            <a:off x="9889300" y="10630141"/>
            <a:ext cx="2356553" cy="1249243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8" name="Linie"/>
          <p:cNvSpPr/>
          <p:nvPr/>
        </p:nvSpPr>
        <p:spPr>
          <a:xfrm flipV="1">
            <a:off x="14197335" y="10618566"/>
            <a:ext cx="2266325" cy="1272317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89" name="Linie"/>
          <p:cNvSpPr/>
          <p:nvPr/>
        </p:nvSpPr>
        <p:spPr>
          <a:xfrm flipV="1">
            <a:off x="13664147" y="10633442"/>
            <a:ext cx="619795" cy="619795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0" name="Linie"/>
          <p:cNvSpPr/>
          <p:nvPr/>
        </p:nvSpPr>
        <p:spPr>
          <a:xfrm flipH="1" flipV="1">
            <a:off x="12160915" y="10629405"/>
            <a:ext cx="627870" cy="627870"/>
          </a:xfrm>
          <a:prstGeom prst="line">
            <a:avLst/>
          </a:prstGeom>
          <a:ln w="25400">
            <a:solidFill>
              <a:schemeClr val="accent1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191" name="Rechteck"/>
          <p:cNvSpPr/>
          <p:nvPr/>
        </p:nvSpPr>
        <p:spPr>
          <a:xfrm>
            <a:off x="6646817" y="9616013"/>
            <a:ext cx="2183229" cy="1171634"/>
          </a:xfrm>
          <a:prstGeom prst="rect">
            <a:avLst/>
          </a:prstGeom>
          <a:ln w="88900">
            <a:solidFill>
              <a:srgbClr val="000000"/>
            </a:solidFill>
            <a:prstDash val="sysDot"/>
            <a:miter lim="400000"/>
          </a:ln>
        </p:spPr>
        <p:txBody>
          <a:bodyPr lIns="0" tIns="0" rIns="0" bIns="0"/>
          <a:lstStyle/>
          <a:p>
            <a:pPr/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182" grpId="3"/>
      <p:bldP build="whole" bldLvl="1" animBg="1" rev="0" advAuto="0" spid="181" grpId="2"/>
      <p:bldP build="whole" bldLvl="1" animBg="1" rev="0" advAuto="0" spid="191" grpId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 </a:t>
            </a:r>
          </a:p>
        </p:txBody>
      </p:sp>
      <p:sp>
        <p:nvSpPr>
          <p:cNvPr id="194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>
              <a:lnSpc>
                <a:spcPct val="90000"/>
              </a:lnSpc>
              <a:spcBef>
                <a:spcPts val="1400"/>
              </a:spcBef>
            </a:lvl1pPr>
          </a:lstStyle>
          <a:p>
            <a:pPr/>
            <a:r>
              <a:t>Cosine Similarity</a:t>
            </a:r>
          </a:p>
        </p:txBody>
      </p:sp>
      <p:sp>
        <p:nvSpPr>
          <p:cNvPr id="195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Precompute the output embeddings of the anchor functions of all pools and store them for lookup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Batch process candidates of each pool and compute cosine similarity between anchor &amp; candidates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Take measurements based on the cosine similarities (MRR, Top_K, nDCG)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198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/>
            <a:r>
              <a:t>Function Pools</a:t>
            </a:r>
          </a:p>
        </p:txBody>
      </p:sp>
      <p:sp>
        <p:nvSpPr>
          <p:cNvPr id="199" name="PlaceHolder 3"/>
          <p:cNvSpPr txBox="1"/>
          <p:nvPr/>
        </p:nvSpPr>
        <p:spPr>
          <a:xfrm>
            <a:off x="1206359" y="3656160"/>
            <a:ext cx="21970802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Each function pool follows the same structure: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1 Anchor Function, N-Positive Samples, 200 Negative Samples, where N &gt; 7 to only include pools with sufficient function variants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N-Positive Samples:</a:t>
            </a: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each test project</a:t>
            </a: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Samples that have the same f_name and same file origin are filtered out (duplicates)</a:t>
            </a:r>
          </a:p>
          <a:p>
            <a:pPr lvl="3" marL="2243159" indent="-560877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filter out function variants which contain the exact same assembly instructions, but differ in file origin (prevent spoiling the measurements)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Inference"/>
          <p:cNvSpPr txBox="1"/>
          <p:nvPr>
            <p:ph type="title"/>
          </p:nvPr>
        </p:nvSpPr>
        <p:spPr>
          <a:xfrm>
            <a:off x="1206359" y="1079640"/>
            <a:ext cx="21970802" cy="1432802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202" name="Function Pool Setup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/>
            <a:r>
              <a:t>Function Pool Setup</a:t>
            </a:r>
          </a:p>
        </p:txBody>
      </p:sp>
      <p:sp>
        <p:nvSpPr>
          <p:cNvPr id="203" name="PlaceHolder 3"/>
          <p:cNvSpPr txBox="1"/>
          <p:nvPr/>
        </p:nvSpPr>
        <p:spPr>
          <a:xfrm>
            <a:off x="1206358" y="4035307"/>
            <a:ext cx="8157055" cy="825552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= arbitrary function variant</a:t>
            </a:r>
          </a:p>
          <a:p>
            <a:pPr lvl="2"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N = number of all positive samples across the anchors’ project (mininum 7)</a:t>
            </a:r>
          </a:p>
          <a:p>
            <a:pPr marL="560880" indent="-560880" defTabSz="2243159">
              <a:lnSpc>
                <a:spcPct val="90000"/>
              </a:lnSpc>
              <a:spcBef>
                <a:spcPts val="4000"/>
              </a:spcBef>
              <a:buClr>
                <a:srgbClr val="000000"/>
              </a:buClr>
              <a:buSzPct val="123000"/>
              <a:buFont typeface="Symbol"/>
              <a:buChar char="·"/>
              <a:defRPr sz="44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K = number of negative samples per test project</a:t>
            </a:r>
          </a:p>
        </p:txBody>
      </p:sp>
      <p:pic>
        <p:nvPicPr>
          <p:cNvPr id="204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9729506" y="2657123"/>
            <a:ext cx="13191643" cy="840175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ositive Samples Filtering"/>
          <p:cNvSpPr txBox="1"/>
          <p:nvPr>
            <p:ph type="ctrTitle"/>
          </p:nvPr>
        </p:nvSpPr>
        <p:spPr>
          <a:xfrm>
            <a:off x="1206359" y="1079640"/>
            <a:ext cx="21970802" cy="14346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07" name="Duplicated Assembly"/>
          <p:cNvSpPr txBox="1"/>
          <p:nvPr>
            <p:ph type="subTitle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 lvl="1"/>
            <a:r>
              <a:t>Duplicated Assembly</a:t>
            </a:r>
          </a:p>
        </p:txBody>
      </p:sp>
      <p:sp>
        <p:nvSpPr>
          <p:cNvPr id="208" name="PlaceHolder 3"/>
          <p:cNvSpPr/>
          <p:nvPr>
            <p:ph type="body" idx="21"/>
          </p:nvPr>
        </p:nvSpPr>
        <p:spPr>
          <a:xfrm>
            <a:off x="1206359" y="4248360"/>
            <a:ext cx="21970802" cy="8255521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pic>
        <p:nvPicPr>
          <p:cNvPr id="209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28332" y="4348772"/>
            <a:ext cx="19127337" cy="7247109"/>
          </a:xfrm>
          <a:prstGeom prst="rect">
            <a:avLst/>
          </a:prstGeom>
          <a:ln w="12700">
            <a:miter lim="400000"/>
          </a:ln>
        </p:spPr>
      </p:pic>
      <p:grpSp>
        <p:nvGrpSpPr>
          <p:cNvPr id="212" name="Very Similar Embedding:…"/>
          <p:cNvGrpSpPr/>
          <p:nvPr/>
        </p:nvGrpSpPr>
        <p:grpSpPr>
          <a:xfrm>
            <a:off x="12481173" y="4445739"/>
            <a:ext cx="9213334" cy="7053175"/>
            <a:chOff x="0" y="0"/>
            <a:chExt cx="9213332" cy="7053173"/>
          </a:xfrm>
        </p:grpSpPr>
        <p:sp>
          <p:nvSpPr>
            <p:cNvPr id="210" name="Rechteck"/>
            <p:cNvSpPr/>
            <p:nvPr/>
          </p:nvSpPr>
          <p:spPr>
            <a:xfrm>
              <a:off x="0" y="-1"/>
              <a:ext cx="9213333" cy="7053175"/>
            </a:xfrm>
            <a:prstGeom prst="rect">
              <a:avLst/>
            </a:prstGeom>
            <a:solidFill>
              <a:srgbClr val="FFFFFF"/>
            </a:solidFill>
            <a:ln w="63500" cap="flat">
              <a:solidFill>
                <a:srgbClr val="FFE265"/>
              </a:solidFill>
              <a:prstDash val="solid"/>
              <a:round/>
            </a:ln>
            <a:effectLst/>
          </p:spPr>
          <p:txBody>
            <a:bodyPr wrap="square" lIns="0" tIns="0" rIns="0" bIns="0" numCol="1" anchor="ctr">
              <a:noAutofit/>
            </a:bodyPr>
            <a:lstStyle/>
            <a:p>
              <a:pPr algn="ctr">
                <a:defRPr sz="3800"/>
              </a:pPr>
            </a:p>
          </p:txBody>
        </p:sp>
        <p:sp>
          <p:nvSpPr>
            <p:cNvPr id="211" name="Very Similar Embedding:…"/>
            <p:cNvSpPr txBox="1"/>
            <p:nvPr/>
          </p:nvSpPr>
          <p:spPr>
            <a:xfrm>
              <a:off x="31750" y="2942386"/>
              <a:ext cx="9149833" cy="116840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:ma14="http://schemas.microsoft.com/office/mac/drawingml/2011/main" val="1"/>
              </a:ext>
            </a:extLst>
          </p:spPr>
          <p:txBody>
            <a:bodyPr wrap="square" lIns="0" tIns="0" rIns="0" bIns="0" numCol="1" anchor="ctr">
              <a:spAutoFit/>
            </a:bodyPr>
            <a:lstStyle/>
            <a:p>
              <a:pPr algn="ctr">
                <a:defRPr sz="3800"/>
              </a:pPr>
              <a:r>
                <a:t>Very Similar Embedding:</a:t>
              </a:r>
            </a:p>
            <a:p>
              <a:pPr algn="ctr">
                <a:defRPr sz="3800"/>
              </a:pPr>
              <a:r>
                <a:t>—&gt; spoiled measurements</a:t>
              </a:r>
            </a:p>
          </p:txBody>
        </p:sp>
      </p:grp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2" grpId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ositive Samples Filtering"/>
          <p:cNvSpPr txBox="1"/>
          <p:nvPr>
            <p:ph type="ctrTitle"/>
          </p:nvPr>
        </p:nvSpPr>
        <p:spPr>
          <a:xfrm>
            <a:off x="1206359" y="1079640"/>
            <a:ext cx="21970802" cy="1434603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Positive Samples Filtering</a:t>
            </a:r>
          </a:p>
        </p:txBody>
      </p:sp>
      <p:sp>
        <p:nvSpPr>
          <p:cNvPr id="215" name="same Name, same File"/>
          <p:cNvSpPr txBox="1"/>
          <p:nvPr>
            <p:ph type="subTitle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/>
          <a:p>
            <a:pPr/>
            <a:r>
              <a:t>same Name, same File</a:t>
            </a:r>
          </a:p>
        </p:txBody>
      </p:sp>
      <p:pic>
        <p:nvPicPr>
          <p:cNvPr id="216" name="Bild" descr="Bild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2600374" y="2921613"/>
            <a:ext cx="19183253" cy="8920885"/>
          </a:xfrm>
          <a:prstGeom prst="rect">
            <a:avLst/>
          </a:prstGeom>
          <a:ln w="12700">
            <a:miter lim="400000"/>
          </a:ln>
        </p:spPr>
      </p:pic>
      <p:sp>
        <p:nvSpPr>
          <p:cNvPr id="217" name="Linie"/>
          <p:cNvSpPr/>
          <p:nvPr/>
        </p:nvSpPr>
        <p:spPr>
          <a:xfrm flipH="1">
            <a:off x="7495955" y="5144334"/>
            <a:ext cx="2309381" cy="3765925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8" name="Linie"/>
          <p:cNvSpPr/>
          <p:nvPr/>
        </p:nvSpPr>
        <p:spPr>
          <a:xfrm>
            <a:off x="9808233" y="5180056"/>
            <a:ext cx="7225697" cy="3705998"/>
          </a:xfrm>
          <a:prstGeom prst="line">
            <a:avLst/>
          </a:prstGeom>
          <a:ln w="63500">
            <a:solidFill>
              <a:srgbClr val="EE8C00"/>
            </a:solidFill>
            <a:tailEnd type="triangle"/>
          </a:ln>
        </p:spPr>
        <p:txBody>
          <a:bodyPr lIns="45718" tIns="45718" rIns="45718" bIns="45718"/>
          <a:lstStyle/>
          <a:p>
            <a:pPr/>
          </a:p>
        </p:txBody>
      </p:sp>
      <p:sp>
        <p:nvSpPr>
          <p:cNvPr id="219" name="Slight differences in assembly"/>
          <p:cNvSpPr txBox="1"/>
          <p:nvPr/>
        </p:nvSpPr>
        <p:spPr>
          <a:xfrm>
            <a:off x="4907986" y="4398946"/>
            <a:ext cx="5381626" cy="4826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>
            <a:lvl1pPr>
              <a:defRPr sz="3200"/>
            </a:lvl1pPr>
          </a:lstStyle>
          <a:p>
            <a:pPr/>
            <a:r>
              <a:t>Slight differences in assembly</a:t>
            </a:r>
          </a:p>
        </p:txBody>
      </p:sp>
    </p:spTree>
  </p:cSld>
  <p:clrMapOvr>
    <a:masterClrMapping/>
  </p:clrMapOvr>
  <p:transition xmlns:p14="http://schemas.microsoft.com/office/powerpoint/2010/main" spd="med" advClick="1"/>
  <p:timing>
    <p:tnLst>
      <p:par>
        <p:cTn id="1" nodeType="tmRoot" restart="never" dur="indefinite" fill="hold">
          <p:childTnLst>
            <p:seq concurrent="1" prevAc="none" nextAc="seek">
              <p:cTn id="2" nodeType="mainSeq" dur="indefinite" fill="hold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Class="entr" nodeType="clickEffect" presetSubtype="0" presetID="1" grpId="1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Class="entr" nodeType="clickEffect" presetSubtype="0" presetID="1" grpId="2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Class="entr" nodeType="clickEffect" presetSubtype="0" presetID="1" grpId="3" fill="hold">
                                  <p:stCondLst>
                                    <p:cond delay="0"/>
                                  </p:stCondLst>
                                  <p:iterate type="el" backwards="0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  <p:bldLst>
      <p:bldP build="whole" bldLvl="1" animBg="1" rev="0" advAuto="0" spid="219" grpId="1"/>
      <p:bldP build="whole" bldLvl="1" animBg="1" rev="0" advAuto="0" spid="217" grpId="2"/>
      <p:bldP build="whole" bldLvl="1" animBg="1" rev="0" advAuto="0" spid="218" grpId="3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="0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Inference</a:t>
            </a:r>
          </a:p>
        </p:txBody>
      </p:sp>
      <p:sp>
        <p:nvSpPr>
          <p:cNvPr id="222" name="PlaceHolder 2"/>
          <p:cNvSpPr txBox="1"/>
          <p:nvPr>
            <p:ph type="body" sz="quarter" idx="1"/>
          </p:nvPr>
        </p:nvSpPr>
        <p:spPr>
          <a:xfrm>
            <a:off x="1206359" y="2373120"/>
            <a:ext cx="21970802" cy="934564"/>
          </a:xfrm>
          <a:prstGeom prst="rect">
            <a:avLst/>
          </a:prstGeom>
        </p:spPr>
        <p:txBody>
          <a:bodyPr/>
          <a:lstStyle>
            <a:lvl1pPr defTabSz="1609200">
              <a:lnSpc>
                <a:spcPct val="80000"/>
              </a:lnSpc>
              <a:defRPr spc="-200" sz="5600"/>
            </a:lvl1pPr>
          </a:lstStyle>
          <a:p>
            <a:pPr/>
            <a:r>
              <a:t>Function Pools 2</a:t>
            </a:r>
          </a:p>
        </p:txBody>
      </p:sp>
      <p:sp>
        <p:nvSpPr>
          <p:cNvPr id="223" name="PlaceHolder 3"/>
          <p:cNvSpPr txBox="1"/>
          <p:nvPr/>
        </p:nvSpPr>
        <p:spPr>
          <a:xfrm>
            <a:off x="1206359" y="4248360"/>
            <a:ext cx="21970802" cy="825552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50760" tIns="50760" rIns="50760" bIns="50760">
            <a:normAutofit fontScale="100000" lnSpcReduction="0"/>
          </a:bodyPr>
          <a:lstStyle/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200 Negative Samples: 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Randomly pick 100 samples from each of the two test projects</a:t>
            </a:r>
          </a:p>
          <a:p>
            <a:pPr lvl="2" marL="182880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Ensure each sample has a different name than the anchor</a:t>
            </a:r>
          </a:p>
          <a:p>
            <a:pPr marL="609478" indent="-609478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Anchor Function:</a:t>
            </a:r>
          </a:p>
          <a:p>
            <a:pPr lvl="3" marL="2438280" indent="-609480" defTabSz="2438280">
              <a:lnSpc>
                <a:spcPct val="90000"/>
              </a:lnSpc>
              <a:spcBef>
                <a:spcPts val="4500"/>
              </a:spcBef>
              <a:buClr>
                <a:srgbClr val="000000"/>
              </a:buClr>
              <a:buSzPct val="123000"/>
              <a:buFont typeface="Symbol"/>
              <a:buChar char="·"/>
              <a:defRPr sz="48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r>
              <a:t>pick an arbitrary variant of similar named functions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Training Hyperparameters</a:t>
            </a:r>
          </a:p>
        </p:txBody>
      </p:sp>
      <p:graphicFrame>
        <p:nvGraphicFramePr>
          <p:cNvPr id="226" name="Tabelle"/>
          <p:cNvGraphicFramePr/>
          <p:nvPr/>
        </p:nvGraphicFramePr>
        <p:xfrm>
          <a:off x="2877117" y="3518279"/>
          <a:ext cx="18629285" cy="8150402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9314640"/>
                <a:gridCol w="9314640"/>
              </a:tblGrid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Batch Size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Learning Rate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0,0001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Epochs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Attention Heads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Number of Hidden Layers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4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Train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clamav, nmap, openssl ( ~ 1GB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Validation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curl ( ~ 40MB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018800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b="1" sz="3200">
                          <a:sym typeface="Helvetica Neue"/>
                        </a:rPr>
                        <a:t>Test Data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zlib, unrar ( ~ 400MB 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 txBox="1"/>
          <p:nvPr>
            <p:ph type="title"/>
          </p:nvPr>
        </p:nvSpPr>
        <p:spPr>
          <a:xfrm>
            <a:off x="1206359" y="1079639"/>
            <a:ext cx="21970802" cy="1432805"/>
          </a:xfrm>
          <a:prstGeom prst="rect">
            <a:avLst/>
          </a:prstGeom>
        </p:spPr>
        <p:txBody>
          <a:bodyPr/>
          <a:lstStyle>
            <a:lvl1pPr>
              <a:defRPr spc="-200"/>
            </a:lvl1pPr>
          </a:lstStyle>
          <a:p>
            <a:pPr/>
            <a:r>
              <a:t>Results</a:t>
            </a:r>
          </a:p>
        </p:txBody>
      </p:sp>
      <p:graphicFrame>
        <p:nvGraphicFramePr>
          <p:cNvPr id="229" name="Tabelle"/>
          <p:cNvGraphicFramePr/>
          <p:nvPr/>
        </p:nvGraphicFramePr>
        <p:xfrm>
          <a:off x="1736525" y="3136306"/>
          <a:ext cx="20923190" cy="7748907"/>
        </p:xfrm>
        <a:graphic xmlns:a="http://schemas.openxmlformats.org/drawingml/2006/main">
          <a:graphicData uri="http://schemas.openxmlformats.org/drawingml/2006/table">
            <a:tbl>
              <a:tblPr firstCol="0" firstRow="0" lastCol="0" lastRow="0" bandCol="0" bandRow="0" rtl="0">
                <a:tableStyleId>{4C3C2611-4C71-4FC5-86AE-919BDF0F9419}</a:tableStyleId>
              </a:tblPr>
              <a:tblGrid>
                <a:gridCol w="5227737"/>
                <a:gridCol w="5227737"/>
                <a:gridCol w="5227737"/>
                <a:gridCol w="5227737"/>
              </a:tblGrid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MLM Split Opcodes/Operands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MRR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nDCG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Prec@10 (top_K)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Random (baseline)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0.1305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0.8339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0.8870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90/10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0.8585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0.8886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80/20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0.1316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0.8493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0.8893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70/30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0.1285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0.8226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0.8769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60/40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  <a:tr h="1289444">
                <a:tc>
                  <a:txBody>
                    <a:bodyPr/>
                    <a:lstStyle/>
                    <a:p>
                      <a:pPr algn="ctr">
                        <a:defRPr>
                          <a:solidFill>
                            <a:srgbClr val="000000"/>
                          </a:solidFill>
                        </a:defRPr>
                      </a:pPr>
                      <a:r>
                        <a:rPr sz="3200">
                          <a:sym typeface="Helvetica Neue"/>
                        </a:rPr>
                        <a:t>50/50</a:t>
                      </a: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3200">
                          <a:solidFill>
                            <a:srgbClr val="000000"/>
                          </a:solidFill>
                          <a:sym typeface="Helvetica Neue"/>
                        </a:defRPr>
                      </a:pPr>
                    </a:p>
                  </a:txBody>
                  <a:tcPr marL="50760" marR="50760" marT="50760" marB="50760" anchor="ctr" anchorCtr="0" horzOverflow="overflow">
                    <a:lnL w="12240">
                      <a:solidFill>
                        <a:srgbClr val="000000"/>
                      </a:solidFill>
                    </a:lnL>
                    <a:lnR w="12240">
                      <a:solidFill>
                        <a:srgbClr val="000000"/>
                      </a:solidFill>
                    </a:lnR>
                    <a:lnT w="12240">
                      <a:solidFill>
                        <a:srgbClr val="000000"/>
                      </a:solidFill>
                    </a:lnT>
                    <a:lnB w="12240">
                      <a:solidFill>
                        <a:srgbClr val="000000"/>
                      </a:solidFill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5E5E5E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21_BasicWhite">
  <a:themeElements>
    <a:clrScheme name="21_BasicWhit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"/>
        <a:ea typeface="Helvetica"/>
        <a:cs typeface="Helvetica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5E5E5E"/>
            </a:solidFill>
            <a:effectLst/>
            <a:uFillTx/>
            <a:latin typeface="+mj-lt"/>
            <a:ea typeface="+mj-ea"/>
            <a:cs typeface="+mj-cs"/>
            <a:sym typeface="Helvetica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
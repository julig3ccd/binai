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615" y="1003"/>
    <p:text>We use the tokenization of clap because it preserves opcodes as one token, which is needed for our opcode categorization during own Masking Approach 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sz="half" idx="1"/>
          </p:nvPr>
        </p:nvSpPr>
        <p:spPr>
          <a:xfrm>
            <a:off x="1206359" y="4920839"/>
            <a:ext cx="21970802" cy="3873961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bene 1…"/>
          <p:cNvSpPr txBox="1"/>
          <p:nvPr>
            <p:ph type="body" idx="1"/>
          </p:nvPr>
        </p:nvSpPr>
        <p:spPr>
          <a:xfrm>
            <a:off x="1206359" y="1076040"/>
            <a:ext cx="21970802" cy="7241400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0" name="PlaceHolder 2"/>
          <p:cNvSpPr/>
          <p:nvPr>
            <p:ph type="body" sz="quarter" idx="21"/>
          </p:nvPr>
        </p:nvSpPr>
        <p:spPr>
          <a:xfrm>
            <a:off x="1206359" y="826236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605" cy="63648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9" name="PlaceHolder 2"/>
          <p:cNvSpPr/>
          <p:nvPr>
            <p:ph type="body" sz="half" idx="21"/>
          </p:nvPr>
        </p:nvSpPr>
        <p:spPr>
          <a:xfrm>
            <a:off x="1753921" y="4939920"/>
            <a:ext cx="20875678" cy="383580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685" cy="5949366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8" name="PlaceHolder 3"/>
          <p:cNvSpPr/>
          <p:nvPr>
            <p:ph type="body" idx="21"/>
          </p:nvPr>
        </p:nvSpPr>
        <p:spPr>
          <a:xfrm>
            <a:off x="-139681" y="495356"/>
            <a:ext cx="16611121" cy="12458528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4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ebene 1…"/>
          <p:cNvSpPr txBox="1"/>
          <p:nvPr>
            <p:ph type="body" idx="1"/>
          </p:nvPr>
        </p:nvSpPr>
        <p:spPr>
          <a:xfrm>
            <a:off x="-1333441" y="-5524561"/>
            <a:ext cx="27050765" cy="2164032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802" cy="63648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2" name="Titeltext"/>
          <p:cNvSpPr txBox="1"/>
          <p:nvPr>
            <p:ph type="title"/>
          </p:nvPr>
        </p:nvSpPr>
        <p:spPr>
          <a:xfrm>
            <a:off x="1206359" y="2575080"/>
            <a:ext cx="21970802" cy="464796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3" name="PlaceHolder 3"/>
          <p:cNvSpPr/>
          <p:nvPr>
            <p:ph type="body" sz="quarter" idx="21"/>
          </p:nvPr>
        </p:nvSpPr>
        <p:spPr>
          <a:xfrm>
            <a:off x="1201319" y="7223038"/>
            <a:ext cx="21970802" cy="190476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ebene 1…"/>
          <p:cNvSpPr txBox="1"/>
          <p:nvPr>
            <p:ph type="body" idx="1"/>
          </p:nvPr>
        </p:nvSpPr>
        <p:spPr>
          <a:xfrm>
            <a:off x="-1155601" y="-1295282"/>
            <a:ext cx="26745844" cy="16018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2" name="Titeltext"/>
          <p:cNvSpPr txBox="1"/>
          <p:nvPr>
            <p:ph type="title"/>
          </p:nvPr>
        </p:nvSpPr>
        <p:spPr>
          <a:xfrm>
            <a:off x="1206359" y="7124758"/>
            <a:ext cx="21970802" cy="4647964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83" name="PlaceHolder 4"/>
          <p:cNvSpPr/>
          <p:nvPr>
            <p:ph type="body" sz="quarter" idx="21"/>
          </p:nvPr>
        </p:nvSpPr>
        <p:spPr>
          <a:xfrm>
            <a:off x="1206359" y="11609999"/>
            <a:ext cx="21970802" cy="111672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8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ebene 1…"/>
          <p:cNvSpPr txBox="1"/>
          <p:nvPr>
            <p:ph type="body" idx="1"/>
          </p:nvPr>
        </p:nvSpPr>
        <p:spPr>
          <a:xfrm>
            <a:off x="10972800" y="-203041"/>
            <a:ext cx="12144600" cy="141346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2" name="Titeltext"/>
          <p:cNvSpPr txBox="1"/>
          <p:nvPr>
            <p:ph type="title"/>
          </p:nvPr>
        </p:nvSpPr>
        <p:spPr>
          <a:xfrm>
            <a:off x="1206359" y="1270080"/>
            <a:ext cx="9778681" cy="588204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93" name="PlaceHolder 3"/>
          <p:cNvSpPr/>
          <p:nvPr>
            <p:ph type="body" sz="quarter" idx="21"/>
          </p:nvPr>
        </p:nvSpPr>
        <p:spPr>
          <a:xfrm>
            <a:off x="1206360" y="7060679"/>
            <a:ext cx="9778680" cy="538524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94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eltext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0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681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0" name="PlaceHolder 3"/>
          <p:cNvSpPr/>
          <p:nvPr>
            <p:ph type="body" idx="21"/>
          </p:nvPr>
        </p:nvSpPr>
        <p:spPr>
          <a:xfrm>
            <a:off x="12192120" y="-407161"/>
            <a:ext cx="10916641" cy="14555521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21" name="Titeltext"/>
          <p:cNvSpPr txBox="1"/>
          <p:nvPr>
            <p:ph type="title"/>
          </p:nvPr>
        </p:nvSpPr>
        <p:spPr>
          <a:xfrm>
            <a:off x="1206359" y="1079640"/>
            <a:ext cx="9778681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eltext"/>
          <p:cNvSpPr txBox="1"/>
          <p:nvPr>
            <p:ph type="title"/>
          </p:nvPr>
        </p:nvSpPr>
        <p:spPr>
          <a:xfrm>
            <a:off x="1206359" y="4533839"/>
            <a:ext cx="21970802" cy="4647965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0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802" cy="636484"/>
          </a:xfrm>
          <a:prstGeom prst="rect">
            <a:avLst/>
          </a:prstGeom>
        </p:spPr>
        <p:txBody>
          <a:bodyPr/>
          <a:lstStyle/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79"/>
            <a:ext cx="21970802" cy="464796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Binary Analysis using BERT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802" cy="1904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7"/>
            <a:ext cx="21970802" cy="8255522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Measure the importance of certain model inputs for learning about binary function similarity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Recent Research</a:t>
            </a:r>
            <a:r>
              <a:rPr baseline="-5998"/>
              <a:t>[1]</a:t>
            </a:r>
            <a:r>
              <a:t> highlights the importance of instructions containing specific opcodes (like „call“ ) within a function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Our approach tries to extend the understanding about the relevance of certain inputs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Instead of measuring the importance between different instructions, we compare the parts of an instruction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690" y="12310743"/>
            <a:ext cx="2210335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/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61" y="1846708"/>
            <a:ext cx="19542677" cy="1002258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250" y="9380817"/>
            <a:ext cx="3293933" cy="2320475"/>
            <a:chOff x="0" y="0"/>
            <a:chExt cx="3293931" cy="2320474"/>
          </a:xfrm>
        </p:grpSpPr>
        <p:sp>
          <p:nvSpPr>
            <p:cNvPr id="158" name="Rechteck"/>
            <p:cNvSpPr/>
            <p:nvPr/>
          </p:nvSpPr>
          <p:spPr>
            <a:xfrm>
              <a:off x="0" y="-1"/>
              <a:ext cx="3293932" cy="2320476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500" y="608067"/>
              <a:ext cx="3166932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250" y="9380817"/>
            <a:ext cx="3293933" cy="2320475"/>
            <a:chOff x="0" y="0"/>
            <a:chExt cx="3293931" cy="2320474"/>
          </a:xfrm>
        </p:grpSpPr>
        <p:sp>
          <p:nvSpPr>
            <p:cNvPr id="161" name="Rechteck"/>
            <p:cNvSpPr/>
            <p:nvPr/>
          </p:nvSpPr>
          <p:spPr>
            <a:xfrm>
              <a:off x="0" y="-1"/>
              <a:ext cx="3293932" cy="2320476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500" y="608067"/>
              <a:ext cx="3166932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lvl="2"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756" y="12541428"/>
            <a:ext cx="13563502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[1] Hao Wang, Zeyu Gao, Chao Zhang, Zihan Sha, Mingyang Sun, Yuchen Zhou, Wenyu Zhu, Wenju Sun, Han Qiu, &amp; Xi Xiao. (2024).</a:t>
            </a:r>
          </a:p>
          <a:p>
            <a:pPr/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76" y="10795051"/>
            <a:ext cx="351583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3" grpId="2"/>
      <p:bldP build="whole" bldLvl="1" animBg="1" rev="0" advAuto="0" spid="16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ts val="1400"/>
              </a:spcBef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shift the models focus on either opcodes or operands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to train our BERT model we base on traditional Masked Language Modeling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688" y="3921310"/>
            <a:ext cx="15128624" cy="6728555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478" y="9598317"/>
            <a:ext cx="2183229" cy="117163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5" name="&lt;mask&gt;"/>
          <p:cNvSpPr/>
          <p:nvPr/>
        </p:nvSpPr>
        <p:spPr>
          <a:xfrm>
            <a:off x="11142464" y="9683515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&lt;mask&gt;</a:t>
            </a:r>
          </a:p>
        </p:txBody>
      </p:sp>
      <p:sp>
        <p:nvSpPr>
          <p:cNvPr id="176" name="lea"/>
          <p:cNvSpPr/>
          <p:nvPr/>
        </p:nvSpPr>
        <p:spPr>
          <a:xfrm>
            <a:off x="11142464" y="9683515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lea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6" grpId="3"/>
      <p:bldP build="whole" bldLvl="1" animBg="1" rev="0" advAuto="0" spid="175" grpId="2"/>
      <p:bldP build="whole" bldLvl="1" animBg="1" rev="0" advAuto="0" spid="17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9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0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688" y="3921310"/>
            <a:ext cx="15128624" cy="6728555"/>
          </a:xfrm>
          <a:prstGeom prst="rect">
            <a:avLst/>
          </a:prstGeom>
          <a:ln w="12700">
            <a:miter lim="400000"/>
          </a:ln>
        </p:spPr>
      </p:pic>
      <p:sp>
        <p:nvSpPr>
          <p:cNvPr id="181" name="&lt;mask&gt;"/>
          <p:cNvSpPr/>
          <p:nvPr/>
        </p:nvSpPr>
        <p:spPr>
          <a:xfrm>
            <a:off x="6752803" y="9701211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&lt;mask&gt;</a:t>
            </a:r>
          </a:p>
        </p:txBody>
      </p:sp>
      <p:sp>
        <p:nvSpPr>
          <p:cNvPr id="182" name="lea"/>
          <p:cNvSpPr/>
          <p:nvPr/>
        </p:nvSpPr>
        <p:spPr>
          <a:xfrm>
            <a:off x="6752803" y="9701211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lea</a:t>
            </a:r>
          </a:p>
        </p:txBody>
      </p:sp>
      <p:sp>
        <p:nvSpPr>
          <p:cNvPr id="183" name="Choose the tokens not randomly but with p:"/>
          <p:cNvSpPr/>
          <p:nvPr/>
        </p:nvSpPr>
        <p:spPr>
          <a:xfrm>
            <a:off x="602959" y="11258495"/>
            <a:ext cx="5326748" cy="1270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</a:defRPr>
            </a:lvl1pPr>
          </a:lstStyle>
          <a:p>
            <a:pPr/>
            <a:r>
              <a:t>Choose the tokens not randomly but with p:</a:t>
            </a:r>
          </a:p>
        </p:txBody>
      </p:sp>
      <p:sp>
        <p:nvSpPr>
          <p:cNvPr id="184" name="p = 0.8"/>
          <p:cNvSpPr/>
          <p:nvPr/>
        </p:nvSpPr>
        <p:spPr>
          <a:xfrm>
            <a:off x="6817503" y="11258495"/>
            <a:ext cx="1841857" cy="12700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</a:defRPr>
            </a:lvl1pPr>
          </a:lstStyle>
          <a:p>
            <a:pPr/>
            <a:r>
              <a:t>p = 0.8</a:t>
            </a:r>
          </a:p>
        </p:txBody>
      </p:sp>
      <p:sp>
        <p:nvSpPr>
          <p:cNvPr id="185" name="p = 0.2"/>
          <p:cNvSpPr/>
          <p:nvPr/>
        </p:nvSpPr>
        <p:spPr>
          <a:xfrm>
            <a:off x="12271104" y="11258495"/>
            <a:ext cx="1841857" cy="12700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</a:defRPr>
            </a:lvl1pPr>
          </a:lstStyle>
          <a:p>
            <a:pPr/>
            <a:r>
              <a:t>p = 0.2</a:t>
            </a:r>
          </a:p>
        </p:txBody>
      </p:sp>
      <p:sp>
        <p:nvSpPr>
          <p:cNvPr id="186" name="Linie"/>
          <p:cNvSpPr/>
          <p:nvPr/>
        </p:nvSpPr>
        <p:spPr>
          <a:xfrm flipV="1">
            <a:off x="7699195" y="10651034"/>
            <a:ext cx="1" cy="593593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7" name="Linie"/>
          <p:cNvSpPr/>
          <p:nvPr/>
        </p:nvSpPr>
        <p:spPr>
          <a:xfrm flipH="1" flipV="1">
            <a:off x="9889300" y="10630141"/>
            <a:ext cx="2356553" cy="1249243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8" name="Linie"/>
          <p:cNvSpPr/>
          <p:nvPr/>
        </p:nvSpPr>
        <p:spPr>
          <a:xfrm flipV="1">
            <a:off x="14197335" y="10618566"/>
            <a:ext cx="2266325" cy="1272317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9" name="Linie"/>
          <p:cNvSpPr/>
          <p:nvPr/>
        </p:nvSpPr>
        <p:spPr>
          <a:xfrm flipV="1">
            <a:off x="13664147" y="10633442"/>
            <a:ext cx="619795" cy="61979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0" name="Linie"/>
          <p:cNvSpPr/>
          <p:nvPr/>
        </p:nvSpPr>
        <p:spPr>
          <a:xfrm flipH="1" flipV="1">
            <a:off x="12160915" y="10629405"/>
            <a:ext cx="627870" cy="627870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1" name="Rechteck"/>
          <p:cNvSpPr/>
          <p:nvPr/>
        </p:nvSpPr>
        <p:spPr>
          <a:xfrm>
            <a:off x="6646817" y="9616013"/>
            <a:ext cx="2183229" cy="117163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 lim="400000"/>
          </a:ln>
        </p:spPr>
        <p:txBody>
          <a:bodyPr lIns="0" tIns="0" rIns="0" bIns="0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2" grpId="3"/>
      <p:bldP build="whole" bldLvl="1" animBg="1" rev="0" advAuto="0" spid="191" grpId="1"/>
      <p:bldP build="whole" bldLvl="1" animBg="1" rev="0" advAuto="0" spid="181" grpId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 </a:t>
            </a:r>
          </a:p>
        </p:txBody>
      </p:sp>
      <p:sp>
        <p:nvSpPr>
          <p:cNvPr id="19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Cosine Similarity</a:t>
            </a:r>
          </a:p>
        </p:txBody>
      </p:sp>
      <p:sp>
        <p:nvSpPr>
          <p:cNvPr id="195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Precompute the output embeddings of the anchor functions of all pools and store them for lookup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Batch process candidates of each pool and compute cosine similarity between anchor &amp; candidates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9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/>
            <a:r>
              <a:t>Function Pools</a:t>
            </a:r>
          </a:p>
        </p:txBody>
      </p:sp>
      <p:sp>
        <p:nvSpPr>
          <p:cNvPr id="199" name="PlaceHolder 3"/>
          <p:cNvSpPr txBox="1"/>
          <p:nvPr/>
        </p:nvSpPr>
        <p:spPr>
          <a:xfrm>
            <a:off x="1206359" y="36561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Each function pool follows the same structure: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N-Positive Samples:</a:t>
            </a: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each test project</a:t>
            </a: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Samples that have the same f_name and same file origin are filtered out (duplicates)</a:t>
            </a: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Inference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202" name="Function Pool Setup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/>
            <a:r>
              <a:t>Function Pool Setup</a:t>
            </a:r>
          </a:p>
        </p:txBody>
      </p:sp>
      <p:sp>
        <p:nvSpPr>
          <p:cNvPr id="203" name="PlaceHolder 3"/>
          <p:cNvSpPr txBox="1"/>
          <p:nvPr/>
        </p:nvSpPr>
        <p:spPr>
          <a:xfrm>
            <a:off x="1206358" y="4035307"/>
            <a:ext cx="8157055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= arbitrary function variant</a:t>
            </a: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the anchors’ project (mininum 7)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K = number of negative samples per test project</a:t>
            </a:r>
          </a:p>
        </p:txBody>
      </p:sp>
      <p:pic>
        <p:nvPicPr>
          <p:cNvPr id="20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506" y="2657123"/>
            <a:ext cx="13191643" cy="84017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ositive Samples Filtering"/>
          <p:cNvSpPr txBox="1"/>
          <p:nvPr>
            <p:ph type="ctrTitle"/>
          </p:nvPr>
        </p:nvSpPr>
        <p:spPr>
          <a:xfrm>
            <a:off x="1206359" y="1079640"/>
            <a:ext cx="21970802" cy="14346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07" name="Duplicated Assembly"/>
          <p:cNvSpPr txBox="1"/>
          <p:nvPr>
            <p:ph type="subTitle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 lvl="1"/>
            <a:r>
              <a:t>Duplicated Assembly</a:t>
            </a:r>
          </a:p>
        </p:txBody>
      </p:sp>
      <p:sp>
        <p:nvSpPr>
          <p:cNvPr id="208" name="PlaceHolder 3"/>
          <p:cNvSpPr/>
          <p:nvPr>
            <p:ph type="body" idx="2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0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32" y="4348772"/>
            <a:ext cx="19127337" cy="724710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2" name="Very Similar Embedding:…"/>
          <p:cNvGrpSpPr/>
          <p:nvPr/>
        </p:nvGrpSpPr>
        <p:grpSpPr>
          <a:xfrm>
            <a:off x="12481173" y="4445739"/>
            <a:ext cx="9213334" cy="7053175"/>
            <a:chOff x="0" y="0"/>
            <a:chExt cx="9213332" cy="7053173"/>
          </a:xfrm>
        </p:grpSpPr>
        <p:sp>
          <p:nvSpPr>
            <p:cNvPr id="210" name="Rechteck"/>
            <p:cNvSpPr/>
            <p:nvPr/>
          </p:nvSpPr>
          <p:spPr>
            <a:xfrm>
              <a:off x="0" y="-1"/>
              <a:ext cx="9213333" cy="7053175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/>
              </a:pPr>
            </a:p>
          </p:txBody>
        </p:sp>
        <p:sp>
          <p:nvSpPr>
            <p:cNvPr id="211" name="Very Similar Embedding:…"/>
            <p:cNvSpPr txBox="1"/>
            <p:nvPr/>
          </p:nvSpPr>
          <p:spPr>
            <a:xfrm>
              <a:off x="31750" y="2942386"/>
              <a:ext cx="9149833" cy="1168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/>
              </a:pPr>
              <a:r>
                <a:t>Very Similar Embedding:</a:t>
              </a:r>
            </a:p>
            <a:p>
              <a:pPr algn="ctr">
                <a:defRPr sz="3800"/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2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ositive Samples Filtering"/>
          <p:cNvSpPr txBox="1"/>
          <p:nvPr>
            <p:ph type="ctrTitle"/>
          </p:nvPr>
        </p:nvSpPr>
        <p:spPr>
          <a:xfrm>
            <a:off x="1206359" y="1079640"/>
            <a:ext cx="21970802" cy="14346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15" name="same Name, same File"/>
          <p:cNvSpPr txBox="1"/>
          <p:nvPr>
            <p:ph type="subTitle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/>
            <a:r>
              <a:t>same Name, same File</a:t>
            </a:r>
          </a:p>
        </p:txBody>
      </p:sp>
      <p:pic>
        <p:nvPicPr>
          <p:cNvPr id="216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374" y="2921613"/>
            <a:ext cx="19183253" cy="8920885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Linie"/>
          <p:cNvSpPr/>
          <p:nvPr/>
        </p:nvSpPr>
        <p:spPr>
          <a:xfrm flipH="1">
            <a:off x="7495955" y="5144334"/>
            <a:ext cx="2309381" cy="3765925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ie"/>
          <p:cNvSpPr/>
          <p:nvPr/>
        </p:nvSpPr>
        <p:spPr>
          <a:xfrm>
            <a:off x="9808233" y="5180056"/>
            <a:ext cx="7225697" cy="3705998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Slight differences in assembly"/>
          <p:cNvSpPr txBox="1"/>
          <p:nvPr/>
        </p:nvSpPr>
        <p:spPr>
          <a:xfrm>
            <a:off x="4907986" y="4398946"/>
            <a:ext cx="5381626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/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8" grpId="3"/>
      <p:bldP build="whole" bldLvl="1" animBg="1" rev="0" advAuto="0" spid="219" grpId="1"/>
      <p:bldP build="whole" bldLvl="1" animBg="1" rev="0" advAuto="0" spid="217" grpId="2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22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spc="-200" sz="5600"/>
            </a:lvl1pPr>
          </a:lstStyle>
          <a:p>
            <a:pPr/>
            <a:r>
              <a:t>Function Pools 2</a:t>
            </a:r>
          </a:p>
        </p:txBody>
      </p:sp>
      <p:sp>
        <p:nvSpPr>
          <p:cNvPr id="223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200 Negative Samples: 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Randomly pick 100 samples from each of the two test projects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Ensure each sample has a different name than the anchor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Function:</a:t>
            </a: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26" name="Tabelle"/>
          <p:cNvGraphicFramePr/>
          <p:nvPr/>
        </p:nvGraphicFramePr>
        <p:xfrm>
          <a:off x="2877117" y="3518279"/>
          <a:ext cx="18641520" cy="879039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35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 Architecture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Results</a:t>
            </a:r>
          </a:p>
        </p:txBody>
      </p:sp>
      <p:graphicFrame>
        <p:nvGraphicFramePr>
          <p:cNvPr id="229" name="Tabelle"/>
          <p:cNvGraphicFramePr/>
          <p:nvPr/>
        </p:nvGraphicFramePr>
        <p:xfrm>
          <a:off x="1736525" y="3136306"/>
          <a:ext cx="20923190" cy="7748907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737"/>
                <a:gridCol w="5227737"/>
                <a:gridCol w="5227737"/>
                <a:gridCol w="5227737"/>
              </a:tblGrid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60/40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50/50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